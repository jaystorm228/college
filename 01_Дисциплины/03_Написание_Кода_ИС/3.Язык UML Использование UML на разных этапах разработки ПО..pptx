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60"/>
  </p:normalViewPr>
  <p:slideViewPr>
    <p:cSldViewPr snapToGrid="0">
      <p:cViewPr varScale="1">
        <p:scale>
          <a:sx n="90" d="100"/>
          <a:sy n="90" d="100"/>
        </p:scale>
        <p:origin x="30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698F8-D335-4489-B2EA-B7A8AA1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A935ABF-4DF8-430E-99E4-66DBC9775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4FAF1A-F79C-4B74-BC71-ECE0C223D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3527-756D-423C-819E-3B54B9C66253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E2117F-D4A0-4944-A1C1-F1FADB7B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047C66-A69E-4299-9F73-7E71DD66A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C272-4A23-46CB-A78F-E2CFE708AF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7104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01B8F2-7D7A-4739-986D-1D73630F6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0B9935-95E4-4A0D-866E-E3E944C20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E59060-42FC-4A22-8B90-7C97791BF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3527-756D-423C-819E-3B54B9C66253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FACB5A-7E9A-4883-9C73-7C04AEA5A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E85378-7029-4364-B584-D4C57F680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C272-4A23-46CB-A78F-E2CFE708AF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5918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53C36-5954-49BF-A590-62FDAB3F2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F82BB9-CC08-4B2E-9277-B7E2C1F37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7FA741-89C8-46A3-82F1-BB30E4D81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3527-756D-423C-819E-3B54B9C66253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020BB4-7B67-491A-8E03-A5BE777F9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F5ACB1-486D-472B-8EF6-E19CB29C4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C272-4A23-46CB-A78F-E2CFE708AF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327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BBB50C-D8FD-4CFD-A631-269569170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FE5546-A5DF-48B6-A7B2-AEAD6A8EA8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C2C3AD4-5980-41A0-ABC0-126927C2B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37C361-1C2F-402B-9867-149E7E5F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3527-756D-423C-819E-3B54B9C66253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752290-1B9E-4027-8874-4ECDB665E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A08239-374C-44CD-A0FE-29936A6B1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C272-4A23-46CB-A78F-E2CFE708AF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4573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4A90F3-FB64-4217-98B5-B41F6EE12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99A71A-8C4B-4C46-AEDD-09B1C34D9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0ADCC27-DC07-44DC-8BFD-AA14D86C1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18AD30E-BDD8-4105-AB40-89D3841011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7D197EC-6062-49B2-906E-90AE5DF19A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F505889-5A45-48C0-AA37-352101F40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3527-756D-423C-819E-3B54B9C66253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725C83A-9CB9-48BE-8AB3-E2147C07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AEEB766-E7E6-476C-AF1F-BCE175CCF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C272-4A23-46CB-A78F-E2CFE708AF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9421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597FAE-6050-424C-9DEC-A410F0A45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E1D1D1-2F33-42BA-A2FA-983D286D6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3527-756D-423C-819E-3B54B9C66253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C969DA7-7827-4F23-97A5-B2EFCD814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5626C28-3E67-4E8D-BE25-B735C88DD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C272-4A23-46CB-A78F-E2CFE708AF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029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6ED18EF-EEAC-48B0-943A-EBB34607B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3527-756D-423C-819E-3B54B9C66253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2D22827-914D-4D89-9B44-0B5F24F9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791137-0FA0-4A9F-8EFB-BD4ACAB6D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C272-4A23-46CB-A78F-E2CFE708AF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5976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1D7498-8B5C-4E52-ABA3-03F85525D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768F5E-1AA3-4EE7-8DB7-2F473D891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00F5DA-D5A2-4038-A16E-1D74D0160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84A15E-2E44-4976-B6EB-85EA2604C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3527-756D-423C-819E-3B54B9C66253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EAC91D-D8B5-48BC-A6F9-6B6A4162A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A13DFC-FF90-4D6F-84C3-1B98B88D9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C272-4A23-46CB-A78F-E2CFE708AF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723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E0ABA3-6668-4679-AE89-2B3C77F77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33E40BA-7C07-48DB-A9BF-5C0F62506C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60B6D8-2EAF-4F17-A2DE-0F57A2B93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661A181-4206-49C1-9FF2-406BA0DED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3527-756D-423C-819E-3B54B9C66253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5A1A44B-5C95-4075-BFDD-1992798FA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D64937-6699-44C7-8DF3-A560D1C3B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C272-4A23-46CB-A78F-E2CFE708AF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342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BC0D65-0E90-4B46-B7C6-7E528FE4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D3D6B4E-4EC2-4986-BD24-CAD699675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90FC6A-CD64-4D7F-BF62-F01C20B4A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3527-756D-423C-819E-3B54B9C66253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F18120-FB8E-495E-9AAD-E19AB5A43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C7B41A-DB70-4AE2-907E-6994B38A2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C272-4A23-46CB-A78F-E2CFE708AF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5926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70E5BC2-50F8-4BD7-A056-74B9798C64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83AEEFF-4558-428A-A752-EEF7A7777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0F2805-5EC5-4941-A97D-31F9EA7DC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63527-756D-423C-819E-3B54B9C66253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C34651-B066-452B-9494-42789D51C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C8DF5F-7495-423B-92C3-90E8A3379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C272-4A23-46CB-A78F-E2CFE708AF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278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047A3F-B2D2-457D-AF56-FFDBB7574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E23539-39A9-4B80-B481-51AC865D3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2AB607-8560-4F5E-B2B8-1FC3FB074A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E63527-756D-423C-819E-3B54B9C66253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CB9466-ECA7-4A0A-989F-191496B7C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2F9FAB-C3AC-47A2-9A08-AE055862D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BC272-4A23-46CB-A78F-E2CFE708AF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356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7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8CA48-2089-4A42-A711-EA819EF3E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3267" y="2455332"/>
            <a:ext cx="9799436" cy="1427163"/>
          </a:xfrm>
        </p:spPr>
        <p:txBody>
          <a:bodyPr>
            <a:normAutofit/>
          </a:bodyPr>
          <a:lstStyle/>
          <a:p>
            <a:r>
              <a:rPr lang="ru-RU" sz="4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Язык </a:t>
            </a:r>
            <a:r>
              <a:rPr lang="en-US" sz="4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</a:t>
            </a:r>
            <a:r>
              <a:rPr lang="ru-RU" sz="4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Использование </a:t>
            </a:r>
            <a:r>
              <a:rPr lang="en-US" sz="4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 </a:t>
            </a:r>
            <a:r>
              <a:rPr lang="ru-RU" sz="4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 разных этапах разработки ПО.</a:t>
            </a:r>
            <a:endParaRPr lang="ru-RU" sz="4500" dirty="0"/>
          </a:p>
        </p:txBody>
      </p:sp>
      <p:sp>
        <p:nvSpPr>
          <p:cNvPr id="5" name="Стрелка: шеврон 4">
            <a:extLst>
              <a:ext uri="{FF2B5EF4-FFF2-40B4-BE49-F238E27FC236}">
                <a16:creationId xmlns:a16="http://schemas.microsoft.com/office/drawing/2014/main" id="{588C7100-A464-4E0B-9DA8-EC55432BE611}"/>
              </a:ext>
            </a:extLst>
          </p:cNvPr>
          <p:cNvSpPr/>
          <p:nvPr/>
        </p:nvSpPr>
        <p:spPr>
          <a:xfrm rot="16200000">
            <a:off x="-2715435" y="3167727"/>
            <a:ext cx="6596209" cy="453261"/>
          </a:xfrm>
          <a:prstGeom prst="chevron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071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7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8CA48-2089-4A42-A711-EA819EF3E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2421" y="1"/>
            <a:ext cx="11269579" cy="811924"/>
          </a:xfrm>
        </p:spPr>
        <p:txBody>
          <a:bodyPr>
            <a:normAutofit/>
          </a:bodyPr>
          <a:lstStyle/>
          <a:p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Язык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</a:t>
            </a: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Использование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 </a:t>
            </a: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 разных этапах разработки ПО.</a:t>
            </a:r>
            <a:endParaRPr lang="ru-RU" sz="3000" dirty="0"/>
          </a:p>
        </p:txBody>
      </p:sp>
      <p:sp>
        <p:nvSpPr>
          <p:cNvPr id="5" name="Стрелка: шеврон 4">
            <a:extLst>
              <a:ext uri="{FF2B5EF4-FFF2-40B4-BE49-F238E27FC236}">
                <a16:creationId xmlns:a16="http://schemas.microsoft.com/office/drawing/2014/main" id="{588C7100-A464-4E0B-9DA8-EC55432BE611}"/>
              </a:ext>
            </a:extLst>
          </p:cNvPr>
          <p:cNvSpPr/>
          <p:nvPr/>
        </p:nvSpPr>
        <p:spPr>
          <a:xfrm rot="16200000">
            <a:off x="-2715435" y="3167727"/>
            <a:ext cx="6596209" cy="453261"/>
          </a:xfrm>
          <a:prstGeom prst="chevron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7BACB4-2E3D-4B38-B218-1694E37F08AD}"/>
              </a:ext>
            </a:extLst>
          </p:cNvPr>
          <p:cNvSpPr txBox="1"/>
          <p:nvPr/>
        </p:nvSpPr>
        <p:spPr>
          <a:xfrm>
            <a:off x="1016876" y="906518"/>
            <a:ext cx="39376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Введение: Что такое UML?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195C45-D979-4D07-BCBF-C703C27A6623}"/>
              </a:ext>
            </a:extLst>
          </p:cNvPr>
          <p:cNvSpPr txBox="1"/>
          <p:nvPr/>
        </p:nvSpPr>
        <p:spPr>
          <a:xfrm>
            <a:off x="1016876" y="1354272"/>
            <a:ext cx="1042100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UML (Unified </a:t>
            </a:r>
            <a:r>
              <a:rPr lang="ru-RU" sz="2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Language)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унифицированный язык моделирования. Важно понимать: 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UML — это не язык программирования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Это </a:t>
            </a:r>
            <a:r>
              <a:rPr lang="ru-RU" sz="22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визуальный язык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спецификации, визуализации, конструирования и документирования артефактов сложных программных систем.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7719CF-B9DF-4BC4-BA49-A3D01959093C}"/>
              </a:ext>
            </a:extLst>
          </p:cNvPr>
          <p:cNvSpPr txBox="1"/>
          <p:nvPr/>
        </p:nvSpPr>
        <p:spPr>
          <a:xfrm>
            <a:off x="1095703" y="2912282"/>
            <a:ext cx="23123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Зачем он нужен?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9BB1F-85DD-4F91-9670-BFD96B9E8CD3}"/>
              </a:ext>
            </a:extLst>
          </p:cNvPr>
          <p:cNvSpPr txBox="1"/>
          <p:nvPr/>
        </p:nvSpPr>
        <p:spPr>
          <a:xfrm>
            <a:off x="1095703" y="3342291"/>
            <a:ext cx="1095095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buFont typeface="+mj-lt"/>
              <a:buAutoNum type="arabicPeriod"/>
            </a:pP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Единый язык (</a:t>
            </a:r>
            <a:r>
              <a:rPr lang="ru-RU" sz="2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Lingua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Franca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Позволяет разработчикам, аналитикам, тестировщикам и заказчикам говорить на одном языке, избегая двусмысленностей.</a:t>
            </a:r>
          </a:p>
          <a:p>
            <a:pPr algn="l" rtl="0">
              <a:buFont typeface="+mj-lt"/>
              <a:buAutoNum type="arabicPeriod"/>
            </a:pP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Абстракция: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Помогает отвлечься от синтаксиса кода и сосредоточиться на архитектуре и логике.</a:t>
            </a:r>
          </a:p>
          <a:p>
            <a:pPr algn="l" rtl="0">
              <a:buFont typeface="+mj-lt"/>
              <a:buAutoNum type="arabicPeriod"/>
            </a:pP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Документирование: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Создает "чертежи" системы, которые необходимы для поддержки и масштабирования.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7090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7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8CA48-2089-4A42-A711-EA819EF3E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2421" y="1"/>
            <a:ext cx="11269579" cy="811924"/>
          </a:xfrm>
        </p:spPr>
        <p:txBody>
          <a:bodyPr>
            <a:normAutofit/>
          </a:bodyPr>
          <a:lstStyle/>
          <a:p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Язык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</a:t>
            </a: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Использование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 </a:t>
            </a: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 разных этапах разработки ПО.</a:t>
            </a:r>
            <a:endParaRPr lang="ru-RU" sz="3000" dirty="0"/>
          </a:p>
        </p:txBody>
      </p:sp>
      <p:sp>
        <p:nvSpPr>
          <p:cNvPr id="5" name="Стрелка: шеврон 4">
            <a:extLst>
              <a:ext uri="{FF2B5EF4-FFF2-40B4-BE49-F238E27FC236}">
                <a16:creationId xmlns:a16="http://schemas.microsoft.com/office/drawing/2014/main" id="{588C7100-A464-4E0B-9DA8-EC55432BE611}"/>
              </a:ext>
            </a:extLst>
          </p:cNvPr>
          <p:cNvSpPr/>
          <p:nvPr/>
        </p:nvSpPr>
        <p:spPr>
          <a:xfrm rot="16200000">
            <a:off x="-2715435" y="3167727"/>
            <a:ext cx="6596209" cy="453261"/>
          </a:xfrm>
          <a:prstGeom prst="chevron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7BACB4-2E3D-4B38-B218-1694E37F08AD}"/>
              </a:ext>
            </a:extLst>
          </p:cNvPr>
          <p:cNvSpPr txBox="1"/>
          <p:nvPr/>
        </p:nvSpPr>
        <p:spPr>
          <a:xfrm>
            <a:off x="1016876" y="906518"/>
            <a:ext cx="39376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Введение: Что такое UML?</a:t>
            </a: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1E351-9656-4DDA-92A8-EAED8C83BB33}"/>
              </a:ext>
            </a:extLst>
          </p:cNvPr>
          <p:cNvSpPr txBox="1"/>
          <p:nvPr/>
        </p:nvSpPr>
        <p:spPr>
          <a:xfrm>
            <a:off x="1016876" y="1387365"/>
            <a:ext cx="106338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UML стандартизирован объектом 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OMG (Object Management Group)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Язык включает в себя 14 типов диаграмм, которые делятся на две большие группы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1CDB2E-8F6D-4D2E-B952-636BA8D9BC49}"/>
              </a:ext>
            </a:extLst>
          </p:cNvPr>
          <p:cNvSpPr txBox="1"/>
          <p:nvPr/>
        </p:nvSpPr>
        <p:spPr>
          <a:xfrm>
            <a:off x="922421" y="2309649"/>
            <a:ext cx="1079135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Структурные (Статические):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Показывают, </a:t>
            </a:r>
            <a:r>
              <a:rPr lang="ru-RU" sz="22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 чего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состоит система (Классы, Компоненты, Развертывание).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Поведенческие (Динамические):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Показывают, </a:t>
            </a:r>
            <a:r>
              <a:rPr lang="ru-RU" sz="22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себя ведет во времени (Варианты использования, Последовательность, Состояния, Деятельность).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697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7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8CA48-2089-4A42-A711-EA819EF3E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2421" y="1"/>
            <a:ext cx="11269579" cy="811924"/>
          </a:xfrm>
        </p:spPr>
        <p:txBody>
          <a:bodyPr>
            <a:normAutofit/>
          </a:bodyPr>
          <a:lstStyle/>
          <a:p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Язык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</a:t>
            </a: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Использование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 </a:t>
            </a: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 разных этапах разработки ПО.</a:t>
            </a:r>
            <a:endParaRPr lang="ru-RU" sz="3000" dirty="0"/>
          </a:p>
        </p:txBody>
      </p:sp>
      <p:sp>
        <p:nvSpPr>
          <p:cNvPr id="5" name="Стрелка: шеврон 4">
            <a:extLst>
              <a:ext uri="{FF2B5EF4-FFF2-40B4-BE49-F238E27FC236}">
                <a16:creationId xmlns:a16="http://schemas.microsoft.com/office/drawing/2014/main" id="{588C7100-A464-4E0B-9DA8-EC55432BE611}"/>
              </a:ext>
            </a:extLst>
          </p:cNvPr>
          <p:cNvSpPr/>
          <p:nvPr/>
        </p:nvSpPr>
        <p:spPr>
          <a:xfrm rot="16200000">
            <a:off x="-2715435" y="3167727"/>
            <a:ext cx="6596209" cy="453261"/>
          </a:xfrm>
          <a:prstGeom prst="chevron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7BACB4-2E3D-4B38-B218-1694E37F08AD}"/>
              </a:ext>
            </a:extLst>
          </p:cNvPr>
          <p:cNvSpPr txBox="1"/>
          <p:nvPr/>
        </p:nvSpPr>
        <p:spPr>
          <a:xfrm>
            <a:off x="1016876" y="906518"/>
            <a:ext cx="721498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ru-RU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400" b="1" i="0" dirty="0">
                <a:effectLst/>
                <a:latin typeface="system-ui"/>
              </a:rPr>
              <a:t>. 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UML на этапах разработки ПО (ЖЦ)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77F2C7-2665-459F-9BE3-ED736D8F3062}"/>
              </a:ext>
            </a:extLst>
          </p:cNvPr>
          <p:cNvSpPr txBox="1"/>
          <p:nvPr/>
        </p:nvSpPr>
        <p:spPr>
          <a:xfrm>
            <a:off x="1016876" y="1426779"/>
            <a:ext cx="1082302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Жизненный цикл разработки ПО можно условно разделить на несколько этапов. На каждом из них UML решает свои специфические задачи, и используются разные типы диаграмм.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854194-2485-430A-A01C-3C4E42560C10}"/>
              </a:ext>
            </a:extLst>
          </p:cNvPr>
          <p:cNvSpPr txBox="1"/>
          <p:nvPr/>
        </p:nvSpPr>
        <p:spPr>
          <a:xfrm>
            <a:off x="1016876" y="2686471"/>
            <a:ext cx="45395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Этап 1. Сбор и анализ требований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ABC1F0-8B9D-40AC-B760-EE0E6874B128}"/>
              </a:ext>
            </a:extLst>
          </p:cNvPr>
          <p:cNvSpPr txBox="1"/>
          <p:nvPr/>
        </p:nvSpPr>
        <p:spPr>
          <a:xfrm>
            <a:off x="1016876" y="3129649"/>
            <a:ext cx="98578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Понять, </a:t>
            </a:r>
            <a:r>
              <a:rPr lang="ru-RU" sz="22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должна делать система, и зафиксировать бизнес-процессы</a:t>
            </a:r>
            <a:r>
              <a:rPr lang="ru-RU" b="0" i="0" dirty="0">
                <a:solidFill>
                  <a:srgbClr val="FAFBFF"/>
                </a:solidFill>
                <a:effectLst/>
                <a:latin typeface="system-ui"/>
              </a:rPr>
              <a:t>.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E47921-A691-4362-AB88-2A688BC28CD2}"/>
              </a:ext>
            </a:extLst>
          </p:cNvPr>
          <p:cNvSpPr txBox="1"/>
          <p:nvPr/>
        </p:nvSpPr>
        <p:spPr>
          <a:xfrm>
            <a:off x="1111470" y="3641835"/>
            <a:ext cx="1023403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 (</a:t>
            </a:r>
            <a:r>
              <a:rPr lang="ru-RU" sz="2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Case </a:t>
            </a:r>
            <a:r>
              <a:rPr lang="ru-RU" sz="2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sz="2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ru-RU" sz="22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Зачем: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Показывает границы системы, актеров (пользователей или внешние системы) и их цели (варианты использования). Это основа для написания Технического Задания (ТЗ) и User </a:t>
            </a:r>
            <a:r>
              <a:rPr lang="ru-RU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Stories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l" rtl="0"/>
            <a:endParaRPr lang="ru-RU" sz="2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деятельности (</a:t>
            </a:r>
            <a:r>
              <a:rPr lang="ru-RU" sz="2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sz="2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ru-RU" sz="22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Зачем: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Моделирует бизнес-процессы и алгоритмы. Показывает поток управления, условия (ветвления), параллельное выполнение. Аналог блок-схемы, но с поддержкой параллелизма (</a:t>
            </a:r>
            <a:r>
              <a:rPr lang="ru-RU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swimlanes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 дорожки).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endParaRPr lang="ru-RU" sz="2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7426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7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8CA48-2089-4A42-A711-EA819EF3E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2421" y="1"/>
            <a:ext cx="11269579" cy="811924"/>
          </a:xfrm>
        </p:spPr>
        <p:txBody>
          <a:bodyPr>
            <a:normAutofit/>
          </a:bodyPr>
          <a:lstStyle/>
          <a:p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Язык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</a:t>
            </a: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Использование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 </a:t>
            </a: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 разных этапах разработки ПО.</a:t>
            </a:r>
            <a:endParaRPr lang="ru-RU" sz="3000" dirty="0"/>
          </a:p>
        </p:txBody>
      </p:sp>
      <p:sp>
        <p:nvSpPr>
          <p:cNvPr id="5" name="Стрелка: шеврон 4">
            <a:extLst>
              <a:ext uri="{FF2B5EF4-FFF2-40B4-BE49-F238E27FC236}">
                <a16:creationId xmlns:a16="http://schemas.microsoft.com/office/drawing/2014/main" id="{588C7100-A464-4E0B-9DA8-EC55432BE611}"/>
              </a:ext>
            </a:extLst>
          </p:cNvPr>
          <p:cNvSpPr/>
          <p:nvPr/>
        </p:nvSpPr>
        <p:spPr>
          <a:xfrm rot="16200000">
            <a:off x="-2715435" y="3167727"/>
            <a:ext cx="6596209" cy="453261"/>
          </a:xfrm>
          <a:prstGeom prst="chevron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29F84-1E43-4AF2-B5AF-EBB97EF35114}"/>
              </a:ext>
            </a:extLst>
          </p:cNvPr>
          <p:cNvSpPr txBox="1"/>
          <p:nvPr/>
        </p:nvSpPr>
        <p:spPr>
          <a:xfrm>
            <a:off x="1016876" y="906518"/>
            <a:ext cx="721498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ru-RU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400" b="1" i="0" dirty="0">
                <a:effectLst/>
                <a:latin typeface="system-ui"/>
              </a:rPr>
              <a:t>. 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UML на этапах разработки ПО (ЖЦ)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378F98-1036-4270-BEBB-D0C3A7187707}"/>
              </a:ext>
            </a:extLst>
          </p:cNvPr>
          <p:cNvSpPr txBox="1"/>
          <p:nvPr/>
        </p:nvSpPr>
        <p:spPr>
          <a:xfrm>
            <a:off x="986900" y="1456267"/>
            <a:ext cx="72749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Этап 2. Архитектурное проектирование (System Design)</a:t>
            </a: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9E9A90-0D4D-4F77-B9CC-0AFC59B7E6D0}"/>
              </a:ext>
            </a:extLst>
          </p:cNvPr>
          <p:cNvSpPr txBox="1"/>
          <p:nvPr/>
        </p:nvSpPr>
        <p:spPr>
          <a:xfrm>
            <a:off x="1016876" y="1904803"/>
            <a:ext cx="104300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Определить, </a:t>
            </a:r>
            <a:r>
              <a:rPr lang="ru-RU" sz="22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будет устроена на высоком уровне, из каких модулей состоять и где физически размещаться.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BEC44D-D43A-4C82-8A97-B4501B8C96FD}"/>
              </a:ext>
            </a:extLst>
          </p:cNvPr>
          <p:cNvSpPr txBox="1"/>
          <p:nvPr/>
        </p:nvSpPr>
        <p:spPr>
          <a:xfrm>
            <a:off x="922421" y="2738060"/>
            <a:ext cx="10973246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компонентов (</a:t>
            </a:r>
            <a:r>
              <a:rPr lang="ru-RU" sz="2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Component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sz="2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ru-RU" sz="22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Зачем: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Показывает высокоуровневые части системы (например, "</a:t>
            </a:r>
            <a:r>
              <a:rPr lang="ru-RU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авторизации", "База данных", "REST API шлюз") и интерфейсы взаимодействия между ними</a:t>
            </a:r>
            <a:endParaRPr lang="ru-RU" sz="2200" b="0" i="0" dirty="0">
              <a:solidFill>
                <a:srgbClr val="FAFBFF"/>
              </a:solidFill>
              <a:effectLst/>
              <a:latin typeface="system-ui"/>
              <a:cs typeface="Times New Roman" panose="02020603050405020304" pitchFamily="18" charset="0"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развертывания (</a:t>
            </a:r>
            <a:r>
              <a:rPr lang="ru-RU" sz="2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sz="2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ru-RU" sz="22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Зачем: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Описывает физическую архитектуру. На каких серверах (</a:t>
            </a:r>
            <a:r>
              <a:rPr lang="ru-RU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нодах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какие компоненты работают. Критически важна для </a:t>
            </a:r>
            <a:r>
              <a:rPr lang="ru-RU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-инженеров и настройки облачной инфраструктуры (AWS, </a:t>
            </a:r>
            <a:r>
              <a:rPr lang="ru-RU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endParaRPr lang="ru-RU" b="0" i="0" dirty="0">
              <a:effectLst/>
              <a:latin typeface="system-ui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5944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7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8CA48-2089-4A42-A711-EA819EF3E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2421" y="1"/>
            <a:ext cx="11269579" cy="811924"/>
          </a:xfrm>
        </p:spPr>
        <p:txBody>
          <a:bodyPr>
            <a:normAutofit/>
          </a:bodyPr>
          <a:lstStyle/>
          <a:p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Язык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</a:t>
            </a: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Использование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 </a:t>
            </a: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 разных этапах разработки ПО.</a:t>
            </a:r>
            <a:endParaRPr lang="ru-RU" sz="3000" dirty="0"/>
          </a:p>
        </p:txBody>
      </p:sp>
      <p:sp>
        <p:nvSpPr>
          <p:cNvPr id="5" name="Стрелка: шеврон 4">
            <a:extLst>
              <a:ext uri="{FF2B5EF4-FFF2-40B4-BE49-F238E27FC236}">
                <a16:creationId xmlns:a16="http://schemas.microsoft.com/office/drawing/2014/main" id="{588C7100-A464-4E0B-9DA8-EC55432BE611}"/>
              </a:ext>
            </a:extLst>
          </p:cNvPr>
          <p:cNvSpPr/>
          <p:nvPr/>
        </p:nvSpPr>
        <p:spPr>
          <a:xfrm rot="16200000">
            <a:off x="-2715435" y="3167727"/>
            <a:ext cx="6596209" cy="453261"/>
          </a:xfrm>
          <a:prstGeom prst="chevron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D4ED1-A41A-48F8-A95C-7C1DBA94F40D}"/>
              </a:ext>
            </a:extLst>
          </p:cNvPr>
          <p:cNvSpPr txBox="1"/>
          <p:nvPr/>
        </p:nvSpPr>
        <p:spPr>
          <a:xfrm>
            <a:off x="1016876" y="906518"/>
            <a:ext cx="721498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ru-RU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400" b="1" i="0" dirty="0">
                <a:effectLst/>
                <a:latin typeface="system-ui"/>
              </a:rPr>
              <a:t>. 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UML на этапах разработки ПО (ЖЦ)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4281C7-C678-49C7-9E8A-4E49DB281FCB}"/>
              </a:ext>
            </a:extLst>
          </p:cNvPr>
          <p:cNvSpPr txBox="1"/>
          <p:nvPr/>
        </p:nvSpPr>
        <p:spPr>
          <a:xfrm>
            <a:off x="1016876" y="1385832"/>
            <a:ext cx="68103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Этап 3. Детальное проектирование (</a:t>
            </a:r>
            <a:r>
              <a:rPr lang="ru-RU" sz="2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Detailed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Design)</a:t>
            </a: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3F64D7-1A85-472E-A745-0D22005C2200}"/>
              </a:ext>
            </a:extLst>
          </p:cNvPr>
          <p:cNvSpPr txBox="1"/>
          <p:nvPr/>
        </p:nvSpPr>
        <p:spPr>
          <a:xfrm>
            <a:off x="1016876" y="1803591"/>
            <a:ext cx="103750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Спроектировать внутреннюю структуру кода и базы данных перед написанием кода.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DB8653-E28C-4BF8-8AF4-24BF8AB5922B}"/>
              </a:ext>
            </a:extLst>
          </p:cNvPr>
          <p:cNvSpPr txBox="1"/>
          <p:nvPr/>
        </p:nvSpPr>
        <p:spPr>
          <a:xfrm>
            <a:off x="1016876" y="2533646"/>
            <a:ext cx="110819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 (Class </a:t>
            </a:r>
            <a:r>
              <a:rPr lang="ru-RU" sz="2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sz="2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ru-RU" sz="22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Зачем: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Основа объектно-ориентированного проектирования. Показывает классы, их атрибуты, методы и связи (наследование, ассоциация, композиция, агрегация). Часто используется как прямая схема для создания реляционной базы данных (ER-диаграмма).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состояний (State Machine </a:t>
            </a:r>
            <a:r>
              <a:rPr lang="ru-RU" sz="2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sz="2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ru-RU" sz="22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Зачем: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Показывает жизненный цикл </a:t>
            </a:r>
            <a:r>
              <a:rPr lang="ru-RU" sz="22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одного конкретного объекта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Например, как заказ переходит из статуса "Создан" в "Оплачен", "Отправлен" и "Отменен". Незаменима для проектирования сложных бизнес-сущностей и конечных автоматов.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1162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7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8CA48-2089-4A42-A711-EA819EF3E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2421" y="1"/>
            <a:ext cx="11269579" cy="811924"/>
          </a:xfrm>
        </p:spPr>
        <p:txBody>
          <a:bodyPr>
            <a:normAutofit/>
          </a:bodyPr>
          <a:lstStyle/>
          <a:p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Язык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</a:t>
            </a: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Использование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 </a:t>
            </a: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 разных этапах разработки ПО.</a:t>
            </a:r>
            <a:endParaRPr lang="ru-RU" sz="3000" dirty="0"/>
          </a:p>
        </p:txBody>
      </p:sp>
      <p:sp>
        <p:nvSpPr>
          <p:cNvPr id="5" name="Стрелка: шеврон 4">
            <a:extLst>
              <a:ext uri="{FF2B5EF4-FFF2-40B4-BE49-F238E27FC236}">
                <a16:creationId xmlns:a16="http://schemas.microsoft.com/office/drawing/2014/main" id="{588C7100-A464-4E0B-9DA8-EC55432BE611}"/>
              </a:ext>
            </a:extLst>
          </p:cNvPr>
          <p:cNvSpPr/>
          <p:nvPr/>
        </p:nvSpPr>
        <p:spPr>
          <a:xfrm rot="16200000">
            <a:off x="-2715435" y="3167727"/>
            <a:ext cx="6596209" cy="453261"/>
          </a:xfrm>
          <a:prstGeom prst="chevron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D02C06-1A2F-4B98-B56F-7E19F6E959A7}"/>
              </a:ext>
            </a:extLst>
          </p:cNvPr>
          <p:cNvSpPr txBox="1"/>
          <p:nvPr/>
        </p:nvSpPr>
        <p:spPr>
          <a:xfrm>
            <a:off x="1016876" y="906518"/>
            <a:ext cx="721498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ru-RU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400" b="1" i="0" dirty="0">
                <a:effectLst/>
                <a:latin typeface="system-ui"/>
              </a:rPr>
              <a:t>. 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UML на этапах разработки ПО (ЖЦ)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D0B92-F490-4845-8555-93EEA717C73F}"/>
              </a:ext>
            </a:extLst>
          </p:cNvPr>
          <p:cNvSpPr txBox="1"/>
          <p:nvPr/>
        </p:nvSpPr>
        <p:spPr>
          <a:xfrm>
            <a:off x="1016876" y="1355054"/>
            <a:ext cx="107009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Написание кода. На этом этапе UML используется не для "рисования ради рисования", а для решения точечных проблем и коммуникации в команде.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31C210-36C9-4352-A533-E2447F4E15A9}"/>
              </a:ext>
            </a:extLst>
          </p:cNvPr>
          <p:cNvSpPr txBox="1"/>
          <p:nvPr/>
        </p:nvSpPr>
        <p:spPr>
          <a:xfrm>
            <a:off x="1016876" y="2188311"/>
            <a:ext cx="10549467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последовательности (</a:t>
            </a:r>
            <a:r>
              <a:rPr lang="ru-RU" sz="2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sz="2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ru-RU" sz="22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Зачем: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Показывает взаимодействие объектов во времени. Идеально подходит для проектирования API, описания вызовов между </a:t>
            </a:r>
            <a:r>
              <a:rPr lang="ru-RU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микросервисами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работы с базами данных и очередями (</a:t>
            </a:r>
            <a:r>
              <a:rPr lang="ru-RU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Kafka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RabbitMQ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ru-RU" sz="22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"Как именно </a:t>
            </a:r>
            <a:r>
              <a:rPr lang="ru-RU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фронтенд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запрашивает токен у бэкенда, и как бэкенд проверяет его в </a:t>
            </a:r>
            <a:r>
              <a:rPr lang="ru-RU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pPr lvl="1" algn="l" rtl="0"/>
            <a:endParaRPr lang="ru-RU" sz="2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1570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7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8CA48-2089-4A42-A711-EA819EF3E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2421" y="1"/>
            <a:ext cx="11269579" cy="811924"/>
          </a:xfrm>
        </p:spPr>
        <p:txBody>
          <a:bodyPr>
            <a:normAutofit/>
          </a:bodyPr>
          <a:lstStyle/>
          <a:p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Язык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</a:t>
            </a: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Использование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 </a:t>
            </a: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 разных этапах разработки ПО.</a:t>
            </a:r>
            <a:endParaRPr lang="ru-RU" sz="3000" dirty="0"/>
          </a:p>
        </p:txBody>
      </p:sp>
      <p:sp>
        <p:nvSpPr>
          <p:cNvPr id="5" name="Стрелка: шеврон 4">
            <a:extLst>
              <a:ext uri="{FF2B5EF4-FFF2-40B4-BE49-F238E27FC236}">
                <a16:creationId xmlns:a16="http://schemas.microsoft.com/office/drawing/2014/main" id="{588C7100-A464-4E0B-9DA8-EC55432BE611}"/>
              </a:ext>
            </a:extLst>
          </p:cNvPr>
          <p:cNvSpPr/>
          <p:nvPr/>
        </p:nvSpPr>
        <p:spPr>
          <a:xfrm rot="16200000">
            <a:off x="-2715435" y="3167727"/>
            <a:ext cx="6596209" cy="453261"/>
          </a:xfrm>
          <a:prstGeom prst="chevron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E2C9D9-8636-435F-B296-AB9303C46906}"/>
              </a:ext>
            </a:extLst>
          </p:cNvPr>
          <p:cNvSpPr txBox="1"/>
          <p:nvPr/>
        </p:nvSpPr>
        <p:spPr>
          <a:xfrm>
            <a:off x="1016876" y="906518"/>
            <a:ext cx="721498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ru-RU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400" b="1" i="0" dirty="0">
                <a:effectLst/>
                <a:latin typeface="system-ui"/>
              </a:rPr>
              <a:t>. 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UML на этапах разработки ПО (ЖЦ)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B562A-5206-41BA-AE5F-B41FAA17E8E0}"/>
              </a:ext>
            </a:extLst>
          </p:cNvPr>
          <p:cNvSpPr txBox="1"/>
          <p:nvPr/>
        </p:nvSpPr>
        <p:spPr>
          <a:xfrm>
            <a:off x="1016876" y="1416609"/>
            <a:ext cx="40586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Этап 5. Тестирование (</a:t>
            </a:r>
            <a:r>
              <a:rPr lang="af-ZA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Testing)</a:t>
            </a: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05BDA9-7481-46C0-839C-77EFCBD7947B}"/>
              </a:ext>
            </a:extLst>
          </p:cNvPr>
          <p:cNvSpPr txBox="1"/>
          <p:nvPr/>
        </p:nvSpPr>
        <p:spPr>
          <a:xfrm>
            <a:off x="1016876" y="1775929"/>
            <a:ext cx="101848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Проверить систему на соответствие требованиям и спроектированной архитектуре.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65D49A-84B6-498C-AA10-7A813AB3D3AA}"/>
              </a:ext>
            </a:extLst>
          </p:cNvPr>
          <p:cNvSpPr txBox="1"/>
          <p:nvPr/>
        </p:nvSpPr>
        <p:spPr>
          <a:xfrm>
            <a:off x="1016876" y="2698420"/>
            <a:ext cx="1054859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 деятельности и состояний: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Используются для создания 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тест-кейсов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чек-листов. QA-инженер смотрит на диаграмму состояний и проверяет, все ли переходы (включая негативные сценарии) учтены и протестированы.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последовательности: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Помогает понять, на каком этапе взаимодействия сервисов произошел сбой (поиск узкого места или ошибки в API).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9114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7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8CA48-2089-4A42-A711-EA819EF3E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2421" y="1"/>
            <a:ext cx="11269579" cy="811924"/>
          </a:xfrm>
        </p:spPr>
        <p:txBody>
          <a:bodyPr>
            <a:normAutofit/>
          </a:bodyPr>
          <a:lstStyle/>
          <a:p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Язык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</a:t>
            </a: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Использование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 </a:t>
            </a: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 разных этапах разработки ПО.</a:t>
            </a:r>
            <a:endParaRPr lang="ru-RU" sz="3000" dirty="0"/>
          </a:p>
        </p:txBody>
      </p:sp>
      <p:sp>
        <p:nvSpPr>
          <p:cNvPr id="5" name="Стрелка: шеврон 4">
            <a:extLst>
              <a:ext uri="{FF2B5EF4-FFF2-40B4-BE49-F238E27FC236}">
                <a16:creationId xmlns:a16="http://schemas.microsoft.com/office/drawing/2014/main" id="{588C7100-A464-4E0B-9DA8-EC55432BE611}"/>
              </a:ext>
            </a:extLst>
          </p:cNvPr>
          <p:cNvSpPr/>
          <p:nvPr/>
        </p:nvSpPr>
        <p:spPr>
          <a:xfrm rot="16200000">
            <a:off x="-2715435" y="3167727"/>
            <a:ext cx="6596209" cy="453261"/>
          </a:xfrm>
          <a:prstGeom prst="chevron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E2C9D9-8636-435F-B296-AB9303C46906}"/>
              </a:ext>
            </a:extLst>
          </p:cNvPr>
          <p:cNvSpPr txBox="1"/>
          <p:nvPr/>
        </p:nvSpPr>
        <p:spPr>
          <a:xfrm>
            <a:off x="1016876" y="906518"/>
            <a:ext cx="721498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ru-RU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400" b="1" i="0" dirty="0">
                <a:effectLst/>
                <a:latin typeface="system-ui"/>
              </a:rPr>
              <a:t>. 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UML на этапах разработки ПО (ЖЦ)</a:t>
            </a:r>
          </a:p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9B59D1-960D-4C02-A8DA-E239D705CAB0}"/>
              </a:ext>
            </a:extLst>
          </p:cNvPr>
          <p:cNvSpPr txBox="1"/>
          <p:nvPr/>
        </p:nvSpPr>
        <p:spPr>
          <a:xfrm>
            <a:off x="1016876" y="1385832"/>
            <a:ext cx="47412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Этап 6. Внедрение и сопровождение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D13092-E336-4C3E-AA12-80C9FB43A6BE}"/>
              </a:ext>
            </a:extLst>
          </p:cNvPr>
          <p:cNvSpPr txBox="1"/>
          <p:nvPr/>
        </p:nvSpPr>
        <p:spPr>
          <a:xfrm>
            <a:off x="1016876" y="1739775"/>
            <a:ext cx="84579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Развернуть систему и поддерживать ее в рабочем состоянии</a:t>
            </a:r>
            <a:r>
              <a:rPr lang="ru-RU" b="0" i="0" dirty="0">
                <a:solidFill>
                  <a:srgbClr val="FAFBFF"/>
                </a:solidFill>
                <a:effectLst/>
                <a:latin typeface="system-ui"/>
              </a:rPr>
              <a:t>.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937C0B-F70E-4874-9DC8-5365E7BF2E8E}"/>
              </a:ext>
            </a:extLst>
          </p:cNvPr>
          <p:cNvSpPr txBox="1"/>
          <p:nvPr/>
        </p:nvSpPr>
        <p:spPr>
          <a:xfrm>
            <a:off x="939606" y="2265255"/>
            <a:ext cx="10896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развертывания: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Актуализируется и используется как карта инфраструктуры для настройки CI/CD </a:t>
            </a:r>
            <a:r>
              <a:rPr lang="ru-RU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пайплайнов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мониторинга и масштабирования.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классов/компонентов: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Служит документацией для </a:t>
            </a:r>
            <a:r>
              <a:rPr lang="ru-RU" sz="22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онбординга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новых разработчиков (</a:t>
            </a:r>
            <a:r>
              <a:rPr lang="ru-RU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Onboarding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 Новичку гораздо проще изучить "карту" системы, чем читать тысячи строк чужого кода</a:t>
            </a:r>
            <a:r>
              <a:rPr lang="ru-RU" b="0" i="0" dirty="0">
                <a:solidFill>
                  <a:srgbClr val="FAFBFF"/>
                </a:solidFill>
                <a:effectLst/>
                <a:latin typeface="system-ui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591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7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8CA48-2089-4A42-A711-EA819EF3E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2421" y="1"/>
            <a:ext cx="11269579" cy="811924"/>
          </a:xfrm>
        </p:spPr>
        <p:txBody>
          <a:bodyPr>
            <a:normAutofit/>
          </a:bodyPr>
          <a:lstStyle/>
          <a:p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Язык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</a:t>
            </a: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Использование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 </a:t>
            </a: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 разных этапах разработки ПО.</a:t>
            </a:r>
            <a:endParaRPr lang="ru-RU" sz="3000" dirty="0"/>
          </a:p>
        </p:txBody>
      </p:sp>
      <p:sp>
        <p:nvSpPr>
          <p:cNvPr id="5" name="Стрелка: шеврон 4">
            <a:extLst>
              <a:ext uri="{FF2B5EF4-FFF2-40B4-BE49-F238E27FC236}">
                <a16:creationId xmlns:a16="http://schemas.microsoft.com/office/drawing/2014/main" id="{588C7100-A464-4E0B-9DA8-EC55432BE611}"/>
              </a:ext>
            </a:extLst>
          </p:cNvPr>
          <p:cNvSpPr/>
          <p:nvPr/>
        </p:nvSpPr>
        <p:spPr>
          <a:xfrm rot="16200000">
            <a:off x="-2715435" y="3167727"/>
            <a:ext cx="6596209" cy="453261"/>
          </a:xfrm>
          <a:prstGeom prst="chevron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E2A7E-FD47-446A-89B2-4AF288F57F11}"/>
              </a:ext>
            </a:extLst>
          </p:cNvPr>
          <p:cNvSpPr txBox="1"/>
          <p:nvPr/>
        </p:nvSpPr>
        <p:spPr>
          <a:xfrm>
            <a:off x="1007532" y="948267"/>
            <a:ext cx="7704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solidFill>
                  <a:srgbClr val="FAFBFF"/>
                </a:solidFill>
                <a:effectLst/>
                <a:latin typeface="system-ui"/>
              </a:rPr>
              <a:t>.</a:t>
            </a: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ru-RU" sz="2200" b="1" i="0" dirty="0">
                <a:solidFill>
                  <a:srgbClr val="FAFB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UML в современном мире: Мифы и Реальность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58D279-ED87-4EDE-914C-7AAC057454E6}"/>
              </a:ext>
            </a:extLst>
          </p:cNvPr>
          <p:cNvSpPr txBox="1"/>
          <p:nvPr/>
        </p:nvSpPr>
        <p:spPr>
          <a:xfrm>
            <a:off x="1075265" y="1547697"/>
            <a:ext cx="1065106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buFont typeface="+mj-lt"/>
              <a:buAutoNum type="arabicPeriod"/>
            </a:pP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Смерть "Бюрократического UML":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Умер подход </a:t>
            </a:r>
            <a:r>
              <a:rPr lang="ru-RU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Waterfall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(каскадная модель), где UML использовался для создания талмудов документации на 500 страниц, которые устаревают к моменту релиза.</a:t>
            </a:r>
          </a:p>
          <a:p>
            <a:pPr algn="l" rtl="0">
              <a:buFont typeface="+mj-lt"/>
              <a:buAutoNum type="arabicPeriod"/>
            </a:pP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Рождение "</a:t>
            </a:r>
            <a:r>
              <a:rPr lang="ru-RU" sz="2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Agile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UML" (</a:t>
            </a:r>
            <a:r>
              <a:rPr lang="ru-RU" sz="2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Whiteboard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UML):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Сегодня UML используется для быстрого наброска архитектуры на доске (или в </a:t>
            </a:r>
            <a:r>
              <a:rPr lang="ru-RU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Miro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FigJam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во время груминга задач или архитектурного </a:t>
            </a:r>
            <a:r>
              <a:rPr lang="ru-RU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ревью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 rtl="0">
              <a:buFont typeface="+mj-lt"/>
              <a:buAutoNum type="arabicPeriod"/>
            </a:pPr>
            <a:r>
              <a:rPr lang="ru-RU" sz="2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Code (Диаграммы как код):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Современный тренд — описывать UML текстом, который автоматически </a:t>
            </a:r>
            <a:r>
              <a:rPr lang="ru-RU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рендерится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картинку. Это позволяет хранить диаграммы в </a:t>
            </a:r>
            <a:r>
              <a:rPr lang="ru-RU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вместе с кодом</a:t>
            </a:r>
            <a:r>
              <a:rPr lang="ru-RU" b="0" i="0" dirty="0">
                <a:solidFill>
                  <a:srgbClr val="FAFBFF"/>
                </a:solidFill>
                <a:effectLst/>
                <a:latin typeface="system-ui"/>
              </a:rPr>
              <a:t>.</a:t>
            </a:r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1567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7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8CA48-2089-4A42-A711-EA819EF3E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2421" y="1"/>
            <a:ext cx="11269579" cy="811924"/>
          </a:xfrm>
        </p:spPr>
        <p:txBody>
          <a:bodyPr>
            <a:normAutofit/>
          </a:bodyPr>
          <a:lstStyle/>
          <a:p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Язык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</a:t>
            </a: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Использование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 </a:t>
            </a: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 разных этапах разработки ПО.</a:t>
            </a:r>
            <a:endParaRPr lang="ru-RU" sz="3000" dirty="0"/>
          </a:p>
        </p:txBody>
      </p:sp>
      <p:sp>
        <p:nvSpPr>
          <p:cNvPr id="5" name="Стрелка: шеврон 4">
            <a:extLst>
              <a:ext uri="{FF2B5EF4-FFF2-40B4-BE49-F238E27FC236}">
                <a16:creationId xmlns:a16="http://schemas.microsoft.com/office/drawing/2014/main" id="{588C7100-A464-4E0B-9DA8-EC55432BE611}"/>
              </a:ext>
            </a:extLst>
          </p:cNvPr>
          <p:cNvSpPr/>
          <p:nvPr/>
        </p:nvSpPr>
        <p:spPr>
          <a:xfrm rot="16200000">
            <a:off x="-2715435" y="3167727"/>
            <a:ext cx="6596209" cy="453261"/>
          </a:xfrm>
          <a:prstGeom prst="chevron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401BC7-3D87-4ECE-9ECB-43258BC7B640}"/>
              </a:ext>
            </a:extLst>
          </p:cNvPr>
          <p:cNvSpPr txBox="1"/>
          <p:nvPr/>
        </p:nvSpPr>
        <p:spPr>
          <a:xfrm>
            <a:off x="1076143" y="888999"/>
            <a:ext cx="46905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Инструменты для работы с UML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A3B3D9-89EA-4EEB-BC7C-86192E4D2082}"/>
              </a:ext>
            </a:extLst>
          </p:cNvPr>
          <p:cNvSpPr txBox="1"/>
          <p:nvPr/>
        </p:nvSpPr>
        <p:spPr>
          <a:xfrm>
            <a:off x="1076143" y="1289238"/>
            <a:ext cx="100245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лекции или практической работы рекомендуется разделить инструменты на две категории: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B14E96-4F95-4F3B-9F80-EB689B670473}"/>
              </a:ext>
            </a:extLst>
          </p:cNvPr>
          <p:cNvSpPr txBox="1"/>
          <p:nvPr/>
        </p:nvSpPr>
        <p:spPr>
          <a:xfrm>
            <a:off x="1135410" y="2105105"/>
            <a:ext cx="43523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Визуальные (</a:t>
            </a:r>
            <a:r>
              <a:rPr lang="af-ZA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GUI) 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редакторы: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32F0FB-84F8-4B6C-A97E-042861C7C5E7}"/>
              </a:ext>
            </a:extLst>
          </p:cNvPr>
          <p:cNvSpPr txBox="1"/>
          <p:nvPr/>
        </p:nvSpPr>
        <p:spPr>
          <a:xfrm>
            <a:off x="1135410" y="2535992"/>
            <a:ext cx="961692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af-ZA" sz="22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Draw.io (diagrams.net)</a:t>
            </a:r>
            <a:r>
              <a:rPr lang="af-ZA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бесплатный, интегрируется с </a:t>
            </a:r>
            <a:r>
              <a:rPr lang="af-ZA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Confluence 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af-ZA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Jira.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af-ZA" sz="22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StarUML</a:t>
            </a:r>
            <a:r>
              <a:rPr lang="af-ZA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 для детального </a:t>
            </a:r>
            <a:r>
              <a:rPr lang="af-ZA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UML-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моделирования.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af-ZA" sz="22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Enterprise Architect (Sparx)</a:t>
            </a:r>
            <a:r>
              <a:rPr lang="af-ZA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тяжелый корпоративный стандарт (используется в банках и госсекторе).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af-ZA" sz="22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Lucidchart</a:t>
            </a:r>
            <a:r>
              <a:rPr lang="af-ZA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популярный веб-инструмент для совместной работы.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7012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7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8CA48-2089-4A42-A711-EA819EF3E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2421" y="1"/>
            <a:ext cx="11269579" cy="811924"/>
          </a:xfrm>
        </p:spPr>
        <p:txBody>
          <a:bodyPr>
            <a:normAutofit/>
          </a:bodyPr>
          <a:lstStyle/>
          <a:p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Язык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</a:t>
            </a: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Использование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 </a:t>
            </a: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 разных этапах разработки ПО.</a:t>
            </a:r>
            <a:endParaRPr lang="ru-RU" sz="3000" dirty="0"/>
          </a:p>
        </p:txBody>
      </p:sp>
      <p:sp>
        <p:nvSpPr>
          <p:cNvPr id="5" name="Стрелка: шеврон 4">
            <a:extLst>
              <a:ext uri="{FF2B5EF4-FFF2-40B4-BE49-F238E27FC236}">
                <a16:creationId xmlns:a16="http://schemas.microsoft.com/office/drawing/2014/main" id="{588C7100-A464-4E0B-9DA8-EC55432BE611}"/>
              </a:ext>
            </a:extLst>
          </p:cNvPr>
          <p:cNvSpPr/>
          <p:nvPr/>
        </p:nvSpPr>
        <p:spPr>
          <a:xfrm rot="16200000">
            <a:off x="-2715435" y="3167727"/>
            <a:ext cx="6596209" cy="453261"/>
          </a:xfrm>
          <a:prstGeom prst="chevron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0E1477-0617-4E28-BF6D-6C5C92CBBCB2}"/>
              </a:ext>
            </a:extLst>
          </p:cNvPr>
          <p:cNvSpPr txBox="1"/>
          <p:nvPr/>
        </p:nvSpPr>
        <p:spPr>
          <a:xfrm>
            <a:off x="1076143" y="888999"/>
            <a:ext cx="46905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Инструменты для работы с UML</a:t>
            </a:r>
          </a:p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790D59-C886-47A8-896F-B7F8F45B3615}"/>
              </a:ext>
            </a:extLst>
          </p:cNvPr>
          <p:cNvSpPr txBox="1"/>
          <p:nvPr/>
        </p:nvSpPr>
        <p:spPr>
          <a:xfrm>
            <a:off x="1076143" y="1430867"/>
            <a:ext cx="1086185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 как код" (</a:t>
            </a:r>
            <a:r>
              <a:rPr lang="af-ZA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Must-have 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современных разработчиков):</a:t>
            </a:r>
          </a:p>
          <a:p>
            <a:pPr algn="l" rtl="0"/>
            <a:endParaRPr lang="ru-RU" sz="2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af-ZA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PlantUML</a:t>
            </a:r>
            <a:r>
              <a:rPr lang="af-ZA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диаграмм с помощью простого текстового скрипта. Отлично интегрируется в </a:t>
            </a:r>
            <a:r>
              <a:rPr lang="af-ZA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 (IntelliJ IDEA, VS Code).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af-ZA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Mermaid.js</a:t>
            </a:r>
            <a:r>
              <a:rPr lang="af-ZA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 де-факто для </a:t>
            </a:r>
            <a:r>
              <a:rPr lang="af-ZA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Markdown. 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Поддерживается "из коробки" в </a:t>
            </a:r>
            <a:r>
              <a:rPr lang="af-ZA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GitHub, GitLab, Notion, Obsidian. 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Позволяет вставлять диаграммы прямо в </a:t>
            </a:r>
            <a:r>
              <a:rPr lang="af-ZA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README.md.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4158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7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8CA48-2089-4A42-A711-EA819EF3EE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2421" y="1"/>
            <a:ext cx="11269579" cy="811924"/>
          </a:xfrm>
        </p:spPr>
        <p:txBody>
          <a:bodyPr>
            <a:normAutofit/>
          </a:bodyPr>
          <a:lstStyle/>
          <a:p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Язык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</a:t>
            </a: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Использование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 </a:t>
            </a:r>
            <a:r>
              <a:rPr lang="ru-RU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 разных этапах разработки ПО.</a:t>
            </a:r>
            <a:endParaRPr lang="ru-RU" sz="3000" dirty="0"/>
          </a:p>
        </p:txBody>
      </p:sp>
      <p:sp>
        <p:nvSpPr>
          <p:cNvPr id="5" name="Стрелка: шеврон 4">
            <a:extLst>
              <a:ext uri="{FF2B5EF4-FFF2-40B4-BE49-F238E27FC236}">
                <a16:creationId xmlns:a16="http://schemas.microsoft.com/office/drawing/2014/main" id="{588C7100-A464-4E0B-9DA8-EC55432BE611}"/>
              </a:ext>
            </a:extLst>
          </p:cNvPr>
          <p:cNvSpPr/>
          <p:nvPr/>
        </p:nvSpPr>
        <p:spPr>
          <a:xfrm rot="16200000">
            <a:off x="-2715435" y="3167727"/>
            <a:ext cx="6596209" cy="453261"/>
          </a:xfrm>
          <a:prstGeom prst="chevron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E21E5A-ED48-4935-A7EE-7D597937B67F}"/>
              </a:ext>
            </a:extLst>
          </p:cNvPr>
          <p:cNvSpPr txBox="1"/>
          <p:nvPr/>
        </p:nvSpPr>
        <p:spPr>
          <a:xfrm>
            <a:off x="1083733" y="897467"/>
            <a:ext cx="17320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98ECDC-0037-4599-A5B9-70F4CE703F21}"/>
              </a:ext>
            </a:extLst>
          </p:cNvPr>
          <p:cNvSpPr txBox="1"/>
          <p:nvPr/>
        </p:nvSpPr>
        <p:spPr>
          <a:xfrm>
            <a:off x="1207081" y="1439333"/>
            <a:ext cx="105913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UML — это не догма. Не обязательно использовать все 14 типов диаграмм в одном проекте.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777A95-5666-477B-A7FD-F5717181E468}"/>
              </a:ext>
            </a:extLst>
          </p:cNvPr>
          <p:cNvSpPr txBox="1"/>
          <p:nvPr/>
        </p:nvSpPr>
        <p:spPr>
          <a:xfrm>
            <a:off x="1203959" y="2362201"/>
            <a:ext cx="1074250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Если вы делаете простой CRUD-сервис, вам хватит только 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 классов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(для БД) и </a:t>
            </a:r>
            <a:r>
              <a:rPr lang="ru-RU" sz="2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(для API).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Если вы строите распределенную </a:t>
            </a:r>
            <a:r>
              <a:rPr lang="ru-RU" sz="22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микросервисную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архитектуру, вам жизненно необходимы 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Развертывание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Компонет</a:t>
            </a:r>
            <a:r>
              <a:rPr lang="ru-RU" sz="22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диаграммы.</a:t>
            </a:r>
          </a:p>
          <a:p>
            <a:pPr algn="l" rtl="0"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Если вы описываете сложный бизнес-процесс, используйте 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Деятельности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2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Case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109153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1238</Words>
  <Application>Microsoft Office PowerPoint</Application>
  <PresentationFormat>Широкоэкранный</PresentationFormat>
  <Paragraphs>83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system-ui</vt:lpstr>
      <vt:lpstr>Times New Roman</vt:lpstr>
      <vt:lpstr>Тема Office</vt:lpstr>
      <vt:lpstr>Язык UML Использование UML на разных этапах разработки ПО.</vt:lpstr>
      <vt:lpstr>Язык UML Использование UML на разных этапах разработки ПО.</vt:lpstr>
      <vt:lpstr>Язык UML Использование UML на разных этапах разработки ПО.</vt:lpstr>
      <vt:lpstr>Язык UML Использование UML на разных этапах разработки ПО.</vt:lpstr>
      <vt:lpstr>Язык UML Использование UML на разных этапах разработки ПО.</vt:lpstr>
      <vt:lpstr>Язык UML Использование UML на разных этапах разработки ПО.</vt:lpstr>
      <vt:lpstr>Язык UML Использование UML на разных этапах разработки ПО.</vt:lpstr>
      <vt:lpstr>Язык UML Использование UML на разных этапах разработки ПО.</vt:lpstr>
      <vt:lpstr>Язык UML Использование UML на разных этапах разработки ПО.</vt:lpstr>
      <vt:lpstr>Язык UML Использование UML на разных этапах разработки ПО.</vt:lpstr>
      <vt:lpstr>Язык UML Использование UML на разных этапах разработки ПО.</vt:lpstr>
      <vt:lpstr>Язык UML Использование UML на разных этапах разработки ПО.</vt:lpstr>
      <vt:lpstr>Язык UML Использование UML на разных этапах разработки ПО.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Язык UML Использование UML на разных этапах разработки ПО.</dc:title>
  <dc:creator>Daria</dc:creator>
  <cp:lastModifiedBy>Daria</cp:lastModifiedBy>
  <cp:revision>18</cp:revision>
  <dcterms:created xsi:type="dcterms:W3CDTF">2026-09-17T19:08:56Z</dcterms:created>
  <dcterms:modified xsi:type="dcterms:W3CDTF">2026-09-17T19:43:22Z</dcterms:modified>
</cp:coreProperties>
</file>