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Средний стиль 1 — акцент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5852" autoAdjust="0"/>
  </p:normalViewPr>
  <p:slideViewPr>
    <p:cSldViewPr snapToGrid="0">
      <p:cViewPr varScale="1">
        <p:scale>
          <a:sx n="92" d="100"/>
          <a:sy n="92" d="100"/>
        </p:scale>
        <p:origin x="53" y="9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836638-4B6F-46E0-BFE2-B1CC8CF14A76}" type="datetimeFigureOut">
              <a:rPr lang="ru-RU" smtClean="0"/>
              <a:t>06.09.2026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6B748-0DF8-4F17-8D2B-4C0669F6CD2D}" type="slidenum">
              <a:rPr lang="ru-RU" smtClean="0"/>
              <a:t>‹#›</a:t>
            </a:fld>
            <a:endParaRPr lang="ru-RU"/>
          </a:p>
        </p:txBody>
      </p:sp>
    </p:spTree>
    <p:extLst>
      <p:ext uri="{BB962C8B-B14F-4D97-AF65-F5344CB8AC3E}">
        <p14:creationId xmlns:p14="http://schemas.microsoft.com/office/powerpoint/2010/main" val="413884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1B6B748-0DF8-4F17-8D2B-4C0669F6CD2D}" type="slidenum">
              <a:rPr lang="ru-RU" smtClean="0"/>
              <a:t>8</a:t>
            </a:fld>
            <a:endParaRPr lang="ru-RU"/>
          </a:p>
        </p:txBody>
      </p:sp>
    </p:spTree>
    <p:extLst>
      <p:ext uri="{BB962C8B-B14F-4D97-AF65-F5344CB8AC3E}">
        <p14:creationId xmlns:p14="http://schemas.microsoft.com/office/powerpoint/2010/main" val="2804443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3AAA92-2F6F-4716-BA35-0B38B0EDE7E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34096341-DE9C-4762-BF76-50338AD8AD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E16AC0B0-A5F5-41A5-A6F7-63F99B579752}"/>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5" name="Нижний колонтитул 4">
            <a:extLst>
              <a:ext uri="{FF2B5EF4-FFF2-40B4-BE49-F238E27FC236}">
                <a16:creationId xmlns:a16="http://schemas.microsoft.com/office/drawing/2014/main" id="{3DDC2636-2EB4-4240-8F25-BC0B654AD5C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F572404-3FEB-490D-B3C3-E90A35DCF77D}"/>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411913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A55E48-4677-4160-972D-41F620175BD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77D6E0C-748B-4357-9B21-1C46BA5A0BAA}"/>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6533025-3921-4D47-9364-87E3E0B78E69}"/>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5" name="Нижний колонтитул 4">
            <a:extLst>
              <a:ext uri="{FF2B5EF4-FFF2-40B4-BE49-F238E27FC236}">
                <a16:creationId xmlns:a16="http://schemas.microsoft.com/office/drawing/2014/main" id="{149C5D85-B940-4978-8885-44F45984737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341F677-EC09-425E-93A5-2F396796E08F}"/>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2292056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9BB923-DDAC-4ABB-BB85-8AC54749A64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F62458F3-306A-4798-97DC-FC8BC02503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00288C3D-C238-4386-B388-5632231810C7}"/>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5" name="Нижний колонтитул 4">
            <a:extLst>
              <a:ext uri="{FF2B5EF4-FFF2-40B4-BE49-F238E27FC236}">
                <a16:creationId xmlns:a16="http://schemas.microsoft.com/office/drawing/2014/main" id="{C6933662-D7C8-4186-BE88-B59E05DB00B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7BC7C9E-3E04-4057-A969-0C8E0965E580}"/>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3477136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803BF0-A947-4B2A-A02A-9F7A390F0B6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CE7BF30-5EDA-4615-8F0C-398DF1A142C4}"/>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BFE51528-96D6-4A00-9EBE-BB652ABD064F}"/>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95DD0433-9DDE-470A-A1AB-E2E1BA83E823}"/>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6" name="Нижний колонтитул 5">
            <a:extLst>
              <a:ext uri="{FF2B5EF4-FFF2-40B4-BE49-F238E27FC236}">
                <a16:creationId xmlns:a16="http://schemas.microsoft.com/office/drawing/2014/main" id="{284E9B1D-967C-4F07-B5F4-B3FF2B9D994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B728D14-6626-4B4B-8A04-43D0BF995798}"/>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357920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A5462E-9027-4523-B39A-C3084E545F79}"/>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28D60504-A5AB-4F3E-A0B5-924B997FC9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92616931-7F03-49DF-99FC-8E87E8D8A52A}"/>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4DFBCD1B-B833-4C73-A640-5F493C25F4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29814473-65E6-4D8C-A1D5-00B21E19F44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4E2C21A2-0451-4D2C-BBB2-847E5D50603A}"/>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8" name="Нижний колонтитул 7">
            <a:extLst>
              <a:ext uri="{FF2B5EF4-FFF2-40B4-BE49-F238E27FC236}">
                <a16:creationId xmlns:a16="http://schemas.microsoft.com/office/drawing/2014/main" id="{40BC37A7-2521-4510-AC87-4BBA24C5FC5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2C764726-1557-4D0C-90D0-80F1FA21F73E}"/>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1589275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02DABF-BE02-4A3A-9E3D-DD5D9E2BA368}"/>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197068ED-C783-4FB8-BF43-B71D00C45300}"/>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4" name="Нижний колонтитул 3">
            <a:extLst>
              <a:ext uri="{FF2B5EF4-FFF2-40B4-BE49-F238E27FC236}">
                <a16:creationId xmlns:a16="http://schemas.microsoft.com/office/drawing/2014/main" id="{2A493393-5786-464A-8058-1EB0ADA979E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7063E64E-442E-4E96-B97B-6548676C6DDA}"/>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2022812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42E3A46-7518-4E9D-A5E7-C0D85463339A}"/>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3" name="Нижний колонтитул 2">
            <a:extLst>
              <a:ext uri="{FF2B5EF4-FFF2-40B4-BE49-F238E27FC236}">
                <a16:creationId xmlns:a16="http://schemas.microsoft.com/office/drawing/2014/main" id="{3CBEA3F9-88FA-48E2-A435-43EDE0319414}"/>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870F4C86-ADC4-4872-8430-E1E827B213B7}"/>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1282996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03515B-BF00-4D3C-A7F1-0E065AB40C4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3940162D-515F-4E16-8F34-06745082B8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6BB4925D-6FEA-42FA-A1E2-92C5F3F9F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26C747A-3037-419B-9B28-671F122A3ED8}"/>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6" name="Нижний колонтитул 5">
            <a:extLst>
              <a:ext uri="{FF2B5EF4-FFF2-40B4-BE49-F238E27FC236}">
                <a16:creationId xmlns:a16="http://schemas.microsoft.com/office/drawing/2014/main" id="{5882928E-7AED-41F9-93D2-1BF6A0C342B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CC45B07-C305-4E7F-988B-55555238829D}"/>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1583255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02B893-FFD2-4FAB-AB3D-20542CC4EE6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0FE62B2D-0F18-4CB1-863D-210AFB03EC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2A2B38A5-F936-4BF9-AF1F-0D6EB0DE5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30672F6-1315-4E04-9AF4-53A1C744156E}"/>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6" name="Нижний колонтитул 5">
            <a:extLst>
              <a:ext uri="{FF2B5EF4-FFF2-40B4-BE49-F238E27FC236}">
                <a16:creationId xmlns:a16="http://schemas.microsoft.com/office/drawing/2014/main" id="{21F60B14-E4F9-4E60-A61C-8A9843A76BB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DBB1609-444D-45D1-8115-A849F3134DE3}"/>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301840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526DF1-219B-44DA-BA48-C3665057438A}"/>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318EF30A-9FC0-4EC1-BF21-1B0B53C2DBAE}"/>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5EE667B-C0FA-4806-AAAB-BD18364EF69E}"/>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5" name="Нижний колонтитул 4">
            <a:extLst>
              <a:ext uri="{FF2B5EF4-FFF2-40B4-BE49-F238E27FC236}">
                <a16:creationId xmlns:a16="http://schemas.microsoft.com/office/drawing/2014/main" id="{FB254287-531A-4E4A-9C1A-F067D731553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9D58BDA-B25F-4E78-B334-699517AD2766}"/>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417657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BB14BA-D701-472B-BE14-9C0E71A5FEC9}"/>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A4C17149-B3A3-48EA-A25F-9687F2A85DE2}"/>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69887E4-216E-451D-918C-C0FA0A48427A}"/>
              </a:ext>
            </a:extLst>
          </p:cNvPr>
          <p:cNvSpPr>
            <a:spLocks noGrp="1"/>
          </p:cNvSpPr>
          <p:nvPr>
            <p:ph type="dt" sz="half" idx="10"/>
          </p:nvPr>
        </p:nvSpPr>
        <p:spPr/>
        <p:txBody>
          <a:bodyPr/>
          <a:lstStyle/>
          <a:p>
            <a:fld id="{CCFF1838-FD62-4BEC-A111-2FA9F0A59FC3}" type="datetimeFigureOut">
              <a:rPr lang="ru-RU" smtClean="0"/>
              <a:t>06.09.2026</a:t>
            </a:fld>
            <a:endParaRPr lang="ru-RU"/>
          </a:p>
        </p:txBody>
      </p:sp>
      <p:sp>
        <p:nvSpPr>
          <p:cNvPr id="5" name="Нижний колонтитул 4">
            <a:extLst>
              <a:ext uri="{FF2B5EF4-FFF2-40B4-BE49-F238E27FC236}">
                <a16:creationId xmlns:a16="http://schemas.microsoft.com/office/drawing/2014/main" id="{9F1036C0-C6D7-4366-8AE8-DC234177B16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3BDB619-AE3A-4F41-A3BF-67545AA26D9D}"/>
              </a:ext>
            </a:extLst>
          </p:cNvPr>
          <p:cNvSpPr>
            <a:spLocks noGrp="1"/>
          </p:cNvSpPr>
          <p:nvPr>
            <p:ph type="sldNum" sz="quarter" idx="12"/>
          </p:nvPr>
        </p:nvSpPr>
        <p:spPr/>
        <p:txBody>
          <a:bodyPr/>
          <a:lstStyle/>
          <a:p>
            <a:fld id="{6A772CFE-EE93-4DDF-8986-CB9C6C13B165}" type="slidenum">
              <a:rPr lang="ru-RU" smtClean="0"/>
              <a:t>‹#›</a:t>
            </a:fld>
            <a:endParaRPr lang="ru-RU"/>
          </a:p>
        </p:txBody>
      </p:sp>
    </p:spTree>
    <p:extLst>
      <p:ext uri="{BB962C8B-B14F-4D97-AF65-F5344CB8AC3E}">
        <p14:creationId xmlns:p14="http://schemas.microsoft.com/office/powerpoint/2010/main" val="3537939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4C1EC6-1F39-4A35-A1D2-C28A190BF7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F7832358-A194-4024-AB66-3E27FC88AB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69676C6-229C-4CE7-BC38-82C6524B8B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FF1838-FD62-4BEC-A111-2FA9F0A59FC3}" type="datetimeFigureOut">
              <a:rPr lang="ru-RU" smtClean="0"/>
              <a:t>06.09.2026</a:t>
            </a:fld>
            <a:endParaRPr lang="ru-RU"/>
          </a:p>
        </p:txBody>
      </p:sp>
      <p:sp>
        <p:nvSpPr>
          <p:cNvPr id="5" name="Нижний колонтитул 4">
            <a:extLst>
              <a:ext uri="{FF2B5EF4-FFF2-40B4-BE49-F238E27FC236}">
                <a16:creationId xmlns:a16="http://schemas.microsoft.com/office/drawing/2014/main" id="{5A94EF62-048B-4B83-8A88-B6595AADA0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A69E64BA-C416-4424-ADAA-B070AD5695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772CFE-EE93-4DDF-8986-CB9C6C13B165}" type="slidenum">
              <a:rPr lang="ru-RU" smtClean="0"/>
              <a:t>‹#›</a:t>
            </a:fld>
            <a:endParaRPr lang="ru-RU"/>
          </a:p>
        </p:txBody>
      </p:sp>
    </p:spTree>
    <p:extLst>
      <p:ext uri="{BB962C8B-B14F-4D97-AF65-F5344CB8AC3E}">
        <p14:creationId xmlns:p14="http://schemas.microsoft.com/office/powerpoint/2010/main" val="1458650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A8D32F-B8EF-4BA2-A30C-FBA26BDC2CC5}"/>
              </a:ext>
            </a:extLst>
          </p:cNvPr>
          <p:cNvSpPr>
            <a:spLocks noGrp="1"/>
          </p:cNvSpPr>
          <p:nvPr>
            <p:ph type="ctrTitle"/>
          </p:nvPr>
        </p:nvSpPr>
        <p:spPr>
          <a:xfrm>
            <a:off x="1642933" y="2583884"/>
            <a:ext cx="9144000" cy="1287025"/>
          </a:xfrm>
        </p:spPr>
        <p:txBody>
          <a:bodyPr>
            <a:normAutofit/>
          </a:bodyPr>
          <a:lstStyle/>
          <a:p>
            <a:r>
              <a:rPr lang="ru-RU" sz="4000" dirty="0">
                <a:effectLst/>
                <a:latin typeface="Times New Roman" panose="02020603050405020304" pitchFamily="18" charset="0"/>
                <a:ea typeface="Calibri" panose="020F0502020204030204" pitchFamily="34" charset="0"/>
              </a:rPr>
              <a:t>Структура </a:t>
            </a:r>
            <a:r>
              <a:rPr lang="en-US" sz="4000" dirty="0">
                <a:effectLst/>
                <a:latin typeface="Times New Roman" panose="02020603050405020304" pitchFamily="18" charset="0"/>
                <a:ea typeface="Calibri" panose="020F0502020204030204" pitchFamily="34" charset="0"/>
              </a:rPr>
              <a:t>CASE</a:t>
            </a:r>
            <a:r>
              <a:rPr lang="ru-RU" sz="4000" dirty="0">
                <a:effectLst/>
                <a:latin typeface="Times New Roman" panose="02020603050405020304" pitchFamily="18" charset="0"/>
                <a:ea typeface="Calibri" panose="020F0502020204030204" pitchFamily="34" charset="0"/>
              </a:rPr>
              <a:t>-средства. Структура среды разработки.</a:t>
            </a:r>
            <a:endParaRPr lang="ru-RU" sz="4000" dirty="0"/>
          </a:p>
        </p:txBody>
      </p:sp>
      <p:pic>
        <p:nvPicPr>
          <p:cNvPr id="1026" name="Picture 2" descr="Picture background">
            <a:extLst>
              <a:ext uri="{FF2B5EF4-FFF2-40B4-BE49-F238E27FC236}">
                <a16:creationId xmlns:a16="http://schemas.microsoft.com/office/drawing/2014/main" id="{EB9AF91D-A898-4324-800B-978D7B8F365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6405433" y="-1936246"/>
            <a:ext cx="8763000" cy="6334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862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D1E297-6788-4DCA-B0B1-FD592BA7B1AA}"/>
              </a:ext>
            </a:extLst>
          </p:cNvPr>
          <p:cNvSpPr>
            <a:spLocks noGrp="1"/>
          </p:cNvSpPr>
          <p:nvPr>
            <p:ph type="title"/>
          </p:nvPr>
        </p:nvSpPr>
        <p:spPr>
          <a:xfrm>
            <a:off x="381000" y="0"/>
            <a:ext cx="10515600" cy="1325563"/>
          </a:xfrm>
        </p:spPr>
        <p:txBody>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dirty="0"/>
          </a:p>
        </p:txBody>
      </p:sp>
      <p:pic>
        <p:nvPicPr>
          <p:cNvPr id="4" name="Picture 2" descr="Picture background">
            <a:extLst>
              <a:ext uri="{FF2B5EF4-FFF2-40B4-BE49-F238E27FC236}">
                <a16:creationId xmlns:a16="http://schemas.microsoft.com/office/drawing/2014/main" id="{98171E5C-D383-419D-A540-23BBF715799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2655" y="-1636925"/>
            <a:ext cx="6908626" cy="499373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58563F6-2D39-4517-B10C-72B221BB3EEC}"/>
              </a:ext>
            </a:extLst>
          </p:cNvPr>
          <p:cNvSpPr txBox="1"/>
          <p:nvPr/>
        </p:nvSpPr>
        <p:spPr>
          <a:xfrm>
            <a:off x="609600" y="1048486"/>
            <a:ext cx="10058400" cy="769441"/>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Традиционная (каноническая) </a:t>
            </a:r>
            <a:r>
              <a:rPr lang="ru-RU" sz="2200" b="0" i="1" dirty="0">
                <a:effectLst/>
                <a:latin typeface="Times New Roman" panose="02020603050405020304" pitchFamily="18" charset="0"/>
                <a:cs typeface="Times New Roman" panose="02020603050405020304" pitchFamily="18" charset="0"/>
              </a:rPr>
              <a:t>технология создания ИС предъявляет особые требования к методикам реализации, а именно:</a:t>
            </a:r>
            <a:endParaRPr lang="ru-RU" sz="2200" i="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7D0FFD3-DEEB-48DE-9626-D5097502A26D}"/>
              </a:ext>
            </a:extLst>
          </p:cNvPr>
          <p:cNvSpPr txBox="1"/>
          <p:nvPr/>
        </p:nvSpPr>
        <p:spPr>
          <a:xfrm>
            <a:off x="521368" y="1972681"/>
            <a:ext cx="11341768" cy="3077766"/>
          </a:xfrm>
          <a:prstGeom prst="rect">
            <a:avLst/>
          </a:prstGeom>
          <a:noFill/>
        </p:spPr>
        <p:txBody>
          <a:bodyPr wrap="square" rtlCol="0">
            <a:spAutoFit/>
          </a:bodyPr>
          <a:lstStyle/>
          <a:p>
            <a:r>
              <a:rPr lang="en-US" sz="2200" b="0" i="0" dirty="0">
                <a:effectLst/>
                <a:latin typeface="Times New Roman" panose="02020603050405020304" pitchFamily="18" charset="0"/>
                <a:cs typeface="Times New Roman" panose="02020603050405020304" pitchFamily="18" charset="0"/>
              </a:rPr>
              <a:t>1. </a:t>
            </a:r>
            <a:r>
              <a:rPr lang="ru-RU" sz="2200" b="1" i="0" dirty="0">
                <a:effectLst/>
                <a:latin typeface="Times New Roman" panose="02020603050405020304" pitchFamily="18" charset="0"/>
                <a:cs typeface="Times New Roman" panose="02020603050405020304" pitchFamily="18" charset="0"/>
              </a:rPr>
              <a:t>Реализацию проектов по созданию ИС принято разбивать на стадии анализа (прежде чем создавать ИС, необходимо понять и описать бизнес-логику предметной области), проектирования (необходимо определить модули и архитектуру будущей системы), непосредственного кодирования, тестирования и сопровождения</a:t>
            </a:r>
            <a:r>
              <a:rPr lang="ru-RU" sz="2200" b="0" i="0" dirty="0">
                <a:effectLst/>
                <a:latin typeface="Times New Roman" panose="02020603050405020304" pitchFamily="18" charset="0"/>
                <a:cs typeface="Times New Roman" panose="02020603050405020304" pitchFamily="18" charset="0"/>
              </a:rPr>
              <a:t>. Известно, что исправление ошибок, допущенных на предыдущей стадии, обходится примерно в 10 раз дороже, чем на текущей, откуда следует, что наиболее критическими являются первые стадии проекта. Поэтому крайне важно иметь эффективные средства автоматизации ранних этапов реализации проекта.</a:t>
            </a:r>
          </a:p>
          <a:p>
            <a:endParaRPr lang="ru-RU" dirty="0"/>
          </a:p>
        </p:txBody>
      </p:sp>
      <p:sp>
        <p:nvSpPr>
          <p:cNvPr id="7" name="TextBox 6">
            <a:extLst>
              <a:ext uri="{FF2B5EF4-FFF2-40B4-BE49-F238E27FC236}">
                <a16:creationId xmlns:a16="http://schemas.microsoft.com/office/drawing/2014/main" id="{1BB15774-214B-48CC-8B5A-7AFCF3FD6AE0}"/>
              </a:ext>
            </a:extLst>
          </p:cNvPr>
          <p:cNvSpPr txBox="1"/>
          <p:nvPr/>
        </p:nvSpPr>
        <p:spPr>
          <a:xfrm>
            <a:off x="521368" y="5050447"/>
            <a:ext cx="11341768" cy="1384995"/>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2.</a:t>
            </a:r>
            <a:r>
              <a:rPr lang="ru-RU" sz="2200" b="1" i="0" dirty="0">
                <a:effectLst/>
                <a:latin typeface="Times New Roman" panose="02020603050405020304" pitchFamily="18" charset="0"/>
                <a:cs typeface="Times New Roman" panose="02020603050405020304" pitchFamily="18" charset="0"/>
              </a:rPr>
              <a:t>Проект по созданию сложной ИС невозможно реализовать в одиночку. </a:t>
            </a:r>
            <a:r>
              <a:rPr lang="ru-RU" sz="2200" b="0" i="0" dirty="0">
                <a:effectLst/>
                <a:latin typeface="Times New Roman" panose="02020603050405020304" pitchFamily="18" charset="0"/>
                <a:cs typeface="Times New Roman" panose="02020603050405020304" pitchFamily="18" charset="0"/>
              </a:rPr>
              <a:t>Коллективная работа существенно отличается от индивидуальной, поэтому при реализации крупных проектов необходимо иметь средства координации и управления коллективом разработчиков.</a:t>
            </a:r>
          </a:p>
          <a:p>
            <a:endParaRPr lang="ru-RU" dirty="0"/>
          </a:p>
        </p:txBody>
      </p:sp>
    </p:spTree>
    <p:extLst>
      <p:ext uri="{BB962C8B-B14F-4D97-AF65-F5344CB8AC3E}">
        <p14:creationId xmlns:p14="http://schemas.microsoft.com/office/powerpoint/2010/main" val="2971439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276C6B-352A-4322-8F96-5D8096BA8567}"/>
              </a:ext>
            </a:extLst>
          </p:cNvPr>
          <p:cNvSpPr>
            <a:spLocks noGrp="1"/>
          </p:cNvSpPr>
          <p:nvPr>
            <p:ph type="title"/>
          </p:nvPr>
        </p:nvSpPr>
        <p:spPr>
          <a:xfrm>
            <a:off x="576943" y="0"/>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4" name="Picture 2" descr="Picture background">
            <a:extLst>
              <a:ext uri="{FF2B5EF4-FFF2-40B4-BE49-F238E27FC236}">
                <a16:creationId xmlns:a16="http://schemas.microsoft.com/office/drawing/2014/main" id="{12F0B15C-B30E-47DE-90BB-878DEF551BC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4827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4866A7-0D7A-4BB0-AE13-71D34D121D77}"/>
              </a:ext>
            </a:extLst>
          </p:cNvPr>
          <p:cNvSpPr txBox="1"/>
          <p:nvPr/>
        </p:nvSpPr>
        <p:spPr>
          <a:xfrm>
            <a:off x="576942" y="1018233"/>
            <a:ext cx="11275423" cy="2739211"/>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3. </a:t>
            </a:r>
            <a:r>
              <a:rPr lang="ru-RU" sz="2200" b="1" i="0" dirty="0">
                <a:effectLst/>
                <a:latin typeface="Times New Roman" panose="02020603050405020304" pitchFamily="18" charset="0"/>
                <a:cs typeface="Times New Roman" panose="02020603050405020304" pitchFamily="18" charset="0"/>
              </a:rPr>
              <a:t>Жизненный цикл создания сложной ИС сопоставим с ожидаемым временем ее эксплуатации. </a:t>
            </a:r>
            <a:r>
              <a:rPr lang="ru-RU" sz="2200" b="0" i="0" dirty="0">
                <a:effectLst/>
                <a:latin typeface="Times New Roman" panose="02020603050405020304" pitchFamily="18" charset="0"/>
                <a:cs typeface="Times New Roman" panose="02020603050405020304" pitchFamily="18" charset="0"/>
              </a:rPr>
              <a:t>Другими словами, в современных условиях компании перестраивают свои бизнес-процессы примерно раз в два года, столько же требуется (если работать в традиционной технологии) для создания ИС. Может оказаться, что к моменту сдачи ИС она уже никому не нужна, поскольку компания, ее заказывая, вынуждена перейти на новую технологию работы. Следовательно, для создания ИС жизненно необходим инструмент, значительно (в несколько раз) уменьшающий время разработки и переработки ИС.</a:t>
            </a:r>
          </a:p>
          <a:p>
            <a:endParaRPr lang="ru-RU" dirty="0"/>
          </a:p>
        </p:txBody>
      </p:sp>
      <p:sp>
        <p:nvSpPr>
          <p:cNvPr id="6" name="TextBox 5">
            <a:extLst>
              <a:ext uri="{FF2B5EF4-FFF2-40B4-BE49-F238E27FC236}">
                <a16:creationId xmlns:a16="http://schemas.microsoft.com/office/drawing/2014/main" id="{44879928-1B8E-42DF-ABA5-DE1DB1D7A69F}"/>
              </a:ext>
            </a:extLst>
          </p:cNvPr>
          <p:cNvSpPr txBox="1"/>
          <p:nvPr/>
        </p:nvSpPr>
        <p:spPr>
          <a:xfrm>
            <a:off x="576940" y="3683501"/>
            <a:ext cx="11275423" cy="2400657"/>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4. </a:t>
            </a:r>
            <a:r>
              <a:rPr lang="ru-RU" sz="2200" b="1" i="0" dirty="0">
                <a:effectLst/>
                <a:latin typeface="Times New Roman" panose="02020603050405020304" pitchFamily="18" charset="0"/>
                <a:cs typeface="Times New Roman" panose="02020603050405020304" pitchFamily="18" charset="0"/>
              </a:rPr>
              <a:t>Вследствие значительного жизненного цикла может оказаться, что в процессе создания системы внешние условия изменились.</a:t>
            </a:r>
            <a:r>
              <a:rPr lang="ru-RU" sz="2200" b="0" i="0" dirty="0">
                <a:effectLst/>
                <a:latin typeface="Times New Roman" panose="02020603050405020304" pitchFamily="18" charset="0"/>
                <a:cs typeface="Times New Roman" panose="02020603050405020304" pitchFamily="18" charset="0"/>
              </a:rPr>
              <a:t> Обычно внесение изменений в проект на поздних этапах создания ИС — весьма трудоемкий и дорогостоящий процесс. Поэтому для успешной реализации крупного проекта необходимо, чтобы инструментальные средства, на которых он реализуется, были достаточно гибкими к изменяющимся требованиям.</a:t>
            </a:r>
          </a:p>
          <a:p>
            <a:endParaRPr lang="ru-RU" dirty="0"/>
          </a:p>
        </p:txBody>
      </p:sp>
    </p:spTree>
    <p:extLst>
      <p:ext uri="{BB962C8B-B14F-4D97-AF65-F5344CB8AC3E}">
        <p14:creationId xmlns:p14="http://schemas.microsoft.com/office/powerpoint/2010/main" val="1844049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50A4D2-174C-4361-85CF-A76192F38BFB}"/>
              </a:ext>
            </a:extLst>
          </p:cNvPr>
          <p:cNvSpPr>
            <a:spLocks noGrp="1"/>
          </p:cNvSpPr>
          <p:nvPr>
            <p:ph type="title"/>
          </p:nvPr>
        </p:nvSpPr>
        <p:spPr>
          <a:xfrm>
            <a:off x="486508" y="-199909"/>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4" name="Picture 2" descr="Picture background">
            <a:extLst>
              <a:ext uri="{FF2B5EF4-FFF2-40B4-BE49-F238E27FC236}">
                <a16:creationId xmlns:a16="http://schemas.microsoft.com/office/drawing/2014/main" id="{84967832-09FF-4EAF-A003-96FBA5CA02A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849551"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0273987-AB2B-4DE2-96E3-A862322D9106}"/>
              </a:ext>
            </a:extLst>
          </p:cNvPr>
          <p:cNvSpPr txBox="1"/>
          <p:nvPr/>
        </p:nvSpPr>
        <p:spPr>
          <a:xfrm>
            <a:off x="636814" y="1363436"/>
            <a:ext cx="184731" cy="369332"/>
          </a:xfrm>
          <a:prstGeom prst="rect">
            <a:avLst/>
          </a:prstGeom>
          <a:noFill/>
        </p:spPr>
        <p:txBody>
          <a:bodyPr wrap="none" rtlCol="0">
            <a:spAutoFit/>
          </a:bodyPr>
          <a:lstStyle/>
          <a:p>
            <a:endParaRPr lang="ru-RU" dirty="0"/>
          </a:p>
        </p:txBody>
      </p:sp>
      <p:sp>
        <p:nvSpPr>
          <p:cNvPr id="6" name="TextBox 5">
            <a:extLst>
              <a:ext uri="{FF2B5EF4-FFF2-40B4-BE49-F238E27FC236}">
                <a16:creationId xmlns:a16="http://schemas.microsoft.com/office/drawing/2014/main" id="{898270BC-D4F4-48CF-A0FA-5FD82293B7E8}"/>
              </a:ext>
            </a:extLst>
          </p:cNvPr>
          <p:cNvSpPr txBox="1"/>
          <p:nvPr/>
        </p:nvSpPr>
        <p:spPr>
          <a:xfrm>
            <a:off x="486508" y="803580"/>
            <a:ext cx="11506200" cy="1107996"/>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Выполнить эти требования или обеспечить разработку больших и сложных систем немыслимо без использования средств автоматизации проектирования CASE (Computer </a:t>
            </a:r>
            <a:r>
              <a:rPr lang="ru-RU" sz="2200" b="0" i="0" dirty="0" err="1">
                <a:effectLst/>
                <a:latin typeface="Times New Roman" panose="02020603050405020304" pitchFamily="18" charset="0"/>
                <a:cs typeface="Times New Roman" panose="02020603050405020304" pitchFamily="18" charset="0"/>
              </a:rPr>
              <a:t>Aided</a:t>
            </a:r>
            <a:r>
              <a:rPr lang="ru-RU" sz="2200" b="0" i="0" dirty="0">
                <a:effectLst/>
                <a:latin typeface="Times New Roman" panose="02020603050405020304" pitchFamily="18" charset="0"/>
                <a:cs typeface="Times New Roman" panose="02020603050405020304" pitchFamily="18" charset="0"/>
              </a:rPr>
              <a:t> Software Engineering).</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340632F-9258-48CA-A413-D63C40874D46}"/>
              </a:ext>
            </a:extLst>
          </p:cNvPr>
          <p:cNvSpPr txBox="1"/>
          <p:nvPr/>
        </p:nvSpPr>
        <p:spPr>
          <a:xfrm>
            <a:off x="486508" y="2111631"/>
            <a:ext cx="4843314" cy="707886"/>
          </a:xfrm>
          <a:prstGeom prst="rect">
            <a:avLst/>
          </a:prstGeom>
          <a:noFill/>
        </p:spPr>
        <p:txBody>
          <a:bodyPr wrap="none" rtlCol="0">
            <a:spAutoFit/>
          </a:bodyPr>
          <a:lstStyle/>
          <a:p>
            <a:r>
              <a:rPr lang="af-ZA" sz="2200" b="1" dirty="0">
                <a:effectLst/>
                <a:latin typeface="Times New Roman" panose="02020603050405020304" pitchFamily="18" charset="0"/>
                <a:cs typeface="Times New Roman" panose="02020603050405020304" pitchFamily="18" charset="0"/>
              </a:rPr>
              <a:t>CASE-</a:t>
            </a:r>
            <a:r>
              <a:rPr lang="ru-RU" sz="2200" b="1" dirty="0">
                <a:effectLst/>
                <a:latin typeface="Times New Roman" panose="02020603050405020304" pitchFamily="18" charset="0"/>
                <a:cs typeface="Times New Roman" panose="02020603050405020304" pitchFamily="18" charset="0"/>
              </a:rPr>
              <a:t>модель жизненного цикла ИС</a:t>
            </a:r>
          </a:p>
          <a:p>
            <a:endParaRPr lang="ru-RU"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AC69E29-E190-4D96-80DB-271FC2CDA015}"/>
              </a:ext>
            </a:extLst>
          </p:cNvPr>
          <p:cNvSpPr txBox="1"/>
          <p:nvPr/>
        </p:nvSpPr>
        <p:spPr>
          <a:xfrm>
            <a:off x="486508" y="2465574"/>
            <a:ext cx="11506200" cy="1107996"/>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CASE-технологии</a:t>
            </a:r>
            <a:r>
              <a:rPr lang="ru-RU" sz="2200" b="0" i="0" dirty="0">
                <a:effectLst/>
                <a:latin typeface="Times New Roman" panose="02020603050405020304" pitchFamily="18" charset="0"/>
                <a:cs typeface="Times New Roman" panose="02020603050405020304" pitchFamily="18" charset="0"/>
              </a:rPr>
              <a:t> предлагают новый, основанный на автоматизации подход к концепции ЖЦ ПО. При использовании CASE изменяются все фазы ЖЦ, при этом наибольшие изменения касаются фаз анализа и проектирования.</a:t>
            </a:r>
            <a:endParaRPr lang="ru-RU" sz="2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8535173-D845-451E-BE20-F6CF484F9C21}"/>
              </a:ext>
            </a:extLst>
          </p:cNvPr>
          <p:cNvSpPr txBox="1"/>
          <p:nvPr/>
        </p:nvSpPr>
        <p:spPr>
          <a:xfrm>
            <a:off x="543658" y="3883322"/>
            <a:ext cx="11104684" cy="1785104"/>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На рисунке 1 приводится простейшая модель ЖЦ (А) и соответствующая CASE-модель (Б), в которой фаза прототипирования заменяет традиционную фазу системного анализа. Необходимо отметить, что наиболее автоматизируемыми фазами являются фазы контроля проекта и </a:t>
            </a:r>
            <a:r>
              <a:rPr lang="ru-RU" sz="2200" b="0" i="0" dirty="0" err="1">
                <a:effectLst/>
                <a:latin typeface="Times New Roman" panose="02020603050405020304" pitchFamily="18" charset="0"/>
                <a:cs typeface="Times New Roman" panose="02020603050405020304" pitchFamily="18" charset="0"/>
              </a:rPr>
              <a:t>кодогенерации</a:t>
            </a:r>
            <a:r>
              <a:rPr lang="ru-RU" sz="2200" b="0" i="0" dirty="0">
                <a:effectLst/>
                <a:latin typeface="Times New Roman" panose="02020603050405020304" pitchFamily="18" charset="0"/>
                <a:cs typeface="Times New Roman" panose="02020603050405020304" pitchFamily="18" charset="0"/>
              </a:rPr>
              <a:t> (хотя все остальные фазы также поддерживаются CASE-средствами).</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404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DED44C-6632-47AF-82E3-EEF548343365}"/>
              </a:ext>
            </a:extLst>
          </p:cNvPr>
          <p:cNvSpPr>
            <a:spLocks noGrp="1"/>
          </p:cNvSpPr>
          <p:nvPr>
            <p:ph type="title"/>
          </p:nvPr>
        </p:nvSpPr>
        <p:spPr>
          <a:xfrm>
            <a:off x="501770" y="-6619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4" name="Picture 2" descr="Picture background">
            <a:extLst>
              <a:ext uri="{FF2B5EF4-FFF2-40B4-BE49-F238E27FC236}">
                <a16:creationId xmlns:a16="http://schemas.microsoft.com/office/drawing/2014/main" id="{E772CA67-97F4-472D-8B44-5EA441AD617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714538"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a:extLst>
              <a:ext uri="{FF2B5EF4-FFF2-40B4-BE49-F238E27FC236}">
                <a16:creationId xmlns:a16="http://schemas.microsoft.com/office/drawing/2014/main" id="{BB79E671-974A-4853-9A68-332221B1801B}"/>
              </a:ext>
            </a:extLst>
          </p:cNvPr>
          <p:cNvPicPr>
            <a:picLocks noChangeAspect="1"/>
          </p:cNvPicPr>
          <p:nvPr/>
        </p:nvPicPr>
        <p:blipFill>
          <a:blip r:embed="rId4"/>
          <a:stretch>
            <a:fillRect/>
          </a:stretch>
        </p:blipFill>
        <p:spPr>
          <a:xfrm>
            <a:off x="1081453" y="1124446"/>
            <a:ext cx="5989175" cy="4837708"/>
          </a:xfrm>
          <a:prstGeom prst="rect">
            <a:avLst/>
          </a:prstGeom>
        </p:spPr>
      </p:pic>
      <p:sp>
        <p:nvSpPr>
          <p:cNvPr id="7" name="TextBox 6">
            <a:extLst>
              <a:ext uri="{FF2B5EF4-FFF2-40B4-BE49-F238E27FC236}">
                <a16:creationId xmlns:a16="http://schemas.microsoft.com/office/drawing/2014/main" id="{37ACF4E6-C87D-4FC8-879B-5FCD2B338872}"/>
              </a:ext>
            </a:extLst>
          </p:cNvPr>
          <p:cNvSpPr txBox="1"/>
          <p:nvPr/>
        </p:nvSpPr>
        <p:spPr>
          <a:xfrm>
            <a:off x="2022231" y="6110655"/>
            <a:ext cx="6295291" cy="430887"/>
          </a:xfrm>
          <a:prstGeom prst="rect">
            <a:avLst/>
          </a:prstGeom>
          <a:noFill/>
        </p:spPr>
        <p:txBody>
          <a:bodyPr wrap="square" rtlCol="0">
            <a:spAutoFit/>
          </a:bodyPr>
          <a:lstStyle/>
          <a:p>
            <a:r>
              <a:rPr lang="ru-RU" sz="2200" dirty="0">
                <a:latin typeface="Times New Roman" panose="02020603050405020304" pitchFamily="18" charset="0"/>
                <a:cs typeface="Times New Roman" panose="02020603050405020304" pitchFamily="18" charset="0"/>
              </a:rPr>
              <a:t>Рисунок 1 – модели жизненного цикла ПО</a:t>
            </a:r>
          </a:p>
        </p:txBody>
      </p:sp>
    </p:spTree>
    <p:extLst>
      <p:ext uri="{BB962C8B-B14F-4D97-AF65-F5344CB8AC3E}">
        <p14:creationId xmlns:p14="http://schemas.microsoft.com/office/powerpoint/2010/main" val="3156819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40ECDA70-A946-4439-8979-C14625C36D84}"/>
              </a:ext>
            </a:extLst>
          </p:cNvPr>
          <p:cNvSpPr>
            <a:spLocks noGrp="1"/>
          </p:cNvSpPr>
          <p:nvPr>
            <p:ph type="title"/>
          </p:nvPr>
        </p:nvSpPr>
        <p:spPr>
          <a:xfrm>
            <a:off x="501770" y="-6619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B40463F5-0DF4-4D96-9C6A-623D5F6B50C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714538" y="-1805683"/>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D33A0A1-6A74-49DD-BDF0-331E09F3B7F7}"/>
              </a:ext>
            </a:extLst>
          </p:cNvPr>
          <p:cNvSpPr txBox="1"/>
          <p:nvPr/>
        </p:nvSpPr>
        <p:spPr>
          <a:xfrm>
            <a:off x="585545" y="896037"/>
            <a:ext cx="10149862" cy="2123658"/>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В таблице 1 приведены оценки трудозатрат по фазам ЖЦ. Первая строка таблицы соответствует традиционной разработке, вторая — разработке с использованием структурных методологий проектирования, третья — разработке с использованием CASE-технологий.</a:t>
            </a:r>
          </a:p>
          <a:p>
            <a:r>
              <a:rPr lang="ru-RU" sz="2200" b="0" i="0" dirty="0">
                <a:effectLst/>
                <a:latin typeface="Times New Roman" panose="02020603050405020304" pitchFamily="18" charset="0"/>
                <a:cs typeface="Times New Roman" panose="02020603050405020304" pitchFamily="18" charset="0"/>
              </a:rPr>
              <a:t>В таблицу 2 сведены основные изменения в ЖЦ при использовании CASE-технологий по сравнению с традиционной разработкой.</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2633627-765D-48D6-A49B-44090746638E}"/>
              </a:ext>
            </a:extLst>
          </p:cNvPr>
          <p:cNvSpPr txBox="1"/>
          <p:nvPr/>
        </p:nvSpPr>
        <p:spPr>
          <a:xfrm>
            <a:off x="3150788" y="3044799"/>
            <a:ext cx="4563750"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Оценки трудозатрат по фазам ЖЦ</a:t>
            </a:r>
            <a:endParaRPr lang="ru-RU" sz="2200" dirty="0">
              <a:latin typeface="Times New Roman" panose="02020603050405020304" pitchFamily="18" charset="0"/>
              <a:cs typeface="Times New Roman" panose="02020603050405020304" pitchFamily="18" charset="0"/>
            </a:endParaRPr>
          </a:p>
        </p:txBody>
      </p:sp>
      <p:graphicFrame>
        <p:nvGraphicFramePr>
          <p:cNvPr id="8" name="Таблица 7">
            <a:extLst>
              <a:ext uri="{FF2B5EF4-FFF2-40B4-BE49-F238E27FC236}">
                <a16:creationId xmlns:a16="http://schemas.microsoft.com/office/drawing/2014/main" id="{88C4A799-39C6-42D2-848C-07B66D0D19AE}"/>
              </a:ext>
            </a:extLst>
          </p:cNvPr>
          <p:cNvGraphicFramePr>
            <a:graphicFrameLocks noGrp="1"/>
          </p:cNvGraphicFramePr>
          <p:nvPr>
            <p:extLst>
              <p:ext uri="{D42A27DB-BD31-4B8C-83A1-F6EECF244321}">
                <p14:modId xmlns:p14="http://schemas.microsoft.com/office/powerpoint/2010/main" val="3731128783"/>
              </p:ext>
            </p:extLst>
          </p:nvPr>
        </p:nvGraphicFramePr>
        <p:xfrm>
          <a:off x="908537" y="3412867"/>
          <a:ext cx="11057794" cy="3352800"/>
        </p:xfrm>
        <a:graphic>
          <a:graphicData uri="http://schemas.openxmlformats.org/drawingml/2006/table">
            <a:tbl>
              <a:tblPr>
                <a:tableStyleId>{073A0DAA-6AF3-43AB-8588-CEC1D06C72B9}</a:tableStyleId>
              </a:tblPr>
              <a:tblGrid>
                <a:gridCol w="2006626">
                  <a:extLst>
                    <a:ext uri="{9D8B030D-6E8A-4147-A177-3AD203B41FA5}">
                      <a16:colId xmlns:a16="http://schemas.microsoft.com/office/drawing/2014/main" val="1163465017"/>
                    </a:ext>
                  </a:extLst>
                </a:gridCol>
                <a:gridCol w="2262792">
                  <a:extLst>
                    <a:ext uri="{9D8B030D-6E8A-4147-A177-3AD203B41FA5}">
                      <a16:colId xmlns:a16="http://schemas.microsoft.com/office/drawing/2014/main" val="3310230680"/>
                    </a:ext>
                  </a:extLst>
                </a:gridCol>
                <a:gridCol w="2262792">
                  <a:extLst>
                    <a:ext uri="{9D8B030D-6E8A-4147-A177-3AD203B41FA5}">
                      <a16:colId xmlns:a16="http://schemas.microsoft.com/office/drawing/2014/main" val="1453756762"/>
                    </a:ext>
                  </a:extLst>
                </a:gridCol>
                <a:gridCol w="2262792">
                  <a:extLst>
                    <a:ext uri="{9D8B030D-6E8A-4147-A177-3AD203B41FA5}">
                      <a16:colId xmlns:a16="http://schemas.microsoft.com/office/drawing/2014/main" val="3755319390"/>
                    </a:ext>
                  </a:extLst>
                </a:gridCol>
                <a:gridCol w="2262792">
                  <a:extLst>
                    <a:ext uri="{9D8B030D-6E8A-4147-A177-3AD203B41FA5}">
                      <a16:colId xmlns:a16="http://schemas.microsoft.com/office/drawing/2014/main" val="1372139305"/>
                    </a:ext>
                  </a:extLst>
                </a:gridCol>
              </a:tblGrid>
              <a:tr h="0">
                <a:tc>
                  <a:txBody>
                    <a:bodyPr/>
                    <a:lstStyle/>
                    <a:p>
                      <a:pPr algn="l"/>
                      <a:r>
                        <a:rPr lang="ru-RU" b="0" dirty="0">
                          <a:effectLst/>
                          <a:latin typeface="Times New Roman" panose="02020603050405020304" pitchFamily="18" charset="0"/>
                          <a:cs typeface="Times New Roman" panose="02020603050405020304" pitchFamily="18" charset="0"/>
                        </a:rPr>
                        <a:t>Способ разработки</a:t>
                      </a:r>
                    </a:p>
                  </a:txBody>
                  <a:tcPr marR="121920" marT="76200" marB="76200" anchor="ctr"/>
                </a:tc>
                <a:tc>
                  <a:txBody>
                    <a:bodyPr/>
                    <a:lstStyle/>
                    <a:p>
                      <a:pPr algn="l"/>
                      <a:r>
                        <a:rPr lang="ru-RU" b="0" dirty="0">
                          <a:effectLst/>
                          <a:latin typeface="Times New Roman" panose="02020603050405020304" pitchFamily="18" charset="0"/>
                          <a:cs typeface="Times New Roman" panose="02020603050405020304" pitchFamily="18" charset="0"/>
                        </a:rPr>
                        <a:t>Анализ</a:t>
                      </a:r>
                    </a:p>
                  </a:txBody>
                  <a:tcPr marL="121920" marR="121920" marT="76200" marB="76200" anchor="ctr"/>
                </a:tc>
                <a:tc>
                  <a:txBody>
                    <a:bodyPr/>
                    <a:lstStyle/>
                    <a:p>
                      <a:pPr algn="l"/>
                      <a:r>
                        <a:rPr lang="ru-RU" b="0">
                          <a:effectLst/>
                          <a:latin typeface="Times New Roman" panose="02020603050405020304" pitchFamily="18" charset="0"/>
                          <a:cs typeface="Times New Roman" panose="02020603050405020304" pitchFamily="18" charset="0"/>
                        </a:rPr>
                        <a:t>Проектирование</a:t>
                      </a:r>
                    </a:p>
                  </a:txBody>
                  <a:tcPr marL="121920" marR="121920" marT="76200" marB="76200" anchor="ctr"/>
                </a:tc>
                <a:tc>
                  <a:txBody>
                    <a:bodyPr/>
                    <a:lstStyle/>
                    <a:p>
                      <a:pPr algn="l"/>
                      <a:r>
                        <a:rPr lang="ru-RU" b="0">
                          <a:effectLst/>
                          <a:latin typeface="Times New Roman" panose="02020603050405020304" pitchFamily="18" charset="0"/>
                          <a:cs typeface="Times New Roman" panose="02020603050405020304" pitchFamily="18" charset="0"/>
                        </a:rPr>
                        <a:t>Кодирование</a:t>
                      </a:r>
                    </a:p>
                  </a:txBody>
                  <a:tcPr marL="121920" marR="121920" marT="76200" marB="76200" anchor="ctr"/>
                </a:tc>
                <a:tc>
                  <a:txBody>
                    <a:bodyPr/>
                    <a:lstStyle/>
                    <a:p>
                      <a:pPr algn="l"/>
                      <a:r>
                        <a:rPr lang="ru-RU" b="0">
                          <a:effectLst/>
                          <a:latin typeface="Times New Roman" panose="02020603050405020304" pitchFamily="18" charset="0"/>
                          <a:cs typeface="Times New Roman" panose="02020603050405020304" pitchFamily="18" charset="0"/>
                        </a:rPr>
                        <a:t>Тестирование</a:t>
                      </a:r>
                    </a:p>
                  </a:txBody>
                  <a:tcPr marL="121920" marR="121920" marT="76200" marB="76200" anchor="ctr"/>
                </a:tc>
                <a:extLst>
                  <a:ext uri="{0D108BD9-81ED-4DB2-BD59-A6C34878D82A}">
                    <a16:rowId xmlns:a16="http://schemas.microsoft.com/office/drawing/2014/main" val="4108413397"/>
                  </a:ext>
                </a:extLst>
              </a:tr>
              <a:tr h="0">
                <a:tc>
                  <a:txBody>
                    <a:bodyPr/>
                    <a:lstStyle/>
                    <a:p>
                      <a:r>
                        <a:rPr lang="ru-RU" b="0" dirty="0">
                          <a:effectLst/>
                          <a:latin typeface="Times New Roman" panose="02020603050405020304" pitchFamily="18" charset="0"/>
                          <a:cs typeface="Times New Roman" panose="02020603050405020304" pitchFamily="18" charset="0"/>
                        </a:rPr>
                        <a:t>Традиционная разработка</a:t>
                      </a:r>
                    </a:p>
                  </a:txBody>
                  <a:tcPr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20%</a:t>
                      </a:r>
                    </a:p>
                  </a:txBody>
                  <a:tcPr marL="121920"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15%</a:t>
                      </a:r>
                    </a:p>
                  </a:txBody>
                  <a:tcPr marL="121920"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20%</a:t>
                      </a:r>
                    </a:p>
                  </a:txBody>
                  <a:tcPr marL="121920" marR="121920" marT="76200" marB="76200" anchor="ctr"/>
                </a:tc>
                <a:tc>
                  <a:txBody>
                    <a:bodyPr/>
                    <a:lstStyle/>
                    <a:p>
                      <a:r>
                        <a:rPr lang="ru-RU" b="0">
                          <a:effectLst/>
                          <a:latin typeface="Times New Roman" panose="02020603050405020304" pitchFamily="18" charset="0"/>
                          <a:cs typeface="Times New Roman" panose="02020603050405020304" pitchFamily="18" charset="0"/>
                        </a:rPr>
                        <a:t>45%</a:t>
                      </a:r>
                    </a:p>
                  </a:txBody>
                  <a:tcPr marL="121920" marT="76200" marB="76200" anchor="ctr"/>
                </a:tc>
                <a:extLst>
                  <a:ext uri="{0D108BD9-81ED-4DB2-BD59-A6C34878D82A}">
                    <a16:rowId xmlns:a16="http://schemas.microsoft.com/office/drawing/2014/main" val="1862183419"/>
                  </a:ext>
                </a:extLst>
              </a:tr>
              <a:tr h="0">
                <a:tc>
                  <a:txBody>
                    <a:bodyPr/>
                    <a:lstStyle/>
                    <a:p>
                      <a:r>
                        <a:rPr lang="ru-RU" b="0">
                          <a:effectLst/>
                          <a:latin typeface="Times New Roman" panose="02020603050405020304" pitchFamily="18" charset="0"/>
                          <a:cs typeface="Times New Roman" panose="02020603050405020304" pitchFamily="18" charset="0"/>
                        </a:rPr>
                        <a:t>Использование структурных методологий проектирования</a:t>
                      </a:r>
                    </a:p>
                  </a:txBody>
                  <a:tcPr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30%</a:t>
                      </a:r>
                    </a:p>
                  </a:txBody>
                  <a:tcPr marL="121920"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30%</a:t>
                      </a:r>
                    </a:p>
                  </a:txBody>
                  <a:tcPr marL="121920"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15%</a:t>
                      </a:r>
                    </a:p>
                  </a:txBody>
                  <a:tcPr marL="121920"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25%</a:t>
                      </a:r>
                    </a:p>
                  </a:txBody>
                  <a:tcPr marL="121920" marT="76200" marB="76200" anchor="ctr"/>
                </a:tc>
                <a:extLst>
                  <a:ext uri="{0D108BD9-81ED-4DB2-BD59-A6C34878D82A}">
                    <a16:rowId xmlns:a16="http://schemas.microsoft.com/office/drawing/2014/main" val="2486326332"/>
                  </a:ext>
                </a:extLst>
              </a:tr>
              <a:tr h="0">
                <a:tc>
                  <a:txBody>
                    <a:bodyPr/>
                    <a:lstStyle/>
                    <a:p>
                      <a:r>
                        <a:rPr lang="ru-RU" b="0">
                          <a:effectLst/>
                          <a:latin typeface="Times New Roman" panose="02020603050405020304" pitchFamily="18" charset="0"/>
                          <a:cs typeface="Times New Roman" panose="02020603050405020304" pitchFamily="18" charset="0"/>
                        </a:rPr>
                        <a:t>Использование </a:t>
                      </a:r>
                      <a:r>
                        <a:rPr lang="af-ZA" b="0">
                          <a:effectLst/>
                          <a:latin typeface="Times New Roman" panose="02020603050405020304" pitchFamily="18" charset="0"/>
                          <a:cs typeface="Times New Roman" panose="02020603050405020304" pitchFamily="18" charset="0"/>
                        </a:rPr>
                        <a:t>CASE-</a:t>
                      </a:r>
                      <a:r>
                        <a:rPr lang="ru-RU" b="0">
                          <a:effectLst/>
                          <a:latin typeface="Times New Roman" panose="02020603050405020304" pitchFamily="18" charset="0"/>
                          <a:cs typeface="Times New Roman" panose="02020603050405020304" pitchFamily="18" charset="0"/>
                        </a:rPr>
                        <a:t>технологий</a:t>
                      </a:r>
                    </a:p>
                  </a:txBody>
                  <a:tcPr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40%</a:t>
                      </a:r>
                    </a:p>
                  </a:txBody>
                  <a:tcPr marL="121920" marR="121920" marT="76200" marB="76200" anchor="ctr"/>
                </a:tc>
                <a:tc>
                  <a:txBody>
                    <a:bodyPr/>
                    <a:lstStyle/>
                    <a:p>
                      <a:r>
                        <a:rPr lang="ru-RU" b="0">
                          <a:effectLst/>
                          <a:latin typeface="Times New Roman" panose="02020603050405020304" pitchFamily="18" charset="0"/>
                          <a:cs typeface="Times New Roman" panose="02020603050405020304" pitchFamily="18" charset="0"/>
                        </a:rPr>
                        <a:t>40%</a:t>
                      </a:r>
                    </a:p>
                  </a:txBody>
                  <a:tcPr marL="121920"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5%</a:t>
                      </a:r>
                    </a:p>
                  </a:txBody>
                  <a:tcPr marL="121920" marR="121920" marT="76200" marB="76200" anchor="ctr"/>
                </a:tc>
                <a:tc>
                  <a:txBody>
                    <a:bodyPr/>
                    <a:lstStyle/>
                    <a:p>
                      <a:r>
                        <a:rPr lang="ru-RU" b="0" dirty="0">
                          <a:effectLst/>
                          <a:latin typeface="Times New Roman" panose="02020603050405020304" pitchFamily="18" charset="0"/>
                          <a:cs typeface="Times New Roman" panose="02020603050405020304" pitchFamily="18" charset="0"/>
                        </a:rPr>
                        <a:t>15%</a:t>
                      </a:r>
                    </a:p>
                  </a:txBody>
                  <a:tcPr marL="121920" marT="76200" marB="76200" anchor="ctr"/>
                </a:tc>
                <a:extLst>
                  <a:ext uri="{0D108BD9-81ED-4DB2-BD59-A6C34878D82A}">
                    <a16:rowId xmlns:a16="http://schemas.microsoft.com/office/drawing/2014/main" val="2948952928"/>
                  </a:ext>
                </a:extLst>
              </a:tr>
            </a:tbl>
          </a:graphicData>
        </a:graphic>
      </p:graphicFrame>
      <p:sp>
        <p:nvSpPr>
          <p:cNvPr id="9" name="TextBox 8">
            <a:extLst>
              <a:ext uri="{FF2B5EF4-FFF2-40B4-BE49-F238E27FC236}">
                <a16:creationId xmlns:a16="http://schemas.microsoft.com/office/drawing/2014/main" id="{BCB83F48-4B01-474F-BC66-7C0303978FA9}"/>
              </a:ext>
            </a:extLst>
          </p:cNvPr>
          <p:cNvSpPr txBox="1"/>
          <p:nvPr/>
        </p:nvSpPr>
        <p:spPr>
          <a:xfrm>
            <a:off x="10305193" y="2924525"/>
            <a:ext cx="6295291" cy="430887"/>
          </a:xfrm>
          <a:prstGeom prst="rect">
            <a:avLst/>
          </a:prstGeom>
          <a:noFill/>
        </p:spPr>
        <p:txBody>
          <a:bodyPr wrap="square" rtlCol="0">
            <a:spAutoFit/>
          </a:bodyPr>
          <a:lstStyle/>
          <a:p>
            <a:r>
              <a:rPr lang="ru-RU" sz="2200" dirty="0">
                <a:latin typeface="Times New Roman" panose="02020603050405020304" pitchFamily="18" charset="0"/>
                <a:cs typeface="Times New Roman" panose="02020603050405020304" pitchFamily="18" charset="0"/>
              </a:rPr>
              <a:t>Таблица 1</a:t>
            </a:r>
          </a:p>
        </p:txBody>
      </p:sp>
    </p:spTree>
    <p:extLst>
      <p:ext uri="{BB962C8B-B14F-4D97-AF65-F5344CB8AC3E}">
        <p14:creationId xmlns:p14="http://schemas.microsoft.com/office/powerpoint/2010/main" val="525703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A34B7000-8C1C-44A9-AD70-0275C7A4945C}"/>
              </a:ext>
            </a:extLst>
          </p:cNvPr>
          <p:cNvSpPr>
            <a:spLocks noGrp="1"/>
          </p:cNvSpPr>
          <p:nvPr>
            <p:ph type="title"/>
          </p:nvPr>
        </p:nvSpPr>
        <p:spPr>
          <a:xfrm>
            <a:off x="484517" y="18255"/>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301E184F-35FC-4EF8-9678-7938D366130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714538" y="-1851927"/>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4DC8863-5E73-4FE8-8A3F-1C86CEF320A7}"/>
              </a:ext>
            </a:extLst>
          </p:cNvPr>
          <p:cNvSpPr txBox="1"/>
          <p:nvPr/>
        </p:nvSpPr>
        <p:spPr>
          <a:xfrm>
            <a:off x="539261" y="959097"/>
            <a:ext cx="11113477" cy="769441"/>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Сравнение трудоемкости этапов жизненного цикла традиционной технологии и CASE-технологи</a:t>
            </a:r>
            <a:endParaRPr lang="ru-RU" sz="2200" dirty="0">
              <a:latin typeface="Times New Roman" panose="02020603050405020304" pitchFamily="18" charset="0"/>
              <a:cs typeface="Times New Roman" panose="02020603050405020304" pitchFamily="18" charset="0"/>
            </a:endParaRPr>
          </a:p>
        </p:txBody>
      </p:sp>
      <p:graphicFrame>
        <p:nvGraphicFramePr>
          <p:cNvPr id="7" name="Таблица 6">
            <a:extLst>
              <a:ext uri="{FF2B5EF4-FFF2-40B4-BE49-F238E27FC236}">
                <a16:creationId xmlns:a16="http://schemas.microsoft.com/office/drawing/2014/main" id="{2D1FA389-CE95-49AB-82AC-BF63AF73996A}"/>
              </a:ext>
            </a:extLst>
          </p:cNvPr>
          <p:cNvGraphicFramePr>
            <a:graphicFrameLocks noGrp="1"/>
          </p:cNvGraphicFramePr>
          <p:nvPr>
            <p:extLst>
              <p:ext uri="{D42A27DB-BD31-4B8C-83A1-F6EECF244321}">
                <p14:modId xmlns:p14="http://schemas.microsoft.com/office/powerpoint/2010/main" val="1081914287"/>
              </p:ext>
            </p:extLst>
          </p:nvPr>
        </p:nvGraphicFramePr>
        <p:xfrm>
          <a:off x="501162" y="1850427"/>
          <a:ext cx="9252439" cy="4351335"/>
        </p:xfrm>
        <a:graphic>
          <a:graphicData uri="http://schemas.openxmlformats.org/drawingml/2006/table">
            <a:tbl>
              <a:tblPr>
                <a:tableStyleId>{F5AB1C69-6EDB-4FF4-983F-18BD219EF322}</a:tableStyleId>
              </a:tblPr>
              <a:tblGrid>
                <a:gridCol w="4645269">
                  <a:extLst>
                    <a:ext uri="{9D8B030D-6E8A-4147-A177-3AD203B41FA5}">
                      <a16:colId xmlns:a16="http://schemas.microsoft.com/office/drawing/2014/main" val="3777816843"/>
                    </a:ext>
                  </a:extLst>
                </a:gridCol>
                <a:gridCol w="4607170">
                  <a:extLst>
                    <a:ext uri="{9D8B030D-6E8A-4147-A177-3AD203B41FA5}">
                      <a16:colId xmlns:a16="http://schemas.microsoft.com/office/drawing/2014/main" val="3199514271"/>
                    </a:ext>
                  </a:extLst>
                </a:gridCol>
              </a:tblGrid>
              <a:tr h="358345">
                <a:tc>
                  <a:txBody>
                    <a:bodyPr/>
                    <a:lstStyle/>
                    <a:p>
                      <a:pPr algn="l"/>
                      <a:r>
                        <a:rPr lang="ru-RU" sz="1500" b="1" dirty="0">
                          <a:effectLst/>
                          <a:latin typeface="Times New Roman" panose="02020603050405020304" pitchFamily="18" charset="0"/>
                          <a:cs typeface="Times New Roman" panose="02020603050405020304" pitchFamily="18" charset="0"/>
                        </a:rPr>
                        <a:t>Традиционная разработка</a:t>
                      </a:r>
                    </a:p>
                  </a:txBody>
                  <a:tcPr marL="76788" marR="102384" marT="63990" marB="63990" anchor="ctr">
                    <a:solidFill>
                      <a:schemeClr val="bg2">
                        <a:lumMod val="90000"/>
                      </a:schemeClr>
                    </a:solidFill>
                  </a:tcPr>
                </a:tc>
                <a:tc>
                  <a:txBody>
                    <a:bodyPr/>
                    <a:lstStyle/>
                    <a:p>
                      <a:pPr algn="l"/>
                      <a:r>
                        <a:rPr lang="af-ZA" sz="1500" b="1" dirty="0">
                          <a:effectLst/>
                          <a:latin typeface="Times New Roman" panose="02020603050405020304" pitchFamily="18" charset="0"/>
                          <a:cs typeface="Times New Roman" panose="02020603050405020304" pitchFamily="18" charset="0"/>
                        </a:rPr>
                        <a:t>CASE</a:t>
                      </a:r>
                    </a:p>
                  </a:txBody>
                  <a:tcPr marL="102384" marR="102384" marT="63990" marB="63990" anchor="ctr">
                    <a:solidFill>
                      <a:schemeClr val="bg2">
                        <a:lumMod val="90000"/>
                      </a:schemeClr>
                    </a:solidFill>
                  </a:tcPr>
                </a:tc>
                <a:extLst>
                  <a:ext uri="{0D108BD9-81ED-4DB2-BD59-A6C34878D82A}">
                    <a16:rowId xmlns:a16="http://schemas.microsoft.com/office/drawing/2014/main" val="1265026074"/>
                  </a:ext>
                </a:extLst>
              </a:tr>
              <a:tr h="819075">
                <a:tc>
                  <a:txBody>
                    <a:bodyPr/>
                    <a:lstStyle/>
                    <a:p>
                      <a:r>
                        <a:rPr lang="ru-RU" sz="1500" b="0" dirty="0">
                          <a:effectLst/>
                          <a:latin typeface="Times New Roman" panose="02020603050405020304" pitchFamily="18" charset="0"/>
                          <a:cs typeface="Times New Roman" panose="02020603050405020304" pitchFamily="18" charset="0"/>
                        </a:rPr>
                        <a:t>Основные усилия — на кодирование и тестирование</a:t>
                      </a:r>
                    </a:p>
                  </a:txBody>
                  <a:tcPr marL="76788" marR="102384" marT="63990" marB="63990" anchor="ctr">
                    <a:solidFill>
                      <a:schemeClr val="bg2">
                        <a:lumMod val="90000"/>
                      </a:schemeClr>
                    </a:solidFill>
                  </a:tcPr>
                </a:tc>
                <a:tc>
                  <a:txBody>
                    <a:bodyPr/>
                    <a:lstStyle/>
                    <a:p>
                      <a:r>
                        <a:rPr lang="ru-RU" sz="1500" b="0">
                          <a:effectLst/>
                          <a:latin typeface="Times New Roman" panose="02020603050405020304" pitchFamily="18" charset="0"/>
                          <a:cs typeface="Times New Roman" panose="02020603050405020304" pitchFamily="18" charset="0"/>
                        </a:rPr>
                        <a:t>Основные усилия — на анализ и проектирование</a:t>
                      </a:r>
                    </a:p>
                  </a:txBody>
                  <a:tcPr marL="102384" marR="76788" marT="63990" marB="63990" anchor="ctr">
                    <a:solidFill>
                      <a:schemeClr val="bg2">
                        <a:lumMod val="90000"/>
                      </a:schemeClr>
                    </a:solidFill>
                  </a:tcPr>
                </a:tc>
                <a:extLst>
                  <a:ext uri="{0D108BD9-81ED-4DB2-BD59-A6C34878D82A}">
                    <a16:rowId xmlns:a16="http://schemas.microsoft.com/office/drawing/2014/main" val="1842908931"/>
                  </a:ext>
                </a:extLst>
              </a:tr>
              <a:tr h="588710">
                <a:tc>
                  <a:txBody>
                    <a:bodyPr/>
                    <a:lstStyle/>
                    <a:p>
                      <a:r>
                        <a:rPr lang="ru-RU" sz="1500" b="0" dirty="0">
                          <a:effectLst/>
                          <a:latin typeface="Times New Roman" panose="02020603050405020304" pitchFamily="18" charset="0"/>
                          <a:cs typeface="Times New Roman" panose="02020603050405020304" pitchFamily="18" charset="0"/>
                        </a:rPr>
                        <a:t>«Бумажные» спецификации</a:t>
                      </a:r>
                    </a:p>
                  </a:txBody>
                  <a:tcPr marL="76788" marR="102384" marT="63990" marB="63990" anchor="ctr">
                    <a:solidFill>
                      <a:schemeClr val="bg2">
                        <a:lumMod val="90000"/>
                      </a:schemeClr>
                    </a:solidFill>
                  </a:tcPr>
                </a:tc>
                <a:tc>
                  <a:txBody>
                    <a:bodyPr/>
                    <a:lstStyle/>
                    <a:p>
                      <a:r>
                        <a:rPr lang="ru-RU" sz="1500" b="0" dirty="0">
                          <a:effectLst/>
                          <a:latin typeface="Times New Roman" panose="02020603050405020304" pitchFamily="18" charset="0"/>
                          <a:cs typeface="Times New Roman" panose="02020603050405020304" pitchFamily="18" charset="0"/>
                        </a:rPr>
                        <a:t>Быстрое итеративное прототипирование</a:t>
                      </a:r>
                    </a:p>
                  </a:txBody>
                  <a:tcPr marL="102384" marR="76788" marT="63990" marB="63990" anchor="ctr">
                    <a:solidFill>
                      <a:schemeClr val="bg2">
                        <a:lumMod val="90000"/>
                      </a:schemeClr>
                    </a:solidFill>
                  </a:tcPr>
                </a:tc>
                <a:extLst>
                  <a:ext uri="{0D108BD9-81ED-4DB2-BD59-A6C34878D82A}">
                    <a16:rowId xmlns:a16="http://schemas.microsoft.com/office/drawing/2014/main" val="292322807"/>
                  </a:ext>
                </a:extLst>
              </a:tr>
              <a:tr h="588710">
                <a:tc>
                  <a:txBody>
                    <a:bodyPr/>
                    <a:lstStyle/>
                    <a:p>
                      <a:r>
                        <a:rPr lang="ru-RU" sz="1500" b="0">
                          <a:effectLst/>
                          <a:latin typeface="Times New Roman" panose="02020603050405020304" pitchFamily="18" charset="0"/>
                          <a:cs typeface="Times New Roman" panose="02020603050405020304" pitchFamily="18" charset="0"/>
                        </a:rPr>
                        <a:t>Ручное кодирование</a:t>
                      </a:r>
                    </a:p>
                  </a:txBody>
                  <a:tcPr marL="76788" marR="102384" marT="63990" marB="63990" anchor="ctr">
                    <a:solidFill>
                      <a:schemeClr val="bg2">
                        <a:lumMod val="90000"/>
                      </a:schemeClr>
                    </a:solidFill>
                  </a:tcPr>
                </a:tc>
                <a:tc>
                  <a:txBody>
                    <a:bodyPr/>
                    <a:lstStyle/>
                    <a:p>
                      <a:r>
                        <a:rPr lang="ru-RU" sz="1500" b="0" dirty="0">
                          <a:effectLst/>
                          <a:latin typeface="Times New Roman" panose="02020603050405020304" pitchFamily="18" charset="0"/>
                          <a:cs typeface="Times New Roman" panose="02020603050405020304" pitchFamily="18" charset="0"/>
                        </a:rPr>
                        <a:t>Автоматическая </a:t>
                      </a:r>
                      <a:r>
                        <a:rPr lang="ru-RU" sz="1500" b="0" dirty="0" err="1">
                          <a:effectLst/>
                          <a:latin typeface="Times New Roman" panose="02020603050405020304" pitchFamily="18" charset="0"/>
                          <a:cs typeface="Times New Roman" panose="02020603050405020304" pitchFamily="18" charset="0"/>
                        </a:rPr>
                        <a:t>кодогенерация</a:t>
                      </a:r>
                      <a:endParaRPr lang="ru-RU" sz="1500" b="0" dirty="0">
                        <a:effectLst/>
                        <a:latin typeface="Times New Roman" panose="02020603050405020304" pitchFamily="18" charset="0"/>
                        <a:cs typeface="Times New Roman" panose="02020603050405020304" pitchFamily="18" charset="0"/>
                      </a:endParaRPr>
                    </a:p>
                  </a:txBody>
                  <a:tcPr marL="102384" marR="76788" marT="63990" marB="63990" anchor="ctr">
                    <a:solidFill>
                      <a:schemeClr val="bg2">
                        <a:lumMod val="90000"/>
                      </a:schemeClr>
                    </a:solidFill>
                  </a:tcPr>
                </a:tc>
                <a:extLst>
                  <a:ext uri="{0D108BD9-81ED-4DB2-BD59-A6C34878D82A}">
                    <a16:rowId xmlns:a16="http://schemas.microsoft.com/office/drawing/2014/main" val="196974956"/>
                  </a:ext>
                </a:extLst>
              </a:tr>
              <a:tr h="588710">
                <a:tc>
                  <a:txBody>
                    <a:bodyPr/>
                    <a:lstStyle/>
                    <a:p>
                      <a:r>
                        <a:rPr lang="ru-RU" sz="1500" b="0">
                          <a:effectLst/>
                          <a:latin typeface="Times New Roman" panose="02020603050405020304" pitchFamily="18" charset="0"/>
                          <a:cs typeface="Times New Roman" panose="02020603050405020304" pitchFamily="18" charset="0"/>
                        </a:rPr>
                        <a:t>Ручное документирование</a:t>
                      </a:r>
                    </a:p>
                  </a:txBody>
                  <a:tcPr marL="76788" marR="102384" marT="63990" marB="63990" anchor="ctr">
                    <a:solidFill>
                      <a:schemeClr val="bg2">
                        <a:lumMod val="90000"/>
                      </a:schemeClr>
                    </a:solidFill>
                  </a:tcPr>
                </a:tc>
                <a:tc>
                  <a:txBody>
                    <a:bodyPr/>
                    <a:lstStyle/>
                    <a:p>
                      <a:r>
                        <a:rPr lang="ru-RU" sz="1500" b="0" dirty="0">
                          <a:effectLst/>
                          <a:latin typeface="Times New Roman" panose="02020603050405020304" pitchFamily="18" charset="0"/>
                          <a:cs typeface="Times New Roman" panose="02020603050405020304" pitchFamily="18" charset="0"/>
                        </a:rPr>
                        <a:t>Автоматическая генерация документации</a:t>
                      </a:r>
                    </a:p>
                  </a:txBody>
                  <a:tcPr marL="102384" marR="76788" marT="63990" marB="63990" anchor="ctr">
                    <a:solidFill>
                      <a:schemeClr val="bg2">
                        <a:lumMod val="90000"/>
                      </a:schemeClr>
                    </a:solidFill>
                  </a:tcPr>
                </a:tc>
                <a:extLst>
                  <a:ext uri="{0D108BD9-81ED-4DB2-BD59-A6C34878D82A}">
                    <a16:rowId xmlns:a16="http://schemas.microsoft.com/office/drawing/2014/main" val="3284502489"/>
                  </a:ext>
                </a:extLst>
              </a:tr>
              <a:tr h="588710">
                <a:tc>
                  <a:txBody>
                    <a:bodyPr/>
                    <a:lstStyle/>
                    <a:p>
                      <a:r>
                        <a:rPr lang="ru-RU" sz="1500" b="0">
                          <a:effectLst/>
                          <a:latin typeface="Times New Roman" panose="02020603050405020304" pitchFamily="18" charset="0"/>
                          <a:cs typeface="Times New Roman" panose="02020603050405020304" pitchFamily="18" charset="0"/>
                        </a:rPr>
                        <a:t>Тестирование кодов</a:t>
                      </a:r>
                    </a:p>
                  </a:txBody>
                  <a:tcPr marL="76788" marR="102384" marT="63990" marB="63990" anchor="ctr">
                    <a:solidFill>
                      <a:schemeClr val="bg2">
                        <a:lumMod val="90000"/>
                      </a:schemeClr>
                    </a:solidFill>
                  </a:tcPr>
                </a:tc>
                <a:tc>
                  <a:txBody>
                    <a:bodyPr/>
                    <a:lstStyle/>
                    <a:p>
                      <a:r>
                        <a:rPr lang="ru-RU" sz="1500" b="0" dirty="0">
                          <a:effectLst/>
                          <a:latin typeface="Times New Roman" panose="02020603050405020304" pitchFamily="18" charset="0"/>
                          <a:cs typeface="Times New Roman" panose="02020603050405020304" pitchFamily="18" charset="0"/>
                        </a:rPr>
                        <a:t>Автоматический контроль проекта</a:t>
                      </a:r>
                    </a:p>
                  </a:txBody>
                  <a:tcPr marL="102384" marR="76788" marT="63990" marB="63990" anchor="ctr">
                    <a:solidFill>
                      <a:schemeClr val="bg2">
                        <a:lumMod val="90000"/>
                      </a:schemeClr>
                    </a:solidFill>
                  </a:tcPr>
                </a:tc>
                <a:extLst>
                  <a:ext uri="{0D108BD9-81ED-4DB2-BD59-A6C34878D82A}">
                    <a16:rowId xmlns:a16="http://schemas.microsoft.com/office/drawing/2014/main" val="4218532052"/>
                  </a:ext>
                </a:extLst>
              </a:tr>
              <a:tr h="819075">
                <a:tc>
                  <a:txBody>
                    <a:bodyPr/>
                    <a:lstStyle/>
                    <a:p>
                      <a:r>
                        <a:rPr lang="ru-RU" sz="1500" b="0">
                          <a:effectLst/>
                          <a:latin typeface="Times New Roman" panose="02020603050405020304" pitchFamily="18" charset="0"/>
                          <a:cs typeface="Times New Roman" panose="02020603050405020304" pitchFamily="18" charset="0"/>
                        </a:rPr>
                        <a:t>Сопровождение кодов</a:t>
                      </a:r>
                    </a:p>
                  </a:txBody>
                  <a:tcPr marL="76788" marR="102384" marT="63990" marB="63990" anchor="ctr">
                    <a:solidFill>
                      <a:schemeClr val="bg2">
                        <a:lumMod val="90000"/>
                      </a:schemeClr>
                    </a:solidFill>
                  </a:tcPr>
                </a:tc>
                <a:tc>
                  <a:txBody>
                    <a:bodyPr/>
                    <a:lstStyle/>
                    <a:p>
                      <a:r>
                        <a:rPr lang="ru-RU" sz="1500" b="0" dirty="0">
                          <a:effectLst/>
                          <a:latin typeface="Times New Roman" panose="02020603050405020304" pitchFamily="18" charset="0"/>
                          <a:cs typeface="Times New Roman" panose="02020603050405020304" pitchFamily="18" charset="0"/>
                        </a:rPr>
                        <a:t>Сопровождение спецификаций проектирования</a:t>
                      </a:r>
                    </a:p>
                  </a:txBody>
                  <a:tcPr marL="102384" marR="76788" marT="63990" marB="63990" anchor="ctr">
                    <a:solidFill>
                      <a:schemeClr val="bg2">
                        <a:lumMod val="90000"/>
                      </a:schemeClr>
                    </a:solidFill>
                  </a:tcPr>
                </a:tc>
                <a:extLst>
                  <a:ext uri="{0D108BD9-81ED-4DB2-BD59-A6C34878D82A}">
                    <a16:rowId xmlns:a16="http://schemas.microsoft.com/office/drawing/2014/main" val="1569862193"/>
                  </a:ext>
                </a:extLst>
              </a:tr>
            </a:tbl>
          </a:graphicData>
        </a:graphic>
      </p:graphicFrame>
      <p:sp>
        <p:nvSpPr>
          <p:cNvPr id="8" name="TextBox 7">
            <a:extLst>
              <a:ext uri="{FF2B5EF4-FFF2-40B4-BE49-F238E27FC236}">
                <a16:creationId xmlns:a16="http://schemas.microsoft.com/office/drawing/2014/main" id="{A37F8DB7-2795-4861-8F1F-2D98CEC88E26}"/>
              </a:ext>
            </a:extLst>
          </p:cNvPr>
          <p:cNvSpPr txBox="1"/>
          <p:nvPr/>
        </p:nvSpPr>
        <p:spPr>
          <a:xfrm>
            <a:off x="8578841" y="1535479"/>
            <a:ext cx="1229504"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Таблица 2 </a:t>
            </a:r>
          </a:p>
        </p:txBody>
      </p:sp>
    </p:spTree>
    <p:extLst>
      <p:ext uri="{BB962C8B-B14F-4D97-AF65-F5344CB8AC3E}">
        <p14:creationId xmlns:p14="http://schemas.microsoft.com/office/powerpoint/2010/main" val="847386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52B68C64-2618-4527-9A30-6FEF549386DE}"/>
              </a:ext>
            </a:extLst>
          </p:cNvPr>
          <p:cNvPicPr>
            <a:picLocks noChangeAspect="1"/>
          </p:cNvPicPr>
          <p:nvPr/>
        </p:nvPicPr>
        <p:blipFill>
          <a:blip r:embed="rId3"/>
          <a:stretch>
            <a:fillRect/>
          </a:stretch>
        </p:blipFill>
        <p:spPr>
          <a:xfrm>
            <a:off x="870041" y="1523085"/>
            <a:ext cx="5745458" cy="5142389"/>
          </a:xfrm>
          <a:prstGeom prst="rect">
            <a:avLst/>
          </a:prstGeom>
        </p:spPr>
      </p:pic>
      <p:sp>
        <p:nvSpPr>
          <p:cNvPr id="2" name="Заголовок 1">
            <a:extLst>
              <a:ext uri="{FF2B5EF4-FFF2-40B4-BE49-F238E27FC236}">
                <a16:creationId xmlns:a16="http://schemas.microsoft.com/office/drawing/2014/main" id="{22A103A2-3A75-4107-B9B6-7AF7961B668E}"/>
              </a:ext>
            </a:extLst>
          </p:cNvPr>
          <p:cNvSpPr>
            <a:spLocks noGrp="1"/>
          </p:cNvSpPr>
          <p:nvPr>
            <p:ph type="title"/>
          </p:nvPr>
        </p:nvSpPr>
        <p:spPr>
          <a:xfrm>
            <a:off x="521479" y="-237393"/>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4" name="Picture 2" descr="Picture background">
            <a:extLst>
              <a:ext uri="{FF2B5EF4-FFF2-40B4-BE49-F238E27FC236}">
                <a16:creationId xmlns:a16="http://schemas.microsoft.com/office/drawing/2014/main" id="{7173EAEF-8DA7-48C7-A82D-FE6095CCECBA}"/>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714538"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B5961C0-A84B-4D5B-9E13-BC0993CA3E33}"/>
              </a:ext>
            </a:extLst>
          </p:cNvPr>
          <p:cNvSpPr txBox="1"/>
          <p:nvPr/>
        </p:nvSpPr>
        <p:spPr>
          <a:xfrm>
            <a:off x="521478" y="753644"/>
            <a:ext cx="10515601" cy="769441"/>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На рисунке 2 представлены результаты сравнения традиционной разработки программных проектов и разработки с применением CASE-технологий</a:t>
            </a:r>
            <a:r>
              <a:rPr lang="ru-RU" b="0" i="0" dirty="0">
                <a:solidFill>
                  <a:srgbClr val="F9FAFB"/>
                </a:solidFill>
                <a:effectLst/>
                <a:latin typeface="quote-cjk-patch"/>
              </a:rPr>
              <a:t>.</a:t>
            </a:r>
            <a:endParaRPr lang="ru-RU" dirty="0"/>
          </a:p>
        </p:txBody>
      </p:sp>
      <p:sp>
        <p:nvSpPr>
          <p:cNvPr id="8" name="TextBox 7">
            <a:extLst>
              <a:ext uri="{FF2B5EF4-FFF2-40B4-BE49-F238E27FC236}">
                <a16:creationId xmlns:a16="http://schemas.microsoft.com/office/drawing/2014/main" id="{914FE8A5-2FFA-44C2-B41B-5196E23C1B0B}"/>
              </a:ext>
            </a:extLst>
          </p:cNvPr>
          <p:cNvSpPr txBox="1"/>
          <p:nvPr/>
        </p:nvSpPr>
        <p:spPr>
          <a:xfrm>
            <a:off x="5676416" y="5882362"/>
            <a:ext cx="6326193" cy="646331"/>
          </a:xfrm>
          <a:prstGeom prst="rect">
            <a:avLst/>
          </a:prstGeom>
          <a:noFill/>
        </p:spPr>
        <p:txBody>
          <a:bodyPr wrap="square" rtlCol="0">
            <a:spAutoFit/>
          </a:bodyPr>
          <a:lstStyle/>
          <a:p>
            <a:r>
              <a:rPr lang="ru-RU" dirty="0">
                <a:latin typeface="Times New Roman" panose="02020603050405020304" pitchFamily="18" charset="0"/>
                <a:cs typeface="Times New Roman" panose="02020603050405020304" pitchFamily="18" charset="0"/>
              </a:rPr>
              <a:t>Рисунок 2 – Уменьшение затрат на проектирования программных систем за счет использования </a:t>
            </a:r>
            <a:r>
              <a:rPr lang="en-US" dirty="0">
                <a:latin typeface="Times New Roman" panose="02020603050405020304" pitchFamily="18" charset="0"/>
                <a:cs typeface="Times New Roman" panose="02020603050405020304" pitchFamily="18" charset="0"/>
              </a:rPr>
              <a:t>CASE-</a:t>
            </a:r>
            <a:r>
              <a:rPr lang="ru-RU" dirty="0">
                <a:latin typeface="Times New Roman" panose="02020603050405020304" pitchFamily="18" charset="0"/>
                <a:cs typeface="Times New Roman" panose="02020603050405020304" pitchFamily="18" charset="0"/>
              </a:rPr>
              <a:t>технологий</a:t>
            </a:r>
          </a:p>
        </p:txBody>
      </p:sp>
      <p:sp>
        <p:nvSpPr>
          <p:cNvPr id="9" name="TextBox 8">
            <a:extLst>
              <a:ext uri="{FF2B5EF4-FFF2-40B4-BE49-F238E27FC236}">
                <a16:creationId xmlns:a16="http://schemas.microsoft.com/office/drawing/2014/main" id="{CD6EA150-7E58-4A96-A8D4-D7FDFA0F145D}"/>
              </a:ext>
            </a:extLst>
          </p:cNvPr>
          <p:cNvSpPr txBox="1"/>
          <p:nvPr/>
        </p:nvSpPr>
        <p:spPr>
          <a:xfrm>
            <a:off x="5676415" y="1958000"/>
            <a:ext cx="6326193" cy="1015663"/>
          </a:xfrm>
          <a:prstGeom prst="rect">
            <a:avLst/>
          </a:prstGeom>
          <a:noFill/>
        </p:spPr>
        <p:txBody>
          <a:bodyPr wrap="square" rtlCol="0">
            <a:spAutoFit/>
          </a:bodyPr>
          <a:lstStyle/>
          <a:p>
            <a:r>
              <a:rPr lang="ru-RU" sz="2000" b="0" i="0" dirty="0">
                <a:effectLst/>
                <a:latin typeface="Times New Roman" panose="02020603050405020304" pitchFamily="18" charset="0"/>
                <a:cs typeface="Times New Roman" panose="02020603050405020304" pitchFamily="18" charset="0"/>
              </a:rPr>
              <a:t>Их анализ показывает, что наиболее эффективно использование CASE-технологий для ИС, начиная с объема в 1000 п/программ, т. е. для больших систем.</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6975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7E5BE15A-C66D-4419-AAA9-94CC428F8166}"/>
              </a:ext>
            </a:extLst>
          </p:cNvPr>
          <p:cNvSpPr>
            <a:spLocks noGrp="1"/>
          </p:cNvSpPr>
          <p:nvPr>
            <p:ph type="title"/>
          </p:nvPr>
        </p:nvSpPr>
        <p:spPr>
          <a:xfrm>
            <a:off x="521479" y="-237393"/>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AACD72C4-D4D1-44EB-BF27-1A31FE5A8A3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732293" y="-1852370"/>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7246CA3-C12F-4F14-99F8-5E8BCD4D6F30}"/>
              </a:ext>
            </a:extLst>
          </p:cNvPr>
          <p:cNvSpPr txBox="1"/>
          <p:nvPr/>
        </p:nvSpPr>
        <p:spPr>
          <a:xfrm>
            <a:off x="566691" y="680593"/>
            <a:ext cx="8575104"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Состав, структура и функциональные особенности CASE-средств</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DE66B89-CA66-425E-8CA3-474A2593FD9F}"/>
              </a:ext>
            </a:extLst>
          </p:cNvPr>
          <p:cNvSpPr txBox="1"/>
          <p:nvPr/>
        </p:nvSpPr>
        <p:spPr>
          <a:xfrm>
            <a:off x="566691" y="1231267"/>
            <a:ext cx="11320509" cy="3139321"/>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CASE-средства служат инструментарием для поддержки и усиления методов анализа и проектирования. </a:t>
            </a:r>
            <a:r>
              <a:rPr lang="ru-RU" sz="2200" b="0" i="0" dirty="0">
                <a:effectLst/>
                <a:latin typeface="Times New Roman" panose="02020603050405020304" pitchFamily="18" charset="0"/>
                <a:cs typeface="Times New Roman" panose="02020603050405020304" pitchFamily="18" charset="0"/>
              </a:rPr>
              <a:t>Эти инструменты поддерживают работу пользователей при создании и редактировании графического проекта в интерактивном режиме, они способствуют организации проекта в виде иерархии уровней абстракции, выполняют проверки соответствия компонентов. </a:t>
            </a:r>
            <a:r>
              <a:rPr lang="ru-RU" sz="2200" b="0" i="1" dirty="0">
                <a:effectLst/>
                <a:latin typeface="Times New Roman" panose="02020603050405020304" pitchFamily="18" charset="0"/>
                <a:cs typeface="Times New Roman" panose="02020603050405020304" pitchFamily="18" charset="0"/>
              </a:rPr>
              <a:t>Фактически CASE-средства представляют собой новый тип графически-ориентированных инструментов, восходящих к системе поддержки ЖЦ ИС</a:t>
            </a:r>
            <a:r>
              <a:rPr lang="ru-RU" sz="2200" b="0" i="0" dirty="0">
                <a:effectLst/>
                <a:latin typeface="Times New Roman" panose="02020603050405020304" pitchFamily="18" charset="0"/>
                <a:cs typeface="Times New Roman" panose="02020603050405020304" pitchFamily="18" charset="0"/>
              </a:rPr>
              <a:t>. </a:t>
            </a:r>
            <a:r>
              <a:rPr lang="ru-RU" sz="2200" b="0" i="1" dirty="0">
                <a:effectLst/>
                <a:latin typeface="Times New Roman" panose="02020603050405020304" pitchFamily="18" charset="0"/>
                <a:cs typeface="Times New Roman" panose="02020603050405020304" pitchFamily="18" charset="0"/>
              </a:rPr>
              <a:t>Обычно к ним относят любое программное средство, обеспечивающее автоматическую помощь при разработке ПО, его сопровождении или деятельности по управлению проектом и проявляющее следующие дополнительные черты:</a:t>
            </a:r>
            <a:endParaRPr lang="ru-RU" sz="2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031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0130BB-DD75-4D87-890C-8776E96DE581}"/>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4" name="Picture 2" descr="Picture background">
            <a:extLst>
              <a:ext uri="{FF2B5EF4-FFF2-40B4-BE49-F238E27FC236}">
                <a16:creationId xmlns:a16="http://schemas.microsoft.com/office/drawing/2014/main" id="{0B446235-4E2F-46F0-A10C-985A71344BF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79027" y="-1707947"/>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85E58F7-2D93-46B8-BAC1-B3417D104DB3}"/>
              </a:ext>
            </a:extLst>
          </p:cNvPr>
          <p:cNvSpPr txBox="1"/>
          <p:nvPr/>
        </p:nvSpPr>
        <p:spPr>
          <a:xfrm>
            <a:off x="541538" y="1003177"/>
            <a:ext cx="11141476" cy="4185761"/>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мощная графика </a:t>
            </a:r>
            <a:r>
              <a:rPr lang="ru-RU" sz="2200" b="0" i="0" dirty="0">
                <a:effectLst/>
                <a:latin typeface="Times New Roman" panose="02020603050405020304" pitchFamily="18" charset="0"/>
                <a:cs typeface="Times New Roman" panose="02020603050405020304" pitchFamily="18" charset="0"/>
              </a:rPr>
              <a:t>для описания и документирования систем ИС, а также для улучшения интерфейса с пользователем, развивающая творческие возможности специалистов и не отвлекающая их от процесса проектирования на решение второстепенных вопросов;</a:t>
            </a:r>
          </a:p>
          <a:p>
            <a:endParaRPr lang="ru-RU" sz="2200" b="0" i="0" dirty="0">
              <a:effectLst/>
              <a:latin typeface="Times New Roman" panose="02020603050405020304" pitchFamily="18" charset="0"/>
              <a:cs typeface="Times New Roman" panose="02020603050405020304" pitchFamily="18" charset="0"/>
            </a:endParaRPr>
          </a:p>
          <a:p>
            <a:r>
              <a:rPr lang="ru-RU" sz="2400" b="1"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интеграция, </a:t>
            </a:r>
            <a:r>
              <a:rPr lang="ru-RU" sz="2200" b="0" i="0" dirty="0">
                <a:effectLst/>
                <a:latin typeface="Times New Roman" panose="02020603050405020304" pitchFamily="18" charset="0"/>
                <a:cs typeface="Times New Roman" panose="02020603050405020304" pitchFamily="18" charset="0"/>
              </a:rPr>
              <a:t>обеспечивающая легкость передачи данных между средствами и позволяющая управлять всем процессом проектирования и разработки ИС непосредственно через процесс планирования проекта</a:t>
            </a:r>
            <a:r>
              <a:rPr lang="ru-RU" sz="2200" b="0" i="0" dirty="0">
                <a:effectLst/>
                <a:latin typeface="quote-cjk-patch"/>
                <a:cs typeface="Times New Roman" panose="02020603050405020304" pitchFamily="18" charset="0"/>
              </a:rPr>
              <a:t>;</a:t>
            </a:r>
          </a:p>
          <a:p>
            <a:endParaRPr lang="ru-RU" sz="2200" b="0" i="0" dirty="0">
              <a:effectLst/>
              <a:latin typeface="quote-cjk-patch"/>
            </a:endParaRPr>
          </a:p>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использование компьютерного хранилища (репозитория) </a:t>
            </a:r>
            <a:r>
              <a:rPr lang="ru-RU" sz="2200" b="0" i="0" dirty="0">
                <a:effectLst/>
                <a:latin typeface="Times New Roman" panose="02020603050405020304" pitchFamily="18" charset="0"/>
                <a:cs typeface="Times New Roman" panose="02020603050405020304" pitchFamily="18" charset="0"/>
              </a:rPr>
              <a:t>для всей информации о проекте, которая может разделяться между разработчиками и исполнителями как основа для автоматического продуцирования ПО и повторного его использования в будущих системах.</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8771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1C79EB82-FD81-4CBB-81D7-6EEFBD7975D3}"/>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D92C139D-A615-4B9B-A115-6BCD7E313F2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79027" y="-1707947"/>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3B5C5F6-6A20-4166-BC2E-13C12DB24B8D}"/>
              </a:ext>
            </a:extLst>
          </p:cNvPr>
          <p:cNvSpPr txBox="1"/>
          <p:nvPr/>
        </p:nvSpPr>
        <p:spPr>
          <a:xfrm>
            <a:off x="390896" y="976543"/>
            <a:ext cx="11070176" cy="769441"/>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CASE-технология в рамках методологии включает в себя методы, которые с помощью графической нотации строят диаграммы и поддерживаются инструментальной средой.</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8B0D918-9402-4C2B-9C54-DC72EB8BB61D}"/>
              </a:ext>
            </a:extLst>
          </p:cNvPr>
          <p:cNvSpPr txBox="1"/>
          <p:nvPr/>
        </p:nvSpPr>
        <p:spPr>
          <a:xfrm>
            <a:off x="390896" y="1782539"/>
            <a:ext cx="11194602" cy="769441"/>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Методология определяет шаги и этапность реализации проекта, а также правила распределения методов, с помощью которых разрабатывается проект.</a:t>
            </a:r>
            <a:r>
              <a:rPr lang="ru-RU" b="0" i="0" dirty="0">
                <a:solidFill>
                  <a:srgbClr val="F9FAFB"/>
                </a:solidFill>
                <a:effectLst/>
                <a:latin typeface="quote-cjk-patch"/>
              </a:rPr>
              <a:t>.</a:t>
            </a:r>
            <a:endParaRPr lang="ru-RU" dirty="0"/>
          </a:p>
        </p:txBody>
      </p:sp>
      <p:sp>
        <p:nvSpPr>
          <p:cNvPr id="8" name="TextBox 7">
            <a:extLst>
              <a:ext uri="{FF2B5EF4-FFF2-40B4-BE49-F238E27FC236}">
                <a16:creationId xmlns:a16="http://schemas.microsoft.com/office/drawing/2014/main" id="{F63ADD80-9633-4803-A882-0C8403C33B6E}"/>
              </a:ext>
            </a:extLst>
          </p:cNvPr>
          <p:cNvSpPr txBox="1"/>
          <p:nvPr/>
        </p:nvSpPr>
        <p:spPr>
          <a:xfrm>
            <a:off x="390896" y="2659559"/>
            <a:ext cx="11345384" cy="3139321"/>
          </a:xfrm>
          <a:prstGeom prst="rect">
            <a:avLst/>
          </a:prstGeom>
          <a:noFill/>
        </p:spPr>
        <p:txBody>
          <a:bodyPr wrap="squar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Метод</a:t>
            </a:r>
            <a:r>
              <a:rPr lang="ru-RU" sz="2200" b="0" i="0" dirty="0">
                <a:effectLst/>
                <a:latin typeface="Times New Roman" panose="02020603050405020304" pitchFamily="18" charset="0"/>
                <a:cs typeface="Times New Roman" panose="02020603050405020304" pitchFamily="18" charset="0"/>
              </a:rPr>
              <a:t> — это процедура или техника генерации описаний компонент ЭИС (например, проектирование потоков и структур данных).</a:t>
            </a:r>
          </a:p>
          <a:p>
            <a:pPr marL="342900" indent="-342900">
              <a:buFont typeface="Arial" panose="020B0604020202020204" pitchFamily="34" charset="0"/>
              <a:buChar char="•"/>
            </a:pPr>
            <a:endParaRPr lang="ru-RU" sz="22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Нотация</a:t>
            </a:r>
            <a:r>
              <a:rPr lang="ru-RU" sz="2200" b="0" i="0" dirty="0">
                <a:effectLst/>
                <a:latin typeface="Times New Roman" panose="02020603050405020304" pitchFamily="18" charset="0"/>
                <a:cs typeface="Times New Roman" panose="02020603050405020304" pitchFamily="18" charset="0"/>
              </a:rPr>
              <a:t> — отображение структуры системы, элементов данных, этапов обработки с помощью специальных графических символов диаграмм, а также описание проекта системы на формальных и естественных языках.</a:t>
            </a:r>
          </a:p>
          <a:p>
            <a:pPr marL="342900" indent="-342900">
              <a:buFont typeface="Arial" panose="020B0604020202020204" pitchFamily="34" charset="0"/>
              <a:buChar char="•"/>
            </a:pPr>
            <a:endParaRPr lang="ru-RU" sz="22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Инструментальные средства CASE </a:t>
            </a:r>
            <a:r>
              <a:rPr lang="ru-RU" sz="2200" b="0" i="0" dirty="0">
                <a:effectLst/>
                <a:latin typeface="Times New Roman" panose="02020603050405020304" pitchFamily="18" charset="0"/>
                <a:cs typeface="Times New Roman" panose="02020603050405020304" pitchFamily="18" charset="0"/>
              </a:rPr>
              <a:t>— специальные программы, которые поддерживают одну или несколько методологий анализа и проектирования ИС.</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618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4A645479-359D-4AD5-8E0A-D674BE6EE0CB}"/>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4BC67F62-5C07-4556-9704-72A5DC5971F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BB1B882-0F00-4964-AA44-C278F452989C}"/>
              </a:ext>
            </a:extLst>
          </p:cNvPr>
          <p:cNvSpPr txBox="1"/>
          <p:nvPr/>
        </p:nvSpPr>
        <p:spPr>
          <a:xfrm>
            <a:off x="372862" y="1012055"/>
            <a:ext cx="9836282" cy="984885"/>
          </a:xfrm>
          <a:prstGeom prst="rect">
            <a:avLst/>
          </a:prstGeom>
          <a:noFill/>
        </p:spPr>
        <p:txBody>
          <a:bodyPr wrap="none" rtlCol="0">
            <a:spAutoFit/>
          </a:bodyPr>
          <a:lstStyle/>
          <a:p>
            <a:pPr algn="l"/>
            <a:r>
              <a:rPr lang="ru-RU" sz="2200" b="0" i="0" dirty="0">
                <a:effectLst/>
                <a:latin typeface="Times New Roman" panose="02020603050405020304" pitchFamily="18" charset="0"/>
                <a:cs typeface="Times New Roman" panose="02020603050405020304" pitchFamily="18" charset="0"/>
              </a:rPr>
              <a:t>Рассмотрим архитектуру CASE-средства, которая представлена на рисунке 3.</a:t>
            </a:r>
          </a:p>
          <a:p>
            <a:br>
              <a:rPr lang="ru-RU" dirty="0"/>
            </a:br>
            <a:endParaRPr lang="ru-RU" dirty="0"/>
          </a:p>
        </p:txBody>
      </p:sp>
      <p:sp>
        <p:nvSpPr>
          <p:cNvPr id="7" name="TextBox 6">
            <a:extLst>
              <a:ext uri="{FF2B5EF4-FFF2-40B4-BE49-F238E27FC236}">
                <a16:creationId xmlns:a16="http://schemas.microsoft.com/office/drawing/2014/main" id="{74A0C9D8-105F-4479-8004-95719979E8C3}"/>
              </a:ext>
            </a:extLst>
          </p:cNvPr>
          <p:cNvSpPr txBox="1"/>
          <p:nvPr/>
        </p:nvSpPr>
        <p:spPr>
          <a:xfrm>
            <a:off x="372861" y="1504497"/>
            <a:ext cx="11168109" cy="1446550"/>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Ядром системы является база данных проекта </a:t>
            </a:r>
            <a:r>
              <a:rPr lang="ru-RU" sz="2200" b="0" i="0" dirty="0">
                <a:effectLst/>
                <a:latin typeface="Times New Roman" panose="02020603050405020304" pitchFamily="18" charset="0"/>
                <a:cs typeface="Times New Roman" panose="02020603050405020304" pitchFamily="18" charset="0"/>
              </a:rPr>
              <a:t>— репозиторий. Он представляет собой специализированную базу данных, предназначенную для отображения состояния проектируемой ЭИС в каждый момент времени. Объекты всех диаграмм синхронизированы на основе общей информации словаря данных</a:t>
            </a:r>
            <a:r>
              <a:rPr lang="ru-RU" sz="2200" b="0" i="0" dirty="0">
                <a:solidFill>
                  <a:srgbClr val="F9FAFB"/>
                </a:solidFill>
                <a:effectLst/>
                <a:latin typeface="quote-cjk-patch"/>
              </a:rPr>
              <a:t>.</a:t>
            </a:r>
            <a:endParaRPr lang="ru-RU" sz="2200" dirty="0"/>
          </a:p>
        </p:txBody>
      </p:sp>
      <p:sp>
        <p:nvSpPr>
          <p:cNvPr id="8" name="TextBox 7">
            <a:extLst>
              <a:ext uri="{FF2B5EF4-FFF2-40B4-BE49-F238E27FC236}">
                <a16:creationId xmlns:a16="http://schemas.microsoft.com/office/drawing/2014/main" id="{6A4CFDA7-BA54-4ECD-B755-D9AC59DA19D9}"/>
              </a:ext>
            </a:extLst>
          </p:cNvPr>
          <p:cNvSpPr txBox="1"/>
          <p:nvPr/>
        </p:nvSpPr>
        <p:spPr>
          <a:xfrm>
            <a:off x="372861" y="3021646"/>
            <a:ext cx="8118697" cy="430887"/>
          </a:xfrm>
          <a:prstGeom prst="rect">
            <a:avLst/>
          </a:prstGeom>
          <a:noFill/>
        </p:spPr>
        <p:txBody>
          <a:bodyPr wrap="none" rtlCol="0">
            <a:spAutoFit/>
          </a:bodyPr>
          <a:lstStyle/>
          <a:p>
            <a:r>
              <a:rPr lang="ru-RU" sz="2200" b="0" i="0" dirty="0">
                <a:effectLst/>
                <a:latin typeface="Times New Roman" panose="02020603050405020304" pitchFamily="18" charset="0"/>
                <a:cs typeface="Times New Roman" panose="02020603050405020304" pitchFamily="18" charset="0"/>
              </a:rPr>
              <a:t>Интегрированный CASE-пакет содержит 4 основных компонента</a:t>
            </a:r>
            <a:r>
              <a:rPr lang="ru-RU" b="0" i="0" dirty="0">
                <a:solidFill>
                  <a:srgbClr val="F9FAFB"/>
                </a:solidFill>
                <a:effectLst/>
                <a:latin typeface="quote-cjk-patch"/>
              </a:rPr>
              <a:t>.</a:t>
            </a:r>
            <a:endParaRPr lang="ru-RU" dirty="0"/>
          </a:p>
        </p:txBody>
      </p:sp>
      <p:sp>
        <p:nvSpPr>
          <p:cNvPr id="9" name="TextBox 8">
            <a:extLst>
              <a:ext uri="{FF2B5EF4-FFF2-40B4-BE49-F238E27FC236}">
                <a16:creationId xmlns:a16="http://schemas.microsoft.com/office/drawing/2014/main" id="{7647BA46-921E-4D23-9C39-6FBCE39867B1}"/>
              </a:ext>
            </a:extLst>
          </p:cNvPr>
          <p:cNvSpPr txBox="1"/>
          <p:nvPr/>
        </p:nvSpPr>
        <p:spPr>
          <a:xfrm>
            <a:off x="295322" y="3595239"/>
            <a:ext cx="11352181" cy="2462213"/>
          </a:xfrm>
          <a:prstGeom prst="rect">
            <a:avLst/>
          </a:prstGeom>
          <a:noFill/>
        </p:spPr>
        <p:txBody>
          <a:bodyPr wrap="square" rtlCol="0">
            <a:spAutoFit/>
          </a:bodyPr>
          <a:lstStyle/>
          <a:p>
            <a:pPr algn="l"/>
            <a:r>
              <a:rPr lang="ru-RU" sz="2200" b="1" i="0" dirty="0">
                <a:effectLst/>
                <a:latin typeface="Times New Roman" panose="02020603050405020304" pitchFamily="18" charset="0"/>
                <a:cs typeface="Times New Roman" panose="02020603050405020304" pitchFamily="18" charset="0"/>
              </a:rPr>
              <a:t>Средства централизованного хранения</a:t>
            </a:r>
            <a:r>
              <a:rPr lang="ru-RU" sz="2200" b="0" i="0" dirty="0">
                <a:effectLst/>
                <a:latin typeface="Times New Roman" panose="02020603050405020304" pitchFamily="18" charset="0"/>
                <a:cs typeface="Times New Roman" panose="02020603050405020304" pitchFamily="18" charset="0"/>
              </a:rPr>
              <a:t> всей информации о проектируемом ПО в течение всего ЖЦ (репозиторий) являются основой CASE-пакета.\</a:t>
            </a:r>
          </a:p>
          <a:p>
            <a:pPr algn="l"/>
            <a:endParaRPr lang="ru-RU" sz="2200" b="0" i="0" dirty="0">
              <a:effectLst/>
              <a:latin typeface="Times New Roman" panose="02020603050405020304" pitchFamily="18" charset="0"/>
              <a:cs typeface="Times New Roman" panose="02020603050405020304" pitchFamily="18" charset="0"/>
            </a:endParaRPr>
          </a:p>
          <a:p>
            <a:r>
              <a:rPr lang="ru-RU" sz="2200" b="1" i="0" dirty="0">
                <a:effectLst/>
                <a:latin typeface="Times New Roman" panose="02020603050405020304" pitchFamily="18" charset="0"/>
                <a:cs typeface="Times New Roman" panose="02020603050405020304" pitchFamily="18" charset="0"/>
              </a:rPr>
              <a:t>Соответствующая БД </a:t>
            </a:r>
            <a:r>
              <a:rPr lang="ru-RU" sz="2200" b="0" i="0" dirty="0">
                <a:effectLst/>
                <a:latin typeface="Times New Roman" panose="02020603050405020304" pitchFamily="18" charset="0"/>
                <a:cs typeface="Times New Roman" panose="02020603050405020304" pitchFamily="18" charset="0"/>
              </a:rPr>
              <a:t>должна иметь возможность поддерживать большую систему описаний и характеристик и предусматривать надежные меры по защите от ошибок и потерь информации.</a:t>
            </a:r>
            <a:br>
              <a:rPr lang="ru-RU" sz="2200" dirty="0">
                <a:latin typeface="Times New Roman" panose="02020603050405020304" pitchFamily="18" charset="0"/>
                <a:cs typeface="Times New Roman" panose="02020603050405020304" pitchFamily="18" charset="0"/>
              </a:rPr>
            </a:b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8204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FCBF8E1E-2C7E-4FDB-93D5-2337A2A6E92D}"/>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6" name="Picture 2" descr="Picture background">
            <a:extLst>
              <a:ext uri="{FF2B5EF4-FFF2-40B4-BE49-F238E27FC236}">
                <a16:creationId xmlns:a16="http://schemas.microsoft.com/office/drawing/2014/main" id="{CB62960F-714C-4E59-9830-49A5D25B5D4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pic>
        <p:nvPicPr>
          <p:cNvPr id="8" name="Рисунок 7">
            <a:extLst>
              <a:ext uri="{FF2B5EF4-FFF2-40B4-BE49-F238E27FC236}">
                <a16:creationId xmlns:a16="http://schemas.microsoft.com/office/drawing/2014/main" id="{AB2A2590-FDA1-400A-A640-6C7013D9AEEE}"/>
              </a:ext>
            </a:extLst>
          </p:cNvPr>
          <p:cNvPicPr>
            <a:picLocks noChangeAspect="1"/>
          </p:cNvPicPr>
          <p:nvPr/>
        </p:nvPicPr>
        <p:blipFill>
          <a:blip r:embed="rId4"/>
          <a:stretch>
            <a:fillRect/>
          </a:stretch>
        </p:blipFill>
        <p:spPr>
          <a:xfrm>
            <a:off x="1300193" y="1242617"/>
            <a:ext cx="7008498" cy="4081992"/>
          </a:xfrm>
          <a:prstGeom prst="rect">
            <a:avLst/>
          </a:prstGeom>
        </p:spPr>
      </p:pic>
      <p:sp>
        <p:nvSpPr>
          <p:cNvPr id="10" name="TextBox 9">
            <a:extLst>
              <a:ext uri="{FF2B5EF4-FFF2-40B4-BE49-F238E27FC236}">
                <a16:creationId xmlns:a16="http://schemas.microsoft.com/office/drawing/2014/main" id="{96BD0B61-F37F-4826-8B03-38991811B99F}"/>
              </a:ext>
            </a:extLst>
          </p:cNvPr>
          <p:cNvSpPr txBox="1"/>
          <p:nvPr/>
        </p:nvSpPr>
        <p:spPr>
          <a:xfrm>
            <a:off x="2672179" y="5502162"/>
            <a:ext cx="5144998" cy="430887"/>
          </a:xfrm>
          <a:prstGeom prst="rect">
            <a:avLst/>
          </a:prstGeom>
          <a:noFill/>
        </p:spPr>
        <p:txBody>
          <a:bodyPr wrap="none" rtlCol="0">
            <a:spAutoFit/>
          </a:bodyPr>
          <a:lstStyle/>
          <a:p>
            <a:r>
              <a:rPr lang="ru-RU" sz="2200" dirty="0">
                <a:latin typeface="Times New Roman" panose="02020603050405020304" pitchFamily="18" charset="0"/>
                <a:cs typeface="Times New Roman" panose="02020603050405020304" pitchFamily="18" charset="0"/>
              </a:rPr>
              <a:t>Рисунок 3 – Архитектура </a:t>
            </a:r>
            <a:r>
              <a:rPr lang="en-US" sz="2200" dirty="0">
                <a:latin typeface="Times New Roman" panose="02020603050405020304" pitchFamily="18" charset="0"/>
                <a:cs typeface="Times New Roman" panose="02020603050405020304" pitchFamily="18" charset="0"/>
              </a:rPr>
              <a:t>CASE-</a:t>
            </a:r>
            <a:r>
              <a:rPr lang="ru-RU" sz="2200" dirty="0">
                <a:latin typeface="Times New Roman" panose="02020603050405020304" pitchFamily="18" charset="0"/>
                <a:cs typeface="Times New Roman" panose="02020603050405020304" pitchFamily="18" charset="0"/>
              </a:rPr>
              <a:t>средства</a:t>
            </a:r>
          </a:p>
        </p:txBody>
      </p:sp>
    </p:spTree>
    <p:extLst>
      <p:ext uri="{BB962C8B-B14F-4D97-AF65-F5344CB8AC3E}">
        <p14:creationId xmlns:p14="http://schemas.microsoft.com/office/powerpoint/2010/main" val="1456351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0AB09DAA-40C8-4D6C-9207-9A5C802178D0}"/>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168FA609-157D-4222-AB68-B63C9A2A333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E23897D-1372-44B5-B3BC-ED15CC89ECD1}"/>
              </a:ext>
            </a:extLst>
          </p:cNvPr>
          <p:cNvSpPr txBox="1"/>
          <p:nvPr/>
        </p:nvSpPr>
        <p:spPr>
          <a:xfrm>
            <a:off x="497150" y="1029810"/>
            <a:ext cx="9632271" cy="3354765"/>
          </a:xfrm>
          <a:prstGeom prst="rect">
            <a:avLst/>
          </a:prstGeom>
          <a:noFill/>
        </p:spPr>
        <p:txBody>
          <a:bodyPr wrap="square" rtlCol="0">
            <a:spAutoFit/>
          </a:bodyPr>
          <a:lstStyle/>
          <a:p>
            <a:pPr algn="l"/>
            <a:r>
              <a:rPr lang="ru-RU" sz="2200" b="1" i="0" dirty="0">
                <a:effectLst/>
                <a:latin typeface="Times New Roman" panose="02020603050405020304" pitchFamily="18" charset="0"/>
                <a:cs typeface="Times New Roman" panose="02020603050405020304" pitchFamily="18" charset="0"/>
              </a:rPr>
              <a:t>Репозиторий должен обеспечивать:</a:t>
            </a:r>
            <a:br>
              <a:rPr lang="ru-RU" sz="2200" b="1"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инкрементный режим при вводе описаний объектов;</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распространение действия нового или скорректированного описания на информационное пространство всего проекта;</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синхронизацию поступления информации от различных пользователей;</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хранение версий проекта и его отдельных компонент;</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сборку любой запрошенной версии;</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контроль информации на корректность, полноту и состоятельность.</a:t>
            </a:r>
          </a:p>
          <a:p>
            <a:br>
              <a:rPr lang="ru-RU" dirty="0"/>
            </a:br>
            <a:endParaRPr lang="ru-RU" dirty="0"/>
          </a:p>
        </p:txBody>
      </p:sp>
      <p:sp>
        <p:nvSpPr>
          <p:cNvPr id="7" name="TextBox 6">
            <a:extLst>
              <a:ext uri="{FF2B5EF4-FFF2-40B4-BE49-F238E27FC236}">
                <a16:creationId xmlns:a16="http://schemas.microsoft.com/office/drawing/2014/main" id="{87FC221A-74A7-4D2B-800A-023CEF915034}"/>
              </a:ext>
            </a:extLst>
          </p:cNvPr>
          <p:cNvSpPr txBox="1"/>
          <p:nvPr/>
        </p:nvSpPr>
        <p:spPr>
          <a:xfrm>
            <a:off x="497150" y="4043086"/>
            <a:ext cx="11398928" cy="1446550"/>
          </a:xfrm>
          <a:prstGeom prst="rect">
            <a:avLst/>
          </a:prstGeom>
          <a:noFill/>
        </p:spPr>
        <p:txBody>
          <a:bodyPr wrap="squar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Средства ввода</a:t>
            </a:r>
            <a:r>
              <a:rPr lang="ru-RU" sz="2200" b="0" i="0" dirty="0">
                <a:effectLst/>
                <a:latin typeface="Times New Roman" panose="02020603050405020304" pitchFamily="18" charset="0"/>
                <a:cs typeface="Times New Roman" panose="02020603050405020304" pitchFamily="18" charset="0"/>
              </a:rPr>
              <a:t> предназначены для ввода данных в репозиторий, а также для организации взаимодействия с CASE-пакетом. Эти средства должны поддерживать различные методологии и использоваться на всем ЖЦ разными категориями разработчиков: аналитиками, проектировщиками, инженерами, администраторами и т. д</a:t>
            </a:r>
            <a:r>
              <a:rPr lang="ru-RU" b="0" i="0" dirty="0">
                <a:solidFill>
                  <a:srgbClr val="F9FAFB"/>
                </a:solidFill>
                <a:effectLst/>
                <a:latin typeface="quote-cjk-patch"/>
              </a:rPr>
              <a:t>.</a:t>
            </a:r>
            <a:endParaRPr lang="ru-RU" dirty="0"/>
          </a:p>
        </p:txBody>
      </p:sp>
    </p:spTree>
    <p:extLst>
      <p:ext uri="{BB962C8B-B14F-4D97-AF65-F5344CB8AC3E}">
        <p14:creationId xmlns:p14="http://schemas.microsoft.com/office/powerpoint/2010/main" val="3757242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3683926B-1459-497E-BD59-979DA81C831D}"/>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70F1EA86-535B-4E97-9581-4C238D2AE5F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A81BD54-70BC-4E1A-9A01-E30EF9A23097}"/>
              </a:ext>
            </a:extLst>
          </p:cNvPr>
          <p:cNvSpPr txBox="1"/>
          <p:nvPr/>
        </p:nvSpPr>
        <p:spPr>
          <a:xfrm>
            <a:off x="295322" y="994042"/>
            <a:ext cx="10990555" cy="1107996"/>
          </a:xfrm>
          <a:prstGeom prst="rect">
            <a:avLst/>
          </a:prstGeom>
          <a:noFill/>
        </p:spPr>
        <p:txBody>
          <a:bodyPr wrap="squar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Средства анализа, проектирования и разработки</a:t>
            </a:r>
            <a:r>
              <a:rPr lang="ru-RU" sz="2200" b="0" i="0" dirty="0">
                <a:effectLst/>
                <a:latin typeface="Times New Roman" panose="02020603050405020304" pitchFamily="18" charset="0"/>
                <a:cs typeface="Times New Roman" panose="02020603050405020304" pitchFamily="18" charset="0"/>
              </a:rPr>
              <a:t> предназначены для того, чтобы обеспечить планирование и анализ различных описаний, а также их преобразование в процессе разработки.</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4C77218-1275-457E-82B6-1EC5A721AD54}"/>
              </a:ext>
            </a:extLst>
          </p:cNvPr>
          <p:cNvSpPr txBox="1"/>
          <p:nvPr/>
        </p:nvSpPr>
        <p:spPr>
          <a:xfrm>
            <a:off x="295322" y="2119188"/>
            <a:ext cx="11793165" cy="430887"/>
          </a:xfrm>
          <a:prstGeom prst="rect">
            <a:avLst/>
          </a:prstGeom>
          <a:noFill/>
        </p:spPr>
        <p:txBody>
          <a:bodyPr wrap="non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Средства вывода</a:t>
            </a:r>
            <a:r>
              <a:rPr lang="ru-RU" sz="2200" b="0" i="0" dirty="0">
                <a:effectLst/>
                <a:latin typeface="Times New Roman" panose="02020603050405020304" pitchFamily="18" charset="0"/>
                <a:cs typeface="Times New Roman" panose="02020603050405020304" pitchFamily="18" charset="0"/>
              </a:rPr>
              <a:t> служат для документирования, управления проектом и кодовой генерации.</a:t>
            </a:r>
            <a:endParaRPr lang="ru-RU" sz="2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4573239-19C0-4979-A3B0-9227113E99F3}"/>
              </a:ext>
            </a:extLst>
          </p:cNvPr>
          <p:cNvSpPr txBox="1"/>
          <p:nvPr/>
        </p:nvSpPr>
        <p:spPr>
          <a:xfrm>
            <a:off x="736847" y="2720884"/>
            <a:ext cx="10549030" cy="1785104"/>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Все перечисленные компоненты в совокупности должны:</a:t>
            </a:r>
            <a:br>
              <a:rPr lang="ru-RU" sz="2200" b="1" dirty="0">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поддерживать графические модели;</a:t>
            </a:r>
            <a:br>
              <a:rPr lang="ru-RU" sz="2200" dirty="0">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контролировать ошибки;</a:t>
            </a:r>
            <a:br>
              <a:rPr lang="ru-RU" sz="2200" dirty="0">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организовывать и поддерживать репозиторий;</a:t>
            </a:r>
            <a:br>
              <a:rPr lang="ru-RU" sz="2200" dirty="0">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поддерживать процесс проектирования и разработки</a:t>
            </a:r>
            <a:r>
              <a:rPr lang="ru-RU" b="0" i="0" dirty="0">
                <a:solidFill>
                  <a:srgbClr val="F9FAFB"/>
                </a:solidFill>
                <a:effectLst/>
                <a:latin typeface="quote-cjk-patch"/>
              </a:rPr>
              <a:t>.</a:t>
            </a:r>
            <a:endParaRPr lang="ru-RU" dirty="0"/>
          </a:p>
        </p:txBody>
      </p:sp>
    </p:spTree>
    <p:extLst>
      <p:ext uri="{BB962C8B-B14F-4D97-AF65-F5344CB8AC3E}">
        <p14:creationId xmlns:p14="http://schemas.microsoft.com/office/powerpoint/2010/main" val="3092987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C722B4BF-22C9-4DE0-B558-1C8ACCCA6D01}"/>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71023303-E415-4D89-AC99-8718553E8E3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FE89BAC-4A6B-43F9-8C51-B58D439033D1}"/>
              </a:ext>
            </a:extLst>
          </p:cNvPr>
          <p:cNvSpPr txBox="1"/>
          <p:nvPr/>
        </p:nvSpPr>
        <p:spPr>
          <a:xfrm>
            <a:off x="443883" y="949911"/>
            <a:ext cx="4445448"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Поддержка графических моделей</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9B42F7D-4BA4-4819-A590-97291C22CE34}"/>
              </a:ext>
            </a:extLst>
          </p:cNvPr>
          <p:cNvSpPr txBox="1"/>
          <p:nvPr/>
        </p:nvSpPr>
        <p:spPr>
          <a:xfrm>
            <a:off x="443883" y="1380798"/>
            <a:ext cx="10591060" cy="1107996"/>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Графическая ориентация CASE заключается в том, что программы являются схематическими проектами и формами, которые много проще в использовании, чем </a:t>
            </a:r>
            <a:r>
              <a:rPr lang="ru-RU" sz="2200" b="0" i="0" dirty="0" err="1">
                <a:effectLst/>
                <a:latin typeface="Times New Roman" panose="02020603050405020304" pitchFamily="18" charset="0"/>
                <a:cs typeface="Times New Roman" panose="02020603050405020304" pitchFamily="18" charset="0"/>
              </a:rPr>
              <a:t>многогранничные</a:t>
            </a:r>
            <a:r>
              <a:rPr lang="ru-RU" sz="2200" b="0" i="0" dirty="0">
                <a:effectLst/>
                <a:latin typeface="Times New Roman" panose="02020603050405020304" pitchFamily="18" charset="0"/>
                <a:cs typeface="Times New Roman" panose="02020603050405020304" pitchFamily="18" charset="0"/>
              </a:rPr>
              <a:t> описания.</a:t>
            </a:r>
            <a:endParaRPr lang="ru-RU" sz="2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D3FEFC6-554C-46C0-83D1-139FE8C0DB91}"/>
              </a:ext>
            </a:extLst>
          </p:cNvPr>
          <p:cNvSpPr txBox="1"/>
          <p:nvPr/>
        </p:nvSpPr>
        <p:spPr>
          <a:xfrm>
            <a:off x="443883" y="2551156"/>
            <a:ext cx="11267842" cy="1107996"/>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Для представления программ применяются структурные диаграммы различных типов, дополнительное достоинство которых заключается в их использовании в качестве наглядной «двумерной» документации по проекту.</a:t>
            </a:r>
            <a:endParaRPr lang="ru-RU" sz="2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818A6CD-1E06-4E18-95FA-2B18E389EADD}"/>
              </a:ext>
            </a:extLst>
          </p:cNvPr>
          <p:cNvSpPr txBox="1"/>
          <p:nvPr/>
        </p:nvSpPr>
        <p:spPr>
          <a:xfrm>
            <a:off x="443883" y="3721514"/>
            <a:ext cx="5570499"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Для CASE существенны 4 типа диаграмм</a:t>
            </a:r>
            <a:r>
              <a:rPr lang="ru-RU" b="0" i="0" dirty="0">
                <a:solidFill>
                  <a:srgbClr val="F9FAFB"/>
                </a:solidFill>
                <a:effectLst/>
                <a:latin typeface="quote-cjk-patch"/>
              </a:rPr>
              <a:t>:</a:t>
            </a:r>
            <a:endParaRPr lang="ru-RU" dirty="0"/>
          </a:p>
        </p:txBody>
      </p:sp>
      <p:sp>
        <p:nvSpPr>
          <p:cNvPr id="10" name="TextBox 9">
            <a:extLst>
              <a:ext uri="{FF2B5EF4-FFF2-40B4-BE49-F238E27FC236}">
                <a16:creationId xmlns:a16="http://schemas.microsoft.com/office/drawing/2014/main" id="{CC0684AA-07A3-4622-8091-438EF07D8974}"/>
              </a:ext>
            </a:extLst>
          </p:cNvPr>
          <p:cNvSpPr txBox="1"/>
          <p:nvPr/>
        </p:nvSpPr>
        <p:spPr>
          <a:xfrm>
            <a:off x="438206" y="4152401"/>
            <a:ext cx="11478827" cy="2800767"/>
          </a:xfrm>
          <a:prstGeom prst="rect">
            <a:avLst/>
          </a:prstGeom>
          <a:noFill/>
        </p:spPr>
        <p:txBody>
          <a:bodyPr wrap="square" rtlCol="0">
            <a:spAutoFit/>
          </a:bodyPr>
          <a:lstStyle/>
          <a:p>
            <a:pPr marL="342900" indent="-342900">
              <a:buFont typeface="Arial" panose="020B0604020202020204" pitchFamily="34" charset="0"/>
              <a:buChar char="•"/>
            </a:pPr>
            <a:r>
              <a:rPr lang="ru-RU" sz="2200" b="0" i="1" dirty="0">
                <a:effectLst/>
                <a:latin typeface="Times New Roman" panose="02020603050405020304" pitchFamily="18" charset="0"/>
                <a:cs typeface="Times New Roman" panose="02020603050405020304" pitchFamily="18" charset="0"/>
              </a:rPr>
              <a:t>диаграммы функционального проектирования </a:t>
            </a:r>
            <a:r>
              <a:rPr lang="ru-RU" sz="2200" b="0" i="0" dirty="0">
                <a:effectLst/>
                <a:latin typeface="Times New Roman" panose="02020603050405020304" pitchFamily="18" charset="0"/>
                <a:cs typeface="Times New Roman" panose="02020603050405020304" pitchFamily="18" charset="0"/>
              </a:rPr>
              <a:t>(для этих целей наиболее часто употребляются DFD-диаграммы потоков данных);</a:t>
            </a:r>
          </a:p>
          <a:p>
            <a:pPr marL="342900" indent="-342900">
              <a:buFont typeface="Arial" panose="020B0604020202020204" pitchFamily="34" charset="0"/>
              <a:buChar char="•"/>
            </a:pPr>
            <a:r>
              <a:rPr lang="ru-RU" sz="2200" b="0" i="1" dirty="0">
                <a:effectLst/>
                <a:latin typeface="Times New Roman" panose="02020603050405020304" pitchFamily="18" charset="0"/>
                <a:cs typeface="Times New Roman" panose="02020603050405020304" pitchFamily="18" charset="0"/>
              </a:rPr>
              <a:t>диаграммы моделирования данных </a:t>
            </a:r>
            <a:r>
              <a:rPr lang="ru-RU" sz="2200" b="0" i="0" dirty="0">
                <a:effectLst/>
                <a:latin typeface="Times New Roman" panose="02020603050405020304" pitchFamily="18" charset="0"/>
                <a:cs typeface="Times New Roman" panose="02020603050405020304" pitchFamily="18" charset="0"/>
              </a:rPr>
              <a:t>(как правило, ERD-диаграммы «сущность — связь»);</a:t>
            </a:r>
          </a:p>
          <a:p>
            <a:pPr marL="342900" indent="-342900">
              <a:buFont typeface="Arial" panose="020B0604020202020204" pitchFamily="34" charset="0"/>
              <a:buChar char="•"/>
            </a:pPr>
            <a:r>
              <a:rPr lang="ru-RU" sz="2200" b="0" i="1" dirty="0">
                <a:effectLst/>
                <a:latin typeface="Times New Roman" panose="02020603050405020304" pitchFamily="18" charset="0"/>
                <a:cs typeface="Times New Roman" panose="02020603050405020304" pitchFamily="18" charset="0"/>
              </a:rPr>
              <a:t>диаграммы моделирования поведения </a:t>
            </a:r>
            <a:r>
              <a:rPr lang="ru-RU" sz="2200" b="0" i="0" dirty="0">
                <a:effectLst/>
                <a:latin typeface="Times New Roman" panose="02020603050405020304" pitchFamily="18" charset="0"/>
                <a:cs typeface="Times New Roman" panose="02020603050405020304" pitchFamily="18" charset="0"/>
              </a:rPr>
              <a:t>(как правило, STD-диаграммы переходов состояний);</a:t>
            </a:r>
          </a:p>
          <a:p>
            <a:pPr marL="342900" indent="-342900">
              <a:buFont typeface="Arial" panose="020B0604020202020204" pitchFamily="34" charset="0"/>
              <a:buChar char="•"/>
            </a:pPr>
            <a:r>
              <a:rPr lang="ru-RU" sz="2200" b="0" i="1" dirty="0">
                <a:effectLst/>
                <a:latin typeface="Times New Roman" panose="02020603050405020304" pitchFamily="18" charset="0"/>
                <a:cs typeface="Times New Roman" panose="02020603050405020304" pitchFamily="18" charset="0"/>
              </a:rPr>
              <a:t>структурные диаграммы (карты), </a:t>
            </a:r>
            <a:r>
              <a:rPr lang="ru-RU" sz="2200" b="0" i="0" dirty="0">
                <a:effectLst/>
                <a:latin typeface="Times New Roman" panose="02020603050405020304" pitchFamily="18" charset="0"/>
                <a:cs typeface="Times New Roman" panose="02020603050405020304" pitchFamily="18" charset="0"/>
              </a:rPr>
              <a:t>применяющиеся на этапе проектирования и описывающие отношения между модулями и </a:t>
            </a:r>
            <a:r>
              <a:rPr lang="ru-RU" sz="2200" b="0" i="0" dirty="0" err="1">
                <a:effectLst/>
                <a:latin typeface="Times New Roman" panose="02020603050405020304" pitchFamily="18" charset="0"/>
                <a:cs typeface="Times New Roman" panose="02020603050405020304" pitchFamily="18" charset="0"/>
              </a:rPr>
              <a:t>внутримодульную</a:t>
            </a:r>
            <a:r>
              <a:rPr lang="ru-RU" sz="2200" b="0" i="0" dirty="0">
                <a:effectLst/>
                <a:latin typeface="Times New Roman" panose="02020603050405020304" pitchFamily="18" charset="0"/>
                <a:cs typeface="Times New Roman" panose="02020603050405020304" pitchFamily="18" charset="0"/>
              </a:rPr>
              <a:t> структуру.</a:t>
            </a:r>
          </a:p>
          <a:p>
            <a:pPr marL="342900" indent="-342900">
              <a:buFont typeface="Arial" panose="020B0604020202020204" pitchFamily="34" charset="0"/>
              <a:buChar char="•"/>
            </a:pPr>
            <a:endParaRPr lang="ru-RU" sz="2200" b="0" i="0" dirty="0">
              <a:effectLst/>
              <a:latin typeface="Times New Roman" panose="02020603050405020304" pitchFamily="18" charset="0"/>
              <a:cs typeface="Times New Roman" panose="02020603050405020304" pitchFamily="18" charset="0"/>
            </a:endParaRPr>
          </a:p>
          <a:p>
            <a:endParaRPr lang="ru-RU" dirty="0"/>
          </a:p>
        </p:txBody>
      </p:sp>
    </p:spTree>
    <p:extLst>
      <p:ext uri="{BB962C8B-B14F-4D97-AF65-F5344CB8AC3E}">
        <p14:creationId xmlns:p14="http://schemas.microsoft.com/office/powerpoint/2010/main" val="2299601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9EAA8D6E-D9F4-41C4-AA56-C484FE63BA51}"/>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701AEE4B-723D-4368-9A62-34831F44625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03AA53F-479D-4D2C-BF52-9F99FA18A5D1}"/>
              </a:ext>
            </a:extLst>
          </p:cNvPr>
          <p:cNvSpPr txBox="1"/>
          <p:nvPr/>
        </p:nvSpPr>
        <p:spPr>
          <a:xfrm>
            <a:off x="295322" y="889258"/>
            <a:ext cx="11396569" cy="1446550"/>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Существуют и другие диаграммы, но они являются, как правило, вспомогательными. Создание и модификация подобных диаграмм осуществляется с помощью специальных графических редакторов (</a:t>
            </a:r>
            <a:r>
              <a:rPr lang="ru-RU" sz="2200" b="0" i="0" dirty="0" err="1">
                <a:effectLst/>
                <a:latin typeface="Times New Roman" panose="02020603050405020304" pitchFamily="18" charset="0"/>
                <a:cs typeface="Times New Roman" panose="02020603050405020304" pitchFamily="18" charset="0"/>
              </a:rPr>
              <a:t>диаграммеров</a:t>
            </a:r>
            <a:r>
              <a:rPr lang="ru-RU" sz="2200" b="0" i="0" dirty="0">
                <a:effectLst/>
                <a:latin typeface="Times New Roman" panose="02020603050405020304" pitchFamily="18" charset="0"/>
                <a:cs typeface="Times New Roman" panose="02020603050405020304" pitchFamily="18" charset="0"/>
              </a:rPr>
              <a:t>), являющихся сервисными средствами на этапах анализа требований и проектирования спецификаций.</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5AF07D7-D3E9-4BF7-9E3C-06C515E5BEF6}"/>
              </a:ext>
            </a:extLst>
          </p:cNvPr>
          <p:cNvSpPr txBox="1"/>
          <p:nvPr/>
        </p:nvSpPr>
        <p:spPr>
          <a:xfrm>
            <a:off x="295322" y="2335808"/>
            <a:ext cx="5680914"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Современные </a:t>
            </a:r>
            <a:r>
              <a:rPr lang="ru-RU" sz="2200" b="1" i="0" dirty="0" err="1">
                <a:effectLst/>
                <a:latin typeface="Times New Roman" panose="02020603050405020304" pitchFamily="18" charset="0"/>
                <a:cs typeface="Times New Roman" panose="02020603050405020304" pitchFamily="18" charset="0"/>
              </a:rPr>
              <a:t>диаграммеры</a:t>
            </a:r>
            <a:r>
              <a:rPr lang="ru-RU" sz="2200" b="1" i="0" dirty="0">
                <a:effectLst/>
                <a:latin typeface="Times New Roman" panose="02020603050405020304" pitchFamily="18" charset="0"/>
                <a:cs typeface="Times New Roman" panose="02020603050405020304" pitchFamily="18" charset="0"/>
              </a:rPr>
              <a:t> обеспечивают</a:t>
            </a:r>
            <a:r>
              <a:rPr lang="ru-RU" b="1" i="0" dirty="0">
                <a:solidFill>
                  <a:srgbClr val="F9FAFB"/>
                </a:solidFill>
                <a:effectLst/>
                <a:latin typeface="quote-cjk-patch"/>
              </a:rPr>
              <a:t>:</a:t>
            </a:r>
            <a:endParaRPr lang="ru-RU" b="1" dirty="0"/>
          </a:p>
        </p:txBody>
      </p:sp>
      <p:sp>
        <p:nvSpPr>
          <p:cNvPr id="8" name="TextBox 7">
            <a:extLst>
              <a:ext uri="{FF2B5EF4-FFF2-40B4-BE49-F238E27FC236}">
                <a16:creationId xmlns:a16="http://schemas.microsoft.com/office/drawing/2014/main" id="{5C9605F0-D9A4-43E3-A4F9-CAAC2EAD302C}"/>
              </a:ext>
            </a:extLst>
          </p:cNvPr>
          <p:cNvSpPr txBox="1"/>
          <p:nvPr/>
        </p:nvSpPr>
        <p:spPr>
          <a:xfrm>
            <a:off x="295322" y="2721113"/>
            <a:ext cx="11691891" cy="2492990"/>
          </a:xfrm>
          <a:prstGeom prst="rect">
            <a:avLst/>
          </a:prstGeom>
          <a:noFill/>
        </p:spPr>
        <p:txBody>
          <a:bodyPr wrap="square" rtlCol="0">
            <a:spAutoFit/>
          </a:bodyPr>
          <a:lstStyle/>
          <a:p>
            <a:pPr marL="342900" indent="-342900">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 создание иерархически связанных диаграмм, в которых комбинируются графические и текстовые объекты;</a:t>
            </a:r>
          </a:p>
          <a:p>
            <a:pPr marL="342900" indent="-342900">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создание и редактирование объектов в любом месте диаграммы;</a:t>
            </a:r>
          </a:p>
          <a:p>
            <a:pPr marL="342900" indent="-342900">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создание, перемещение и выравнивание групп объектов, изменение их размеров, масштабирование;</a:t>
            </a:r>
          </a:p>
          <a:p>
            <a:pPr marL="342900" indent="-342900">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сохранение связей между объектами при их перемещении и изменении размеров;</a:t>
            </a:r>
          </a:p>
          <a:p>
            <a:pPr marL="342900" indent="-342900">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автоматический контроль ошибок и др.</a:t>
            </a:r>
            <a:endParaRPr lang="ru-RU" sz="2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18F5DAD-63F4-4396-A52A-06E76E51108E}"/>
              </a:ext>
            </a:extLst>
          </p:cNvPr>
          <p:cNvSpPr txBox="1"/>
          <p:nvPr/>
        </p:nvSpPr>
        <p:spPr>
          <a:xfrm>
            <a:off x="347709" y="5513033"/>
            <a:ext cx="11496582" cy="1107996"/>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Реализация подобных возможностей позволяет пользователю целиком сосредоточиться на собственно проектировании, не отвлекаясь на решение второстепенных вопросов, связанных с размещением элементов диаграмм, их компонентов и т. п.</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850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315AB987-0E6B-447A-8879-A1D5B76EDE9C}"/>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C22F6AA5-E7EC-4BC3-8CB2-7EE633D84B9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BB3AC27-9A76-4AD7-911A-2D6E1C174D41}"/>
              </a:ext>
            </a:extLst>
          </p:cNvPr>
          <p:cNvSpPr txBox="1"/>
          <p:nvPr/>
        </p:nvSpPr>
        <p:spPr>
          <a:xfrm>
            <a:off x="410918" y="896037"/>
            <a:ext cx="2474973"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Контроль ошибок</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EBCEC87-BFA3-4B29-A86B-913B5B17E62B}"/>
              </a:ext>
            </a:extLst>
          </p:cNvPr>
          <p:cNvSpPr txBox="1"/>
          <p:nvPr/>
        </p:nvSpPr>
        <p:spPr>
          <a:xfrm>
            <a:off x="410917" y="1329048"/>
            <a:ext cx="10970255" cy="1785104"/>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Важность контроля ошибок на этапах анализа требований и проектирования спецификаций обуславливается возможностью их автоматического обнаружения на ранних этапах ЖЦ. CASE обеспечивает автоматическую верификацию и контроль проекта на полноту и состоятельность на ранних этапах ЖЦ, что влияет на успех разработки в целом.</a:t>
            </a:r>
            <a:endParaRPr lang="ru-RU" sz="2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2A52344-6902-4EDE-9CF6-521E297F51A6}"/>
              </a:ext>
            </a:extLst>
          </p:cNvPr>
          <p:cNvSpPr txBox="1"/>
          <p:nvPr/>
        </p:nvSpPr>
        <p:spPr>
          <a:xfrm>
            <a:off x="574089" y="3359128"/>
            <a:ext cx="11043821" cy="2462213"/>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В подтверждение этого можно привести следующие статистические данные, основанные на отчетах фирмы </a:t>
            </a:r>
            <a:r>
              <a:rPr lang="ru-RU" sz="2200" b="1" i="0" dirty="0">
                <a:effectLst/>
                <a:latin typeface="Times New Roman" panose="02020603050405020304" pitchFamily="18" charset="0"/>
                <a:cs typeface="Times New Roman" panose="02020603050405020304" pitchFamily="18" charset="0"/>
              </a:rPr>
              <a:t>TRW</a:t>
            </a:r>
            <a:r>
              <a:rPr lang="ru-RU" sz="2200" b="0" i="0" dirty="0">
                <a:effectLst/>
                <a:latin typeface="Times New Roman" panose="02020603050405020304" pitchFamily="18" charset="0"/>
                <a:cs typeface="Times New Roman" panose="02020603050405020304" pitchFamily="18" charset="0"/>
              </a:rPr>
              <a:t> по анализу 5 крупных проектов</a:t>
            </a:r>
          </a:p>
          <a:p>
            <a:endParaRPr lang="ru-RU" sz="2200" b="0" i="0" dirty="0">
              <a:effectLst/>
              <a:latin typeface="Times New Roman" panose="02020603050405020304" pitchFamily="18" charset="0"/>
              <a:cs typeface="Times New Roman" panose="02020603050405020304" pitchFamily="18" charset="0"/>
            </a:endParaRPr>
          </a:p>
          <a:p>
            <a:r>
              <a:rPr lang="ru-RU" sz="2200" b="0" i="0" dirty="0">
                <a:effectLst/>
                <a:latin typeface="Times New Roman" panose="02020603050405020304" pitchFamily="18" charset="0"/>
                <a:cs typeface="Times New Roman" panose="02020603050405020304" pitchFamily="18" charset="0"/>
              </a:rPr>
              <a:t>— при традиционной организации работ ошибки проектирования и кодирования составляют соответственно 64% и 32% от общего числа ошибок;</a:t>
            </a:r>
            <a:br>
              <a:rPr lang="ru-RU" sz="2200" dirty="0">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ошибки проектирования в 100 раз труднее обнаружить на этапе сопровождения ПО, чем на этапах анализа требований и проектирования спецификаций</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6069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43D23EBE-296D-47FA-83B9-8D08EE9165C0}"/>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11EA1D58-F2B7-4410-9108-098157F5A70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21AFF65-9836-45B2-8193-E4321BB89816}"/>
              </a:ext>
            </a:extLst>
          </p:cNvPr>
          <p:cNvSpPr txBox="1"/>
          <p:nvPr/>
        </p:nvSpPr>
        <p:spPr>
          <a:xfrm>
            <a:off x="408373" y="1047565"/>
            <a:ext cx="11203003" cy="1107996"/>
          </a:xfrm>
          <a:prstGeom prst="rect">
            <a:avLst/>
          </a:prstGeom>
          <a:noFill/>
        </p:spPr>
        <p:txBody>
          <a:bodyPr wrap="none" rtlCol="0">
            <a:spAutoFit/>
          </a:bodyPr>
          <a:lstStyle/>
          <a:p>
            <a:pPr algn="l"/>
            <a:r>
              <a:rPr lang="ru-RU" sz="2200" b="0" i="0" dirty="0">
                <a:effectLst/>
                <a:latin typeface="Times New Roman" panose="02020603050405020304" pitchFamily="18" charset="0"/>
                <a:cs typeface="Times New Roman" panose="02020603050405020304" pitchFamily="18" charset="0"/>
              </a:rPr>
              <a:t>В CASE </a:t>
            </a:r>
            <a:r>
              <a:rPr lang="ru-RU" sz="2200" b="0" i="0" dirty="0" err="1">
                <a:effectLst/>
                <a:latin typeface="Times New Roman" panose="02020603050405020304" pitchFamily="18" charset="0"/>
                <a:cs typeface="Times New Roman" panose="02020603050405020304" pitchFamily="18" charset="0"/>
              </a:rPr>
              <a:t>диаграммеры</a:t>
            </a:r>
            <a:r>
              <a:rPr lang="ru-RU" sz="2200" b="0" i="0" dirty="0">
                <a:effectLst/>
                <a:latin typeface="Times New Roman" panose="02020603050405020304" pitchFamily="18" charset="0"/>
                <a:cs typeface="Times New Roman" panose="02020603050405020304" pitchFamily="18" charset="0"/>
              </a:rPr>
              <a:t> и верификаторы способны осуществлять следующие типы контроля.</a:t>
            </a:r>
          </a:p>
          <a:p>
            <a:br>
              <a:rPr lang="ru-RU" sz="2200" dirty="0">
                <a:latin typeface="Times New Roman" panose="02020603050405020304" pitchFamily="18" charset="0"/>
                <a:cs typeface="Times New Roman" panose="02020603050405020304" pitchFamily="18" charset="0"/>
              </a:rPr>
            </a:b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0164DBB-3E1E-4085-ACA2-7194A4D942FC}"/>
              </a:ext>
            </a:extLst>
          </p:cNvPr>
          <p:cNvSpPr txBox="1"/>
          <p:nvPr/>
        </p:nvSpPr>
        <p:spPr>
          <a:xfrm>
            <a:off x="408373" y="1494616"/>
            <a:ext cx="11080443" cy="2123658"/>
          </a:xfrm>
          <a:prstGeom prst="rect">
            <a:avLst/>
          </a:prstGeom>
          <a:noFill/>
        </p:spPr>
        <p:txBody>
          <a:bodyPr wrap="squar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Контроль синтаксиса диаграмм и типов их элементов </a:t>
            </a:r>
            <a:r>
              <a:rPr lang="ru-RU" sz="2200" b="0" i="0" dirty="0">
                <a:effectLst/>
                <a:latin typeface="Times New Roman" panose="02020603050405020304" pitchFamily="18" charset="0"/>
                <a:cs typeface="Times New Roman" panose="02020603050405020304" pitchFamily="18" charset="0"/>
              </a:rPr>
              <a:t>обычно осуществляется при вводе и редактировании элементов диаграмм.</a:t>
            </a:r>
          </a:p>
          <a:p>
            <a:r>
              <a:rPr lang="ru-RU" sz="2200" i="0" u="sng" dirty="0">
                <a:effectLst/>
                <a:latin typeface="Times New Roman" panose="02020603050405020304" pitchFamily="18" charset="0"/>
                <a:cs typeface="Times New Roman" panose="02020603050405020304" pitchFamily="18" charset="0"/>
              </a:rPr>
              <a:t>Примеры контролируемых ситуаций.</a:t>
            </a:r>
            <a:br>
              <a:rPr lang="ru-RU" sz="2200" dirty="0">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По синтаксису</a:t>
            </a:r>
            <a:r>
              <a:rPr lang="ru-RU" sz="2200" b="0" i="0" dirty="0">
                <a:effectLst/>
                <a:latin typeface="Times New Roman" panose="02020603050405020304" pitchFamily="18" charset="0"/>
                <a:cs typeface="Times New Roman" panose="02020603050405020304" pitchFamily="18" charset="0"/>
              </a:rPr>
              <a:t>: любой функциональный элемент диаграммы должен иметь, по крайней мере, один входной и один выходной поток; два элемента данных могут быть непосредственно связаны.</a:t>
            </a:r>
            <a:endParaRPr lang="ru-RU" sz="2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07834E0-8D62-40B3-AE73-4C03BF70036F}"/>
              </a:ext>
            </a:extLst>
          </p:cNvPr>
          <p:cNvSpPr txBox="1"/>
          <p:nvPr/>
        </p:nvSpPr>
        <p:spPr>
          <a:xfrm>
            <a:off x="411333" y="3575910"/>
            <a:ext cx="11372294" cy="1107996"/>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По типам: </a:t>
            </a:r>
            <a:r>
              <a:rPr lang="ru-RU" sz="2200" b="0" i="0" dirty="0">
                <a:effectLst/>
                <a:latin typeface="Times New Roman" panose="02020603050405020304" pitchFamily="18" charset="0"/>
                <a:cs typeface="Times New Roman" panose="02020603050405020304" pitchFamily="18" charset="0"/>
              </a:rPr>
              <a:t>функциональный элемент должен всегда использоваться для представления процедурной компоненты; поток данных всегда должен быть представлен компонентой данных</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687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6FC244FC-4083-4DDC-9F01-77603CDC52FA}"/>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8F1C9618-F374-4EBE-B4F9-91A01279868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AB41198-CF57-437F-B58C-512EF481E206}"/>
              </a:ext>
            </a:extLst>
          </p:cNvPr>
          <p:cNvSpPr txBox="1"/>
          <p:nvPr/>
        </p:nvSpPr>
        <p:spPr>
          <a:xfrm>
            <a:off x="230820" y="896037"/>
            <a:ext cx="11665858" cy="2800767"/>
          </a:xfrm>
          <a:prstGeom prst="rect">
            <a:avLst/>
          </a:prstGeom>
          <a:noFill/>
        </p:spPr>
        <p:txBody>
          <a:bodyPr wrap="square" rtlCol="0">
            <a:spAutoFit/>
          </a:bodyPr>
          <a:lstStyle/>
          <a:p>
            <a:pPr marL="342900" indent="-342900" algn="l">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Контроль полноты и состоятельности диаграмм:</a:t>
            </a:r>
            <a:r>
              <a:rPr lang="ru-RU" sz="2200" b="0" i="0" dirty="0">
                <a:effectLst/>
                <a:latin typeface="Times New Roman" panose="02020603050405020304" pitchFamily="18" charset="0"/>
                <a:cs typeface="Times New Roman" panose="02020603050405020304" pitchFamily="18" charset="0"/>
              </a:rPr>
              <a:t> все элементы диаграмм должны быть идентифицированы и отражены в репозитории. Например, для DFD контролируются неименованные или несвязанные потоки данных, процессы и хранилища данных; источники и стоки данных (внешние сущности) вне контекстной диаграммы; хранилища данных на контекстной диаграмме и т. п. При анализе словаря данных необходимо выявлять циклические определения, эквивалентные определения, неопределенные объекты.</a:t>
            </a:r>
          </a:p>
          <a:p>
            <a:br>
              <a:rPr lang="ru-RU" sz="2200" dirty="0">
                <a:latin typeface="Times New Roman" panose="02020603050405020304" pitchFamily="18" charset="0"/>
                <a:cs typeface="Times New Roman" panose="02020603050405020304" pitchFamily="18" charset="0"/>
              </a:rPr>
            </a:br>
            <a:endParaRPr lang="ru-RU" sz="2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06AA8D8-0821-4721-B424-9137035CCB64}"/>
              </a:ext>
            </a:extLst>
          </p:cNvPr>
          <p:cNvSpPr txBox="1"/>
          <p:nvPr/>
        </p:nvSpPr>
        <p:spPr>
          <a:xfrm>
            <a:off x="230820" y="3312083"/>
            <a:ext cx="11283518" cy="769441"/>
          </a:xfrm>
          <a:prstGeom prst="rect">
            <a:avLst/>
          </a:prstGeom>
          <a:noFill/>
        </p:spPr>
        <p:txBody>
          <a:bodyPr wrap="squar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Контроль декомпозиции функций</a:t>
            </a:r>
            <a:r>
              <a:rPr lang="ru-RU" sz="2200" b="0" i="0" dirty="0">
                <a:effectLst/>
                <a:latin typeface="Times New Roman" panose="02020603050405020304" pitchFamily="18" charset="0"/>
                <a:cs typeface="Times New Roman" panose="02020603050405020304" pitchFamily="18" charset="0"/>
              </a:rPr>
              <a:t> включает оценку качества на основе различных метрик ПО и частичный семантический контроль.</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809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27CC52BC-43A4-4413-8C99-62B8AE28A524}"/>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27FDC45E-49F7-4760-B7BE-FEE8D131FB7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7D4998F-C98F-4017-9DEF-CEFC0C2923E7}"/>
              </a:ext>
            </a:extLst>
          </p:cNvPr>
          <p:cNvSpPr txBox="1"/>
          <p:nvPr/>
        </p:nvSpPr>
        <p:spPr>
          <a:xfrm>
            <a:off x="295322" y="896037"/>
            <a:ext cx="11601356" cy="4154984"/>
          </a:xfrm>
          <a:prstGeom prst="rect">
            <a:avLst/>
          </a:prstGeom>
          <a:noFill/>
        </p:spPr>
        <p:txBody>
          <a:bodyPr wrap="squar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Сквозной контроль диаграмм</a:t>
            </a:r>
            <a:r>
              <a:rPr lang="ru-RU" sz="2200" b="0" i="0" dirty="0">
                <a:effectLst/>
                <a:latin typeface="Times New Roman" panose="02020603050405020304" pitchFamily="18" charset="0"/>
                <a:cs typeface="Times New Roman" panose="02020603050405020304" pitchFamily="18" charset="0"/>
              </a:rPr>
              <a:t> одного или различных типов на предметах состоятельности по уровням — вертикальное и горизонтальное балансирование диаграмм. При вертикальном балансировании (диаграммы одного типа) выявляются несбалансированные потоки данных между детализируемой и детализирующей диаграммами. Горизонтальное балансирование определяет некорректности между DFD, ERD, STD, словарями данных и мини-спецификациями процессов. Так, при балансировании DFD-ERD контролируется соответствие каждого хранилища данных на DFD сущности или отношениям на ERD. Контроль DFD-STD осуществляется по следующим правилам: каждый управляющий процесс на DFD детализируется спецификацией управления STD, и наоборот, каждой STD должен соответствовать управляющий процесс; каждое условие (действие) в STD должно соответствовать входному (выходному) управляющему потоку на DFD, и, наоборот, каждому управляющему потоку на DFD должна соответствовать STD.</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587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40AD02A1-F7D6-4FB1-ABFB-82C7244DB675}"/>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16B392C9-991F-4427-A187-AF42235236A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607562"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07DC7EB-2EE0-4350-8E78-6BF02873C242}"/>
              </a:ext>
            </a:extLst>
          </p:cNvPr>
          <p:cNvSpPr txBox="1"/>
          <p:nvPr/>
        </p:nvSpPr>
        <p:spPr>
          <a:xfrm>
            <a:off x="295322" y="857896"/>
            <a:ext cx="9896424" cy="769441"/>
          </a:xfrm>
          <a:prstGeom prst="rect">
            <a:avLst/>
          </a:prstGeom>
          <a:noFill/>
        </p:spPr>
        <p:txBody>
          <a:bodyPr wrap="square" rtlCol="0">
            <a:spAutoFit/>
          </a:bodyPr>
          <a:lstStyle/>
          <a:p>
            <a:r>
              <a:rPr lang="ru-RU" sz="2200" b="1" i="1" dirty="0">
                <a:effectLst/>
                <a:latin typeface="Times New Roman" panose="02020603050405020304" pitchFamily="18" charset="0"/>
                <a:cs typeface="Times New Roman" panose="02020603050405020304" pitchFamily="18" charset="0"/>
              </a:rPr>
              <a:t>При балансировании DFD </a:t>
            </a:r>
            <a:r>
              <a:rPr lang="ru-RU" sz="2200" b="0" i="0" dirty="0">
                <a:effectLst/>
                <a:latin typeface="Times New Roman" panose="02020603050405020304" pitchFamily="18" charset="0"/>
                <a:cs typeface="Times New Roman" panose="02020603050405020304" pitchFamily="18" charset="0"/>
              </a:rPr>
              <a:t>словарь данных и мини-спецификация должны проверяться на следующие правила</a:t>
            </a:r>
            <a:r>
              <a:rPr lang="ru-RU" sz="2200" dirty="0">
                <a:latin typeface="quote-cjk-patch"/>
                <a:cs typeface="Times New Roman" panose="02020603050405020304" pitchFamily="18" charset="0"/>
              </a:rPr>
              <a:t>:</a:t>
            </a:r>
            <a:endParaRPr lang="ru-RU" dirty="0"/>
          </a:p>
        </p:txBody>
      </p:sp>
      <p:sp>
        <p:nvSpPr>
          <p:cNvPr id="7" name="TextBox 6">
            <a:extLst>
              <a:ext uri="{FF2B5EF4-FFF2-40B4-BE49-F238E27FC236}">
                <a16:creationId xmlns:a16="http://schemas.microsoft.com/office/drawing/2014/main" id="{6002B719-D69E-46A9-A3CA-3593FF95E0CC}"/>
              </a:ext>
            </a:extLst>
          </p:cNvPr>
          <p:cNvSpPr txBox="1"/>
          <p:nvPr/>
        </p:nvSpPr>
        <p:spPr>
          <a:xfrm>
            <a:off x="361771" y="1612533"/>
            <a:ext cx="11715210" cy="3231654"/>
          </a:xfrm>
          <a:prstGeom prst="rect">
            <a:avLst/>
          </a:prstGeom>
          <a:noFill/>
        </p:spPr>
        <p:txBody>
          <a:bodyPr wrap="square" rtlCol="0">
            <a:spAutoFit/>
          </a:bodyPr>
          <a:lstStyle/>
          <a:p>
            <a:pPr marL="285750" indent="-285750">
              <a:buFont typeface="Arial" panose="020B0604020202020204" pitchFamily="34" charset="0"/>
              <a:buChar char="•"/>
            </a:pPr>
            <a:r>
              <a:rPr lang="ru-RU" sz="2200" b="0" i="0" dirty="0">
                <a:effectLst/>
                <a:latin typeface="quote-cjk-patch"/>
              </a:rPr>
              <a:t> </a:t>
            </a:r>
            <a:r>
              <a:rPr lang="ru-RU" sz="2200" b="0" i="0" dirty="0">
                <a:effectLst/>
                <a:latin typeface="Times New Roman" panose="02020603050405020304" pitchFamily="18" charset="0"/>
                <a:cs typeface="Times New Roman" panose="02020603050405020304" pitchFamily="18" charset="0"/>
              </a:rPr>
              <a:t>каждый поток и хранилище данных должны быть определены в словаре данных (контроль неопределенных значений) и, наоборот, каждое определение в словаре должно быть отражено на диаграмме, в мини-спецификации или другом определении (контроль неиспользуемых значений);</a:t>
            </a:r>
          </a:p>
          <a:p>
            <a:pPr marL="285750" indent="-285750">
              <a:buFont typeface="Arial" panose="020B0604020202020204" pitchFamily="34" charset="0"/>
              <a:buChar char="•"/>
            </a:pPr>
            <a:r>
              <a:rPr lang="ru-RU" sz="2400" b="0" i="0" dirty="0">
                <a:effectLst/>
                <a:latin typeface="Times New Roman" panose="02020603050405020304" pitchFamily="18" charset="0"/>
                <a:cs typeface="Times New Roman" panose="02020603050405020304" pitchFamily="18" charset="0"/>
              </a:rPr>
              <a:t> </a:t>
            </a:r>
            <a:r>
              <a:rPr lang="ru-RU" sz="2200" b="0" i="0" dirty="0">
                <a:effectLst/>
                <a:latin typeface="Times New Roman" panose="02020603050405020304" pitchFamily="18" charset="0"/>
                <a:cs typeface="Times New Roman" panose="02020603050405020304" pitchFamily="18" charset="0"/>
              </a:rPr>
              <a:t>каждый процесс на DFD должен детализироваться с помощью DFD или мини-спецификации (но не тем и другим одновременно) и, наоборот, каждая мини-спецификация должна соответствовать единственному процессу;</a:t>
            </a:r>
          </a:p>
          <a:p>
            <a:pPr marL="285750" indent="-285750">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ссылки к данным в мини-спецификациях должны соответствовать объектам на диаграммах в словаре данных;</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6286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07A8D836-9DE0-4915-99C3-B1C526BC3F41}"/>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FE2F27DC-C7C2-4CBA-A8C1-C3A8F6A89E6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671BDE3-7245-42CE-9F32-A14ACE2BF928}"/>
              </a:ext>
            </a:extLst>
          </p:cNvPr>
          <p:cNvSpPr txBox="1"/>
          <p:nvPr/>
        </p:nvSpPr>
        <p:spPr>
          <a:xfrm>
            <a:off x="362309" y="1043796"/>
            <a:ext cx="11335109" cy="1107996"/>
          </a:xfrm>
          <a:prstGeom prst="rect">
            <a:avLst/>
          </a:prstGeom>
          <a:noFill/>
        </p:spPr>
        <p:txBody>
          <a:bodyPr wrap="square" rtlCol="0">
            <a:spAutoFit/>
          </a:bodyPr>
          <a:lstStyle/>
          <a:p>
            <a:pPr marL="342900" indent="-342900">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по возможности, должна контролироваться семантика мини-спецификации: например, если входные и/или выходные потоки связаны с хранилищем данных, то это должно быть отражено в мини-спецификации (операторами READ, GET, WRITE, PUT и т. п.).</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9A97E99-4226-4C8E-B78F-C1373D93C7BA}"/>
              </a:ext>
            </a:extLst>
          </p:cNvPr>
          <p:cNvSpPr txBox="1"/>
          <p:nvPr/>
        </p:nvSpPr>
        <p:spPr>
          <a:xfrm>
            <a:off x="362309" y="2399973"/>
            <a:ext cx="11162582" cy="1107996"/>
          </a:xfrm>
          <a:prstGeom prst="rect">
            <a:avLst/>
          </a:prstGeom>
          <a:noFill/>
        </p:spPr>
        <p:txBody>
          <a:bodyPr wrap="square" rtlCol="0">
            <a:spAutoFit/>
          </a:bodyPr>
          <a:lstStyle/>
          <a:p>
            <a:pPr marL="342900" indent="-342900">
              <a:buFont typeface="Wingdings" panose="05000000000000000000" pitchFamily="2" charset="2"/>
              <a:buChar char="ü"/>
            </a:pPr>
            <a:r>
              <a:rPr lang="ru-RU" sz="2200" b="1" i="0" dirty="0">
                <a:effectLst/>
                <a:latin typeface="Times New Roman" panose="02020603050405020304" pitchFamily="18" charset="0"/>
                <a:cs typeface="Times New Roman" panose="02020603050405020304" pitchFamily="18" charset="0"/>
              </a:rPr>
              <a:t>Документатор проекта</a:t>
            </a:r>
            <a:r>
              <a:rPr lang="ru-RU" sz="2200" b="0" i="0" dirty="0">
                <a:effectLst/>
                <a:latin typeface="Times New Roman" panose="02020603050405020304" pitchFamily="18" charset="0"/>
                <a:cs typeface="Times New Roman" panose="02020603050405020304" pitchFamily="18" charset="0"/>
              </a:rPr>
              <a:t> позволяет получать информацию о состоянии проекта в виде различных отчетов. Отчеты могут строиться по нескольким признакам, например по времени, автору, элементам диаграмм; по диаграмме или проекту в целом.</a:t>
            </a:r>
            <a:endParaRPr lang="ru-RU" sz="2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4B28D31-43FF-44EC-8D04-864F9294CEB2}"/>
              </a:ext>
            </a:extLst>
          </p:cNvPr>
          <p:cNvSpPr txBox="1"/>
          <p:nvPr/>
        </p:nvSpPr>
        <p:spPr>
          <a:xfrm>
            <a:off x="360020" y="3622957"/>
            <a:ext cx="11335108" cy="2462213"/>
          </a:xfrm>
          <a:prstGeom prst="rect">
            <a:avLst/>
          </a:prstGeom>
          <a:noFill/>
        </p:spPr>
        <p:txBody>
          <a:bodyPr wrap="square" rtlCol="0">
            <a:spAutoFit/>
          </a:bodyPr>
          <a:lstStyle/>
          <a:p>
            <a:pPr marL="342900" indent="-342900">
              <a:buFont typeface="Wingdings" panose="05000000000000000000" pitchFamily="2" charset="2"/>
              <a:buChar char="ü"/>
            </a:pPr>
            <a:r>
              <a:rPr lang="ru-RU" sz="2200" b="1" i="0" dirty="0">
                <a:effectLst/>
                <a:latin typeface="Times New Roman" panose="02020603050405020304" pitchFamily="18" charset="0"/>
                <a:cs typeface="Times New Roman" panose="02020603050405020304" pitchFamily="18" charset="0"/>
              </a:rPr>
              <a:t>Администратор проекта</a:t>
            </a:r>
            <a:r>
              <a:rPr lang="ru-RU" sz="2200" b="0" i="0" dirty="0">
                <a:effectLst/>
                <a:latin typeface="Times New Roman" panose="02020603050405020304" pitchFamily="18" charset="0"/>
                <a:cs typeface="Times New Roman" panose="02020603050405020304" pitchFamily="18" charset="0"/>
              </a:rPr>
              <a:t> представляет собой инструменты, необходимые для выполнения следующих административных функций:</a:t>
            </a:r>
          </a:p>
          <a:p>
            <a:pPr marL="361950" indent="268288" algn="l">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инициализация проекта;</a:t>
            </a:r>
          </a:p>
          <a:p>
            <a:pPr marL="361950" indent="268288" algn="l">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задание начальных параметров проекта;</a:t>
            </a:r>
          </a:p>
          <a:p>
            <a:pPr marL="361950" indent="268288" algn="l">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назначение и изменение прав доступа к элементам проекта;</a:t>
            </a:r>
          </a:p>
          <a:p>
            <a:pPr marL="361950" indent="268288" algn="l">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мониторинг выполнения проекта.</a:t>
            </a:r>
          </a:p>
          <a:p>
            <a:pPr marL="342900" indent="-342900">
              <a:buFont typeface="Wingdings" panose="05000000000000000000" pitchFamily="2" charset="2"/>
              <a:buChar char="ü"/>
            </a:pP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3826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311827AC-C167-4AFC-B59B-0518150C6F33}"/>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981D25B6-287B-498D-9688-74694AC2F20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EEFB968-3508-44B5-A4A7-E93BC18C1F71}"/>
              </a:ext>
            </a:extLst>
          </p:cNvPr>
          <p:cNvSpPr txBox="1"/>
          <p:nvPr/>
        </p:nvSpPr>
        <p:spPr>
          <a:xfrm>
            <a:off x="414068" y="1009291"/>
            <a:ext cx="11171207" cy="2123658"/>
          </a:xfrm>
          <a:prstGeom prst="rect">
            <a:avLst/>
          </a:prstGeom>
          <a:noFill/>
        </p:spPr>
        <p:txBody>
          <a:bodyPr wrap="square" rtlCol="0">
            <a:spAutoFit/>
          </a:bodyPr>
          <a:lstStyle/>
          <a:p>
            <a:pPr marL="342900" indent="-342900">
              <a:buFont typeface="Wingdings" panose="05000000000000000000" pitchFamily="2" charset="2"/>
              <a:buChar char="ü"/>
            </a:pPr>
            <a:r>
              <a:rPr lang="ru-RU" sz="2200" b="1" i="0" dirty="0">
                <a:effectLst/>
                <a:latin typeface="Times New Roman" panose="02020603050405020304" pitchFamily="18" charset="0"/>
                <a:cs typeface="Times New Roman" panose="02020603050405020304" pitchFamily="18" charset="0"/>
              </a:rPr>
              <a:t>Сервис</a:t>
            </a:r>
            <a:r>
              <a:rPr lang="ru-RU" sz="2200" b="0" i="0" dirty="0">
                <a:effectLst/>
                <a:latin typeface="Times New Roman" panose="02020603050405020304" pitchFamily="18" charset="0"/>
                <a:cs typeface="Times New Roman" panose="02020603050405020304" pitchFamily="18" charset="0"/>
              </a:rPr>
              <a:t> представляет собой набор системных утилит по обслуживанию репозитория. Данные утилиты выполняют следующие функции:</a:t>
            </a:r>
          </a:p>
          <a:p>
            <a:pPr marL="85725" indent="276225" algn="l">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архивации данных;</a:t>
            </a:r>
          </a:p>
          <a:p>
            <a:pPr marL="85725" indent="276225" algn="l">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восстановления данных;</a:t>
            </a:r>
          </a:p>
          <a:p>
            <a:pPr marL="85725" indent="276225" algn="l">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создания нового репозитория.</a:t>
            </a:r>
          </a:p>
          <a:p>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37C8322-7ED8-4EFF-BE72-0B73FD2FA144}"/>
              </a:ext>
            </a:extLst>
          </p:cNvPr>
          <p:cNvSpPr txBox="1"/>
          <p:nvPr/>
        </p:nvSpPr>
        <p:spPr>
          <a:xfrm>
            <a:off x="320728" y="2796596"/>
            <a:ext cx="5232394"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Организация и поддержка репозитория</a:t>
            </a:r>
            <a:endParaRPr lang="ru-RU" sz="2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8E3A7F2-0D32-48D4-8CC8-7E64C226CA5C}"/>
              </a:ext>
            </a:extLst>
          </p:cNvPr>
          <p:cNvSpPr txBox="1"/>
          <p:nvPr/>
        </p:nvSpPr>
        <p:spPr>
          <a:xfrm>
            <a:off x="320728" y="3227483"/>
            <a:ext cx="11644110" cy="2800767"/>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Основные функции средства организации и поддержки репозитория </a:t>
            </a:r>
            <a:r>
              <a:rPr lang="ru-RU" sz="2200" b="0" i="0" dirty="0">
                <a:effectLst/>
                <a:latin typeface="Times New Roman" panose="02020603050405020304" pitchFamily="18" charset="0"/>
                <a:cs typeface="Times New Roman" panose="02020603050405020304" pitchFamily="18" charset="0"/>
              </a:rPr>
              <a:t>— хранение, доступ, обновление, анализ и визуализация всей информации по проекту ИС. Содержимое репозитория включает не только информационные объекты различных типов, но и отношения между их компонентами, а также правила использования или обработки этих компонент (рис.4). Репозиторий может хранить свыше 100 типов объектов, примерами которых являются структурные диаграммы, определения экранов и меню, проекты отчетов, описания данных, логика обработки, модели данных, модели организации, модели обработки, исходные коды, элементы данных и т. п.</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1614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7E1BD14E-0150-4694-988D-C6327788C684}"/>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5CA6D9F9-5427-45CF-8F50-B1E76DA45E1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59D1972-04AD-4018-A6C3-A535DCD4E90C}"/>
              </a:ext>
            </a:extLst>
          </p:cNvPr>
          <p:cNvSpPr txBox="1"/>
          <p:nvPr/>
        </p:nvSpPr>
        <p:spPr>
          <a:xfrm>
            <a:off x="364333" y="896037"/>
            <a:ext cx="11601356" cy="2462213"/>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Каждый информационный объект в репозитории описывается перечислением его свойств: идентификатор, имена-синонимы, тип, текстовое описание, компоненты, файл-хранилище, область значений. Кроме того, хранятся все отношения с другими объектами (например, все объекты, в которых данный объект используется; все перекрестные ссылки), правила формирования и редактирования объекта, а также контрольная информация о времени порождения объекта, времени его последнего обновления, кем и в каком проекте он был порожден, номер версии, возможности обновления и т. п.</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76160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BCD65FEC-D4CB-4F15-96A3-1309F8EFCC8E}"/>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F2CE7446-025B-48BB-A9A2-5D24E9FC3ED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8374DD1D-2ED2-49BC-906D-3F0DA5D0F6DF}"/>
              </a:ext>
            </a:extLst>
          </p:cNvPr>
          <p:cNvPicPr>
            <a:picLocks noChangeAspect="1"/>
          </p:cNvPicPr>
          <p:nvPr/>
        </p:nvPicPr>
        <p:blipFill>
          <a:blip r:embed="rId4"/>
          <a:stretch>
            <a:fillRect/>
          </a:stretch>
        </p:blipFill>
        <p:spPr>
          <a:xfrm>
            <a:off x="475247" y="1456106"/>
            <a:ext cx="3536170" cy="3805359"/>
          </a:xfrm>
          <a:prstGeom prst="rect">
            <a:avLst/>
          </a:prstGeom>
        </p:spPr>
      </p:pic>
      <p:sp>
        <p:nvSpPr>
          <p:cNvPr id="8" name="TextBox 7">
            <a:extLst>
              <a:ext uri="{FF2B5EF4-FFF2-40B4-BE49-F238E27FC236}">
                <a16:creationId xmlns:a16="http://schemas.microsoft.com/office/drawing/2014/main" id="{F795910D-E251-42CC-A86C-67B3CA370947}"/>
              </a:ext>
            </a:extLst>
          </p:cNvPr>
          <p:cNvSpPr txBox="1"/>
          <p:nvPr/>
        </p:nvSpPr>
        <p:spPr>
          <a:xfrm>
            <a:off x="377499" y="5300284"/>
            <a:ext cx="4729628" cy="430887"/>
          </a:xfrm>
          <a:prstGeom prst="rect">
            <a:avLst/>
          </a:prstGeom>
          <a:noFill/>
        </p:spPr>
        <p:txBody>
          <a:bodyPr wrap="none" rtlCol="0">
            <a:spAutoFit/>
          </a:bodyPr>
          <a:lstStyle/>
          <a:p>
            <a:r>
              <a:rPr lang="ru-RU" sz="2200" dirty="0">
                <a:latin typeface="Times New Roman" panose="02020603050405020304" pitchFamily="18" charset="0"/>
                <a:cs typeface="Times New Roman" panose="02020603050405020304" pitchFamily="18" charset="0"/>
              </a:rPr>
              <a:t>Рисунок 4 – Содержание репозитория</a:t>
            </a:r>
          </a:p>
        </p:txBody>
      </p:sp>
      <p:sp>
        <p:nvSpPr>
          <p:cNvPr id="9" name="TextBox 8">
            <a:extLst>
              <a:ext uri="{FF2B5EF4-FFF2-40B4-BE49-F238E27FC236}">
                <a16:creationId xmlns:a16="http://schemas.microsoft.com/office/drawing/2014/main" id="{0249B7D8-BD69-43AF-BCE0-9E0C6ED22B24}"/>
              </a:ext>
            </a:extLst>
          </p:cNvPr>
          <p:cNvSpPr txBox="1"/>
          <p:nvPr/>
        </p:nvSpPr>
        <p:spPr>
          <a:xfrm>
            <a:off x="5107127" y="1166550"/>
            <a:ext cx="5986732" cy="3816429"/>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На основе репозитория осуществляется интеграция CASE-средств и разделение системной информации между разработчиками. При этом возможности репозитория обеспечивают несколько уровней интеграции: общий пользовательский интерфейс по всем средствам, передачу данных между средствами, интеграцию этапов разработки через единую систему представлений фаз ЖЦ, передачу данных и средств между аппаратурными платформами</a:t>
            </a:r>
            <a:r>
              <a:rPr lang="ru-RU" sz="2200" dirty="0">
                <a:solidFill>
                  <a:srgbClr val="F9FAFB"/>
                </a:solidFill>
                <a:latin typeface="quote-cjk-patch"/>
                <a:cs typeface="Times New Roman" panose="02020603050405020304" pitchFamily="18" charset="0"/>
              </a:rPr>
              <a:t>.</a:t>
            </a:r>
            <a:endParaRPr lang="ru-RU" dirty="0"/>
          </a:p>
        </p:txBody>
      </p:sp>
    </p:spTree>
    <p:extLst>
      <p:ext uri="{BB962C8B-B14F-4D97-AF65-F5344CB8AC3E}">
        <p14:creationId xmlns:p14="http://schemas.microsoft.com/office/powerpoint/2010/main" val="3686055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6F140E10-162F-4EBF-B4CA-B6CC12E2A990}"/>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63CA532F-6CD9-4C87-BACB-3E299BE2106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7482081-F568-4B5A-ABFD-422AC01C7166}"/>
              </a:ext>
            </a:extLst>
          </p:cNvPr>
          <p:cNvSpPr txBox="1"/>
          <p:nvPr/>
        </p:nvSpPr>
        <p:spPr>
          <a:xfrm>
            <a:off x="405443" y="1035169"/>
            <a:ext cx="11093568" cy="2800767"/>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Репозиторий является базой для стандартизации документации по проекту и контроля состоятельности проектных спецификаций. Все отчеты строятся автоматически по репозиторию.</a:t>
            </a:r>
          </a:p>
          <a:p>
            <a:endParaRPr lang="ru-RU" sz="2200" b="0" i="0" dirty="0">
              <a:effectLst/>
              <a:latin typeface="Times New Roman" panose="02020603050405020304" pitchFamily="18" charset="0"/>
              <a:cs typeface="Times New Roman" panose="02020603050405020304" pitchFamily="18" charset="0"/>
            </a:endParaRPr>
          </a:p>
          <a:p>
            <a:r>
              <a:rPr lang="ru-RU" sz="2200" b="0" i="0" dirty="0">
                <a:effectLst/>
                <a:latin typeface="Times New Roman" panose="02020603050405020304" pitchFamily="18" charset="0"/>
                <a:cs typeface="Times New Roman" panose="02020603050405020304" pitchFamily="18" charset="0"/>
              </a:rPr>
              <a:t>Важные функции управления и контроля проекта также реализуются на основе репозитория. В частности, через репозиторий может осуществляться контроль безопасности (ограничения доступа, привилегии доступа), контроль версий, контроль изменений и др.</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7361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A4943438-68F9-47F7-821E-BAAD6B74573F}"/>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61B85920-719B-4521-8109-F6B90C43D49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85935F3-DA5A-4733-91EC-956833172F37}"/>
              </a:ext>
            </a:extLst>
          </p:cNvPr>
          <p:cNvSpPr txBox="1"/>
          <p:nvPr/>
        </p:nvSpPr>
        <p:spPr>
          <a:xfrm>
            <a:off x="295322" y="811730"/>
            <a:ext cx="5222392"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Классификация и выбор </a:t>
            </a:r>
            <a:r>
              <a:rPr lang="af-ZA" sz="2200" b="1" i="0" dirty="0">
                <a:effectLst/>
                <a:latin typeface="Times New Roman" panose="02020603050405020304" pitchFamily="18" charset="0"/>
                <a:cs typeface="Times New Roman" panose="02020603050405020304" pitchFamily="18" charset="0"/>
              </a:rPr>
              <a:t>CASE-</a:t>
            </a:r>
            <a:r>
              <a:rPr lang="ru-RU" sz="2200" b="1" i="0" dirty="0">
                <a:effectLst/>
                <a:latin typeface="Times New Roman" panose="02020603050405020304" pitchFamily="18" charset="0"/>
                <a:cs typeface="Times New Roman" panose="02020603050405020304" pitchFamily="18" charset="0"/>
              </a:rPr>
              <a:t>средств</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629FAAB-EB15-40B6-8925-35E7379724ED}"/>
              </a:ext>
            </a:extLst>
          </p:cNvPr>
          <p:cNvSpPr txBox="1"/>
          <p:nvPr/>
        </p:nvSpPr>
        <p:spPr>
          <a:xfrm>
            <a:off x="295322" y="1242617"/>
            <a:ext cx="4112023"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Классификация </a:t>
            </a:r>
            <a:r>
              <a:rPr lang="af-ZA" sz="2200" b="1" i="0" dirty="0">
                <a:effectLst/>
                <a:latin typeface="Times New Roman" panose="02020603050405020304" pitchFamily="18" charset="0"/>
                <a:cs typeface="Times New Roman" panose="02020603050405020304" pitchFamily="18" charset="0"/>
              </a:rPr>
              <a:t>CASE-</a:t>
            </a:r>
            <a:r>
              <a:rPr lang="ru-RU" sz="2200" b="1" i="0" dirty="0">
                <a:effectLst/>
                <a:latin typeface="Times New Roman" panose="02020603050405020304" pitchFamily="18" charset="0"/>
                <a:cs typeface="Times New Roman" panose="02020603050405020304" pitchFamily="18" charset="0"/>
              </a:rPr>
              <a:t>средств</a:t>
            </a:r>
            <a:endParaRPr lang="ru-RU" sz="2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5D3DB07-E6B0-424E-A04C-44BE7A28782C}"/>
              </a:ext>
            </a:extLst>
          </p:cNvPr>
          <p:cNvSpPr txBox="1"/>
          <p:nvPr/>
        </p:nvSpPr>
        <p:spPr>
          <a:xfrm>
            <a:off x="295322" y="1566367"/>
            <a:ext cx="11007305" cy="769441"/>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Рассматривая современные CASE-системы, следует остановиться на их классификации. Будем классифицировать эти системы по следующим признакам:</a:t>
            </a:r>
            <a:endParaRPr lang="ru-RU" sz="2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DD691D5-6E1B-41FA-9951-E324D6A123DD}"/>
              </a:ext>
            </a:extLst>
          </p:cNvPr>
          <p:cNvSpPr txBox="1"/>
          <p:nvPr/>
        </p:nvSpPr>
        <p:spPr>
          <a:xfrm>
            <a:off x="592347" y="2413337"/>
            <a:ext cx="11007305" cy="3477875"/>
          </a:xfrm>
          <a:prstGeom prst="rect">
            <a:avLst/>
          </a:prstGeom>
          <a:noFill/>
        </p:spPr>
        <p:txBody>
          <a:bodyPr wrap="square" rtlCol="0">
            <a:spAutoFit/>
          </a:bodyPr>
          <a:lstStyle/>
          <a:p>
            <a:pPr marL="285750" indent="-285750">
              <a:buFont typeface="Wingdings" panose="05000000000000000000" pitchFamily="2" charset="2"/>
              <a:buChar char="ü"/>
            </a:pPr>
            <a:r>
              <a:rPr lang="ru-RU" sz="2200" b="0" i="0" dirty="0">
                <a:effectLst/>
                <a:latin typeface="Times New Roman" panose="02020603050405020304" pitchFamily="18" charset="0"/>
                <a:cs typeface="Times New Roman" panose="02020603050405020304" pitchFamily="18" charset="0"/>
              </a:rPr>
              <a:t> по поддерживаемым </a:t>
            </a:r>
            <a:r>
              <a:rPr lang="ru-RU" sz="2200" b="1" i="0" dirty="0">
                <a:effectLst/>
                <a:latin typeface="Times New Roman" panose="02020603050405020304" pitchFamily="18" charset="0"/>
                <a:cs typeface="Times New Roman" panose="02020603050405020304" pitchFamily="18" charset="0"/>
              </a:rPr>
              <a:t>методологиям проектирования</a:t>
            </a:r>
            <a:r>
              <a:rPr lang="ru-RU" sz="2200" b="0" i="0" dirty="0">
                <a:effectLst/>
                <a:latin typeface="Times New Roman" panose="02020603050405020304" pitchFamily="18" charset="0"/>
                <a:cs typeface="Times New Roman" panose="02020603050405020304" pitchFamily="18" charset="0"/>
              </a:rPr>
              <a:t>: структурно-ориентированные, объектно-ориентированные и комплексно-ориентированные (набор методологий проектирования);</a:t>
            </a:r>
          </a:p>
          <a:p>
            <a:pPr marL="342900" indent="-342900">
              <a:buFont typeface="Wingdings" panose="05000000000000000000" pitchFamily="2" charset="2"/>
              <a:buChar char="ü"/>
            </a:pPr>
            <a:r>
              <a:rPr lang="ru-RU" sz="2200" b="0" i="0" dirty="0">
                <a:effectLst/>
                <a:latin typeface="Times New Roman" panose="02020603050405020304" pitchFamily="18" charset="0"/>
                <a:cs typeface="Times New Roman" panose="02020603050405020304" pitchFamily="18" charset="0"/>
              </a:rPr>
              <a:t>по поддерживаемым </a:t>
            </a:r>
            <a:r>
              <a:rPr lang="ru-RU" sz="2200" b="1" i="0" dirty="0">
                <a:effectLst/>
                <a:latin typeface="Times New Roman" panose="02020603050405020304" pitchFamily="18" charset="0"/>
                <a:cs typeface="Times New Roman" panose="02020603050405020304" pitchFamily="18" charset="0"/>
              </a:rPr>
              <a:t>графическим нотациям</a:t>
            </a:r>
            <a:r>
              <a:rPr lang="ru-RU" sz="2200" b="0" i="0" dirty="0">
                <a:effectLst/>
                <a:latin typeface="Times New Roman" panose="02020603050405020304" pitchFamily="18" charset="0"/>
                <a:cs typeface="Times New Roman" panose="02020603050405020304" pitchFamily="18" charset="0"/>
              </a:rPr>
              <a:t> построения диаграмм: с фиксированной нотацией, с отдельными нотациями и наиболее распространенными нотациями;</a:t>
            </a:r>
          </a:p>
          <a:p>
            <a:pPr marL="342900" indent="-342900">
              <a:buFont typeface="Wingdings" panose="05000000000000000000" pitchFamily="2" charset="2"/>
              <a:buChar char="ü"/>
            </a:pPr>
            <a:endParaRPr lang="ru-RU" sz="2200" b="0" i="0" dirty="0">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ru-RU" sz="2200" b="0" i="0" dirty="0">
                <a:effectLst/>
                <a:latin typeface="Times New Roman" panose="02020603050405020304" pitchFamily="18" charset="0"/>
                <a:cs typeface="Times New Roman" panose="02020603050405020304" pitchFamily="18" charset="0"/>
              </a:rPr>
              <a:t>по </a:t>
            </a:r>
            <a:r>
              <a:rPr lang="ru-RU" sz="2200" b="1" i="0" dirty="0">
                <a:effectLst/>
                <a:latin typeface="Times New Roman" panose="02020603050405020304" pitchFamily="18" charset="0"/>
                <a:cs typeface="Times New Roman" panose="02020603050405020304" pitchFamily="18" charset="0"/>
              </a:rPr>
              <a:t>степени интегрированности</a:t>
            </a:r>
            <a:r>
              <a:rPr lang="ru-RU" sz="2200" b="0" i="0" dirty="0">
                <a:effectLst/>
                <a:latin typeface="Times New Roman" panose="02020603050405020304" pitchFamily="18" charset="0"/>
                <a:cs typeface="Times New Roman" panose="02020603050405020304" pitchFamily="18" charset="0"/>
              </a:rPr>
              <a:t>: </a:t>
            </a:r>
            <a:r>
              <a:rPr lang="ru-RU" sz="2200" b="0" i="0" dirty="0" err="1">
                <a:effectLst/>
                <a:latin typeface="Times New Roman" panose="02020603050405020304" pitchFamily="18" charset="0"/>
                <a:cs typeface="Times New Roman" panose="02020603050405020304" pitchFamily="18" charset="0"/>
              </a:rPr>
              <a:t>tools</a:t>
            </a:r>
            <a:r>
              <a:rPr lang="ru-RU" sz="2200" b="0" i="0" dirty="0">
                <a:effectLst/>
                <a:latin typeface="Times New Roman" panose="02020603050405020304" pitchFamily="18" charset="0"/>
                <a:cs typeface="Times New Roman" panose="02020603050405020304" pitchFamily="18" charset="0"/>
              </a:rPr>
              <a:t> (отдельные локальные средства), </a:t>
            </a:r>
            <a:r>
              <a:rPr lang="ru-RU" sz="2200" b="0" i="0" dirty="0" err="1">
                <a:effectLst/>
                <a:latin typeface="Times New Roman" panose="02020603050405020304" pitchFamily="18" charset="0"/>
                <a:cs typeface="Times New Roman" panose="02020603050405020304" pitchFamily="18" charset="0"/>
              </a:rPr>
              <a:t>toolkit</a:t>
            </a:r>
            <a:r>
              <a:rPr lang="ru-RU" sz="2200" b="0" i="0" dirty="0">
                <a:effectLst/>
                <a:latin typeface="Times New Roman" panose="02020603050405020304" pitchFamily="18" charset="0"/>
                <a:cs typeface="Times New Roman" panose="02020603050405020304" pitchFamily="18" charset="0"/>
              </a:rPr>
              <a:t> (набор </a:t>
            </a:r>
            <a:r>
              <a:rPr lang="ru-RU" sz="2200" b="0" i="0" dirty="0" err="1">
                <a:effectLst/>
                <a:latin typeface="Times New Roman" panose="02020603050405020304" pitchFamily="18" charset="0"/>
                <a:cs typeface="Times New Roman" panose="02020603050405020304" pitchFamily="18" charset="0"/>
              </a:rPr>
              <a:t>неинтегрированных</a:t>
            </a:r>
            <a:r>
              <a:rPr lang="ru-RU" sz="2200" b="0" i="0" dirty="0">
                <a:effectLst/>
                <a:latin typeface="Times New Roman" panose="02020603050405020304" pitchFamily="18" charset="0"/>
                <a:cs typeface="Times New Roman" panose="02020603050405020304" pitchFamily="18" charset="0"/>
              </a:rPr>
              <a:t> средств, охватывающих большинство этапов разработки ЭИС) и </a:t>
            </a:r>
            <a:r>
              <a:rPr lang="ru-RU" sz="2200" b="0" i="0" dirty="0" err="1">
                <a:effectLst/>
                <a:latin typeface="Times New Roman" panose="02020603050405020304" pitchFamily="18" charset="0"/>
                <a:cs typeface="Times New Roman" panose="02020603050405020304" pitchFamily="18" charset="0"/>
              </a:rPr>
              <a:t>workbench</a:t>
            </a:r>
            <a:r>
              <a:rPr lang="ru-RU" sz="2200" b="0" i="0" dirty="0">
                <a:effectLst/>
                <a:latin typeface="Times New Roman" panose="02020603050405020304" pitchFamily="18" charset="0"/>
                <a:cs typeface="Times New Roman" panose="02020603050405020304" pitchFamily="18" charset="0"/>
              </a:rPr>
              <a:t> (полностью интегрированные средства, связанные общей базой проектных данных — репозиторием);</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8990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76B3EF04-287C-4E16-8902-B2ACF97F583B}"/>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8EC88ACB-F2B0-4FD6-B59F-CC3914BC6BF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94AD00B-4D0F-41D5-B96A-24668202A73F}"/>
              </a:ext>
            </a:extLst>
          </p:cNvPr>
          <p:cNvSpPr txBox="1"/>
          <p:nvPr/>
        </p:nvSpPr>
        <p:spPr>
          <a:xfrm>
            <a:off x="200431" y="889258"/>
            <a:ext cx="11790285" cy="2462213"/>
          </a:xfrm>
          <a:prstGeom prst="rect">
            <a:avLst/>
          </a:prstGeom>
          <a:noFill/>
        </p:spPr>
        <p:txBody>
          <a:bodyPr wrap="square" rtlCol="0">
            <a:spAutoFit/>
          </a:bodyPr>
          <a:lstStyle/>
          <a:p>
            <a:pPr marL="342900" indent="-342900">
              <a:buFont typeface="Wingdings" panose="05000000000000000000" pitchFamily="2" charset="2"/>
              <a:buChar char="ü"/>
            </a:pPr>
            <a:r>
              <a:rPr lang="ru-RU" sz="2200" b="0" i="0" dirty="0">
                <a:effectLst/>
                <a:latin typeface="Times New Roman" panose="02020603050405020304" pitchFamily="18" charset="0"/>
                <a:cs typeface="Times New Roman" panose="02020603050405020304" pitchFamily="18" charset="0"/>
              </a:rPr>
              <a:t>по </a:t>
            </a:r>
            <a:r>
              <a:rPr lang="ru-RU" sz="2200" b="1" i="0" dirty="0">
                <a:effectLst/>
                <a:latin typeface="Times New Roman" panose="02020603050405020304" pitchFamily="18" charset="0"/>
                <a:cs typeface="Times New Roman" panose="02020603050405020304" pitchFamily="18" charset="0"/>
              </a:rPr>
              <a:t>типу и архитектуре вычислительной техники</a:t>
            </a:r>
            <a:r>
              <a:rPr lang="ru-RU" sz="2200" b="0" i="0" dirty="0">
                <a:effectLst/>
                <a:latin typeface="Times New Roman" panose="02020603050405020304" pitchFamily="18" charset="0"/>
                <a:cs typeface="Times New Roman" panose="02020603050405020304" pitchFamily="18" charset="0"/>
              </a:rPr>
              <a:t>: ориентированные на ПЭВМ, ориентированные на локальную вычислительную сеть (ЛВС), ориентированные на глобальную вычислительную сеть (ГВС) и смешанного типа;</a:t>
            </a:r>
          </a:p>
          <a:p>
            <a:pPr marL="342900" indent="-342900">
              <a:buFont typeface="Wingdings" panose="05000000000000000000" pitchFamily="2" charset="2"/>
              <a:buChar char="ü"/>
            </a:pPr>
            <a:endParaRPr lang="ru-RU" sz="2200" b="0" i="0" dirty="0">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ru-RU" sz="2200" b="0" i="0" dirty="0">
                <a:effectLst/>
                <a:latin typeface="Times New Roman" panose="02020603050405020304" pitchFamily="18" charset="0"/>
                <a:cs typeface="Times New Roman" panose="02020603050405020304" pitchFamily="18" charset="0"/>
              </a:rPr>
              <a:t> по </a:t>
            </a:r>
            <a:r>
              <a:rPr lang="ru-RU" sz="2200" b="1" i="0" dirty="0">
                <a:effectLst/>
                <a:latin typeface="Times New Roman" panose="02020603050405020304" pitchFamily="18" charset="0"/>
                <a:cs typeface="Times New Roman" panose="02020603050405020304" pitchFamily="18" charset="0"/>
              </a:rPr>
              <a:t>режиму коллективной разработки проекта</a:t>
            </a:r>
            <a:r>
              <a:rPr lang="ru-RU" sz="2200" b="0" i="0" dirty="0">
                <a:effectLst/>
                <a:latin typeface="Times New Roman" panose="02020603050405020304" pitchFamily="18" charset="0"/>
                <a:cs typeface="Times New Roman" panose="02020603050405020304" pitchFamily="18" charset="0"/>
              </a:rPr>
              <a:t>: не поддерживающие коллективную разработку, ориентированные на режим реального времени разработки проекта, ориентированные на режим объединения </a:t>
            </a:r>
            <a:r>
              <a:rPr lang="ru-RU" sz="2200" b="0" i="0" dirty="0" err="1">
                <a:effectLst/>
                <a:latin typeface="Times New Roman" panose="02020603050405020304" pitchFamily="18" charset="0"/>
                <a:cs typeface="Times New Roman" panose="02020603050405020304" pitchFamily="18" charset="0"/>
              </a:rPr>
              <a:t>подпроектов</a:t>
            </a:r>
            <a:r>
              <a:rPr lang="ru-RU" sz="2200" b="0" i="0" dirty="0">
                <a:effectLst/>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452D6B3-06E6-4810-A307-8F144189EF10}"/>
              </a:ext>
            </a:extLst>
          </p:cNvPr>
          <p:cNvSpPr txBox="1"/>
          <p:nvPr/>
        </p:nvSpPr>
        <p:spPr>
          <a:xfrm>
            <a:off x="537031" y="3847206"/>
            <a:ext cx="11395495" cy="1107996"/>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Кроме того, CASE-средства можно разделить на типы, категории и уровни.</a:t>
            </a:r>
            <a:br>
              <a:rPr lang="ru-RU" sz="2200" dirty="0">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Классификация по типам отражает функциональную ориентацию CASE-средств в технологическом процессе</a:t>
            </a:r>
            <a:r>
              <a:rPr lang="ru-RU" sz="2200" b="0" i="0" dirty="0">
                <a:effectLst/>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5306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F8A2DCC0-3996-4B4C-AA20-293BBB8D347A}"/>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E81A4507-B03E-48D4-86FE-43E9641770A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8D8F981-C894-4F95-9DC8-6B3897F13857}"/>
              </a:ext>
            </a:extLst>
          </p:cNvPr>
          <p:cNvSpPr txBox="1"/>
          <p:nvPr/>
        </p:nvSpPr>
        <p:spPr>
          <a:xfrm>
            <a:off x="165340" y="1130473"/>
            <a:ext cx="11861319" cy="3477875"/>
          </a:xfrm>
          <a:prstGeom prst="rect">
            <a:avLst/>
          </a:prstGeom>
          <a:noFill/>
        </p:spPr>
        <p:txBody>
          <a:bodyPr wrap="squar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Анализ и проектирование.</a:t>
            </a:r>
            <a:r>
              <a:rPr lang="ru-RU" sz="2200" b="0" i="0" dirty="0">
                <a:effectLst/>
                <a:latin typeface="Times New Roman" panose="02020603050405020304" pitchFamily="18" charset="0"/>
                <a:cs typeface="Times New Roman" panose="02020603050405020304" pitchFamily="18" charset="0"/>
              </a:rPr>
              <a:t> Средства данной группы используются для создания спецификаций системы и ее проектирования, они поддерживают широко известные методологии проектирования. К таким средствам относятся </a:t>
            </a:r>
            <a:r>
              <a:rPr lang="af-ZA" sz="2200" b="0" i="1" dirty="0">
                <a:effectLst/>
                <a:latin typeface="Times New Roman" panose="02020603050405020304" pitchFamily="18" charset="0"/>
                <a:cs typeface="Times New Roman" panose="02020603050405020304" pitchFamily="18" charset="0"/>
              </a:rPr>
              <a:t>CASE </a:t>
            </a:r>
            <a:r>
              <a:rPr lang="ru-RU" sz="2200" b="0" i="1" dirty="0">
                <a:effectLst/>
                <a:latin typeface="Times New Roman" panose="02020603050405020304" pitchFamily="18" charset="0"/>
                <a:cs typeface="Times New Roman" panose="02020603050405020304" pitchFamily="18" charset="0"/>
              </a:rPr>
              <a:t>Аналитик (</a:t>
            </a:r>
            <a:r>
              <a:rPr lang="ru-RU" sz="2200" b="0" i="1" dirty="0" err="1">
                <a:effectLst/>
                <a:latin typeface="Times New Roman" panose="02020603050405020304" pitchFamily="18" charset="0"/>
                <a:cs typeface="Times New Roman" panose="02020603050405020304" pitchFamily="18" charset="0"/>
              </a:rPr>
              <a:t>Эйтекс</a:t>
            </a:r>
            <a:r>
              <a:rPr lang="ru-RU" sz="2200" b="0" i="1" dirty="0">
                <a:effectLst/>
                <a:latin typeface="Times New Roman" panose="02020603050405020304" pitchFamily="18" charset="0"/>
                <a:cs typeface="Times New Roman" panose="02020603050405020304" pitchFamily="18" charset="0"/>
              </a:rPr>
              <a:t>), </a:t>
            </a:r>
            <a:r>
              <a:rPr lang="af-ZA" sz="2200" b="0" i="1" dirty="0">
                <a:effectLst/>
                <a:latin typeface="Times New Roman" panose="02020603050405020304" pitchFamily="18" charset="0"/>
                <a:cs typeface="Times New Roman" panose="02020603050405020304" pitchFamily="18" charset="0"/>
              </a:rPr>
              <a:t>The Developer (ASYST Technologies), POSE (Computer Systems Advisers), ProKit*Workbench (McDonnell Douglas), Excelerator (Index Technology), Design-Aid (Nastec)</a:t>
            </a:r>
            <a:r>
              <a:rPr lang="ru-RU" sz="2200" b="0" i="1" dirty="0">
                <a:effectLst/>
                <a:latin typeface="Times New Roman" panose="02020603050405020304" pitchFamily="18" charset="0"/>
                <a:cs typeface="Times New Roman" panose="02020603050405020304" pitchFamily="18" charset="0"/>
              </a:rPr>
              <a:t>.</a:t>
            </a:r>
            <a:r>
              <a:rPr lang="ru-RU" sz="2200" b="0" i="0" dirty="0">
                <a:effectLst/>
                <a:latin typeface="Times New Roman" panose="02020603050405020304" pitchFamily="18" charset="0"/>
                <a:cs typeface="Times New Roman" panose="02020603050405020304" pitchFamily="18" charset="0"/>
              </a:rPr>
              <a:t>Их целью является определение системных требований и свойств, которыми система должна обладать, а также создание проекта системы, удовлетворяющей этим требованиям и обладающей соответствующими свойствами. На выходе продуцируются спецификации компонент системы и интерфейсов, связывающих эти компоненты, а также «калька» архитектуры системы и детальная «калька» проекта, включающая алгоритмы и определения структур данных.</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8242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B2CFE06B-A364-41F2-B5D9-02C4B9D60A02}"/>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39C8A751-E48A-4B57-8E39-EF7DF4339AC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372ADE1-E052-46C6-8E6A-22477A8BC740}"/>
              </a:ext>
            </a:extLst>
          </p:cNvPr>
          <p:cNvSpPr txBox="1"/>
          <p:nvPr/>
        </p:nvSpPr>
        <p:spPr>
          <a:xfrm>
            <a:off x="295322" y="1011492"/>
            <a:ext cx="11404972" cy="1785104"/>
          </a:xfrm>
          <a:prstGeom prst="rect">
            <a:avLst/>
          </a:prstGeom>
          <a:noFill/>
        </p:spPr>
        <p:txBody>
          <a:bodyPr wrap="squar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Проектирование баз данных и файлов.</a:t>
            </a:r>
            <a:r>
              <a:rPr lang="ru-RU" sz="2200" b="0" i="0" dirty="0">
                <a:effectLst/>
                <a:latin typeface="Times New Roman" panose="02020603050405020304" pitchFamily="18" charset="0"/>
                <a:cs typeface="Times New Roman" panose="02020603050405020304" pitchFamily="18" charset="0"/>
              </a:rPr>
              <a:t> Средства данной группы обеспечивают логическое моделирование данных, автоматическое преобразование моделей данных в Третью Нормальную Форму, автоматическую генерацию схем БД и описаний форматов файлов на уровне программного кода: </a:t>
            </a:r>
            <a:r>
              <a:rPr lang="ru-RU" sz="2200" b="0" i="0" dirty="0" err="1">
                <a:effectLst/>
                <a:latin typeface="Times New Roman" panose="02020603050405020304" pitchFamily="18" charset="0"/>
                <a:cs typeface="Times New Roman" panose="02020603050405020304" pitchFamily="18" charset="0"/>
              </a:rPr>
              <a:t>ERWin</a:t>
            </a:r>
            <a:r>
              <a:rPr lang="ru-RU" sz="2200" b="0" i="0" dirty="0">
                <a:effectLst/>
                <a:latin typeface="Times New Roman" panose="02020603050405020304" pitchFamily="18" charset="0"/>
                <a:cs typeface="Times New Roman" panose="02020603050405020304" pitchFamily="18" charset="0"/>
              </a:rPr>
              <a:t> (Logic Works), </a:t>
            </a:r>
            <a:r>
              <a:rPr lang="ru-RU" sz="2200" b="0" i="0" dirty="0" err="1">
                <a:effectLst/>
                <a:latin typeface="Times New Roman" panose="02020603050405020304" pitchFamily="18" charset="0"/>
                <a:cs typeface="Times New Roman" panose="02020603050405020304" pitchFamily="18" charset="0"/>
              </a:rPr>
              <a:t>Chen</a:t>
            </a:r>
            <a:r>
              <a:rPr lang="ru-RU" sz="2200" b="0" i="0" dirty="0">
                <a:effectLst/>
                <a:latin typeface="Times New Roman" panose="02020603050405020304" pitchFamily="18" charset="0"/>
                <a:cs typeface="Times New Roman" panose="02020603050405020304" pitchFamily="18" charset="0"/>
              </a:rPr>
              <a:t> </a:t>
            </a:r>
            <a:r>
              <a:rPr lang="ru-RU" sz="2200" b="0" i="0" dirty="0" err="1">
                <a:effectLst/>
                <a:latin typeface="Times New Roman" panose="02020603050405020304" pitchFamily="18" charset="0"/>
                <a:cs typeface="Times New Roman" panose="02020603050405020304" pitchFamily="18" charset="0"/>
              </a:rPr>
              <a:t>Toolkit</a:t>
            </a:r>
            <a:r>
              <a:rPr lang="ru-RU" sz="2200" b="0" i="0" dirty="0">
                <a:effectLst/>
                <a:latin typeface="Times New Roman" panose="02020603050405020304" pitchFamily="18" charset="0"/>
                <a:cs typeface="Times New Roman" panose="02020603050405020304" pitchFamily="18" charset="0"/>
              </a:rPr>
              <a:t> (</a:t>
            </a:r>
            <a:r>
              <a:rPr lang="ru-RU" sz="2200" b="0" i="0" dirty="0" err="1">
                <a:effectLst/>
                <a:latin typeface="Times New Roman" panose="02020603050405020304" pitchFamily="18" charset="0"/>
                <a:cs typeface="Times New Roman" panose="02020603050405020304" pitchFamily="18" charset="0"/>
              </a:rPr>
              <a:t>Chen</a:t>
            </a:r>
            <a:r>
              <a:rPr lang="ru-RU" sz="2200" b="0" i="0" dirty="0">
                <a:effectLst/>
                <a:latin typeface="Times New Roman" panose="02020603050405020304" pitchFamily="18" charset="0"/>
                <a:cs typeface="Times New Roman" panose="02020603050405020304" pitchFamily="18" charset="0"/>
              </a:rPr>
              <a:t> &amp; Associates), S-</a:t>
            </a:r>
            <a:r>
              <a:rPr lang="ru-RU" sz="2200" b="0" i="0" dirty="0" err="1">
                <a:effectLst/>
                <a:latin typeface="Times New Roman" panose="02020603050405020304" pitchFamily="18" charset="0"/>
                <a:cs typeface="Times New Roman" panose="02020603050405020304" pitchFamily="18" charset="0"/>
              </a:rPr>
              <a:t>Designor</a:t>
            </a:r>
            <a:r>
              <a:rPr lang="ru-RU" sz="2200" b="0" i="0" dirty="0">
                <a:effectLst/>
                <a:latin typeface="Times New Roman" panose="02020603050405020304" pitchFamily="18" charset="0"/>
                <a:cs typeface="Times New Roman" panose="02020603050405020304" pitchFamily="18" charset="0"/>
              </a:rPr>
              <a:t> (SDP), Designer2000 (Oracle), </a:t>
            </a:r>
            <a:r>
              <a:rPr lang="ru-RU" sz="2200" b="0" i="0" dirty="0" err="1">
                <a:effectLst/>
                <a:latin typeface="Times New Roman" panose="02020603050405020304" pitchFamily="18" charset="0"/>
                <a:cs typeface="Times New Roman" panose="02020603050405020304" pitchFamily="18" charset="0"/>
              </a:rPr>
              <a:t>Silverrun</a:t>
            </a:r>
            <a:r>
              <a:rPr lang="ru-RU" sz="2200" b="0" i="0" dirty="0">
                <a:effectLst/>
                <a:latin typeface="Times New Roman" panose="02020603050405020304" pitchFamily="18" charset="0"/>
                <a:cs typeface="Times New Roman" panose="02020603050405020304" pitchFamily="18" charset="0"/>
              </a:rPr>
              <a:t> (Computer Systems </a:t>
            </a:r>
            <a:r>
              <a:rPr lang="ru-RU" sz="2200" b="0" i="0" dirty="0" err="1">
                <a:effectLst/>
                <a:latin typeface="Times New Roman" panose="02020603050405020304" pitchFamily="18" charset="0"/>
                <a:cs typeface="Times New Roman" panose="02020603050405020304" pitchFamily="18" charset="0"/>
              </a:rPr>
              <a:t>Advisers</a:t>
            </a:r>
            <a:r>
              <a:rPr lang="ru-RU" sz="2200" b="0" i="0" dirty="0">
                <a:effectLst/>
                <a:latin typeface="Times New Roman" panose="02020603050405020304" pitchFamily="18" charset="0"/>
                <a:cs typeface="Times New Roman" panose="02020603050405020304" pitchFamily="18" charset="0"/>
              </a:rPr>
              <a:t>).</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4B6E679-BCDA-4782-9AAA-F0D77C09C641}"/>
              </a:ext>
            </a:extLst>
          </p:cNvPr>
          <p:cNvSpPr txBox="1"/>
          <p:nvPr/>
        </p:nvSpPr>
        <p:spPr>
          <a:xfrm>
            <a:off x="295322" y="3155328"/>
            <a:ext cx="11542142" cy="2800767"/>
          </a:xfrm>
          <a:prstGeom prst="rect">
            <a:avLst/>
          </a:prstGeom>
          <a:noFill/>
        </p:spPr>
        <p:txBody>
          <a:bodyPr wrap="square" rtlCol="0">
            <a:spAutoFit/>
          </a:bodyPr>
          <a:lstStyle/>
          <a:p>
            <a:pPr marL="342900" indent="-342900">
              <a:buFont typeface="Arial" panose="020B0604020202020204" pitchFamily="34" charset="0"/>
              <a:buChar char="•"/>
            </a:pPr>
            <a:r>
              <a:rPr lang="ru-RU" sz="2200" b="1" i="0" dirty="0">
                <a:effectLst/>
                <a:latin typeface="Times New Roman" panose="02020603050405020304" pitchFamily="18" charset="0"/>
                <a:cs typeface="Times New Roman" panose="02020603050405020304" pitchFamily="18" charset="0"/>
              </a:rPr>
              <a:t>Программирование.</a:t>
            </a:r>
            <a:r>
              <a:rPr lang="ru-RU" sz="2200" b="0" i="0" dirty="0">
                <a:effectLst/>
                <a:latin typeface="Times New Roman" panose="02020603050405020304" pitchFamily="18" charset="0"/>
                <a:cs typeface="Times New Roman" panose="02020603050405020304" pitchFamily="18" charset="0"/>
              </a:rPr>
              <a:t> Средства этой группы поддерживают этапы программирования и тестирования, а также автоматическую </a:t>
            </a:r>
            <a:r>
              <a:rPr lang="ru-RU" sz="2200" b="0" i="0" dirty="0" err="1">
                <a:effectLst/>
                <a:latin typeface="Times New Roman" panose="02020603050405020304" pitchFamily="18" charset="0"/>
                <a:cs typeface="Times New Roman" panose="02020603050405020304" pitchFamily="18" charset="0"/>
              </a:rPr>
              <a:t>кодогенерацию</a:t>
            </a:r>
            <a:r>
              <a:rPr lang="ru-RU" sz="2200" b="0" i="0" dirty="0">
                <a:effectLst/>
                <a:latin typeface="Times New Roman" panose="02020603050405020304" pitchFamily="18" charset="0"/>
                <a:cs typeface="Times New Roman" panose="02020603050405020304" pitchFamily="18" charset="0"/>
              </a:rPr>
              <a:t> из спецификаций, получая полностью документированную выполняемую программу: COBOL 2/</a:t>
            </a:r>
            <a:r>
              <a:rPr lang="ru-RU" sz="2200" b="0" i="0" dirty="0" err="1">
                <a:effectLst/>
                <a:latin typeface="Times New Roman" panose="02020603050405020304" pitchFamily="18" charset="0"/>
                <a:cs typeface="Times New Roman" panose="02020603050405020304" pitchFamily="18" charset="0"/>
              </a:rPr>
              <a:t>Workbench</a:t>
            </a:r>
            <a:r>
              <a:rPr lang="ru-RU" sz="2200" b="0" i="0" dirty="0">
                <a:effectLst/>
                <a:latin typeface="Times New Roman" panose="02020603050405020304" pitchFamily="18" charset="0"/>
                <a:cs typeface="Times New Roman" panose="02020603050405020304" pitchFamily="18" charset="0"/>
              </a:rPr>
              <a:t> (</a:t>
            </a:r>
            <a:r>
              <a:rPr lang="ru-RU" sz="2200" b="0" i="0" dirty="0" err="1">
                <a:effectLst/>
                <a:latin typeface="Times New Roman" panose="02020603050405020304" pitchFamily="18" charset="0"/>
                <a:cs typeface="Times New Roman" panose="02020603050405020304" pitchFamily="18" charset="0"/>
              </a:rPr>
              <a:t>Mikro</a:t>
            </a:r>
            <a:r>
              <a:rPr lang="ru-RU" sz="2200" b="0" i="0" dirty="0">
                <a:effectLst/>
                <a:latin typeface="Times New Roman" panose="02020603050405020304" pitchFamily="18" charset="0"/>
                <a:cs typeface="Times New Roman" panose="02020603050405020304" pitchFamily="18" charset="0"/>
              </a:rPr>
              <a:t> Focus), DECASE (DEC), NETRON/CAP (</a:t>
            </a:r>
            <a:r>
              <a:rPr lang="ru-RU" sz="2200" b="0" i="0" dirty="0" err="1">
                <a:effectLst/>
                <a:latin typeface="Times New Roman" panose="02020603050405020304" pitchFamily="18" charset="0"/>
                <a:cs typeface="Times New Roman" panose="02020603050405020304" pitchFamily="18" charset="0"/>
              </a:rPr>
              <a:t>Netron</a:t>
            </a:r>
            <a:r>
              <a:rPr lang="ru-RU" sz="2200" b="0" i="0" dirty="0">
                <a:effectLst/>
                <a:latin typeface="Times New Roman" panose="02020603050405020304" pitchFamily="18" charset="0"/>
                <a:cs typeface="Times New Roman" panose="02020603050405020304" pitchFamily="18" charset="0"/>
              </a:rPr>
              <a:t>), APS (</a:t>
            </a:r>
            <a:r>
              <a:rPr lang="ru-RU" sz="2200" b="0" i="0" dirty="0" err="1">
                <a:effectLst/>
                <a:latin typeface="Times New Roman" panose="02020603050405020304" pitchFamily="18" charset="0"/>
                <a:cs typeface="Times New Roman" panose="02020603050405020304" pitchFamily="18" charset="0"/>
              </a:rPr>
              <a:t>Sage</a:t>
            </a:r>
            <a:r>
              <a:rPr lang="ru-RU" sz="2200" b="0" i="0" dirty="0">
                <a:effectLst/>
                <a:latin typeface="Times New Roman" panose="02020603050405020304" pitchFamily="18" charset="0"/>
                <a:cs typeface="Times New Roman" panose="02020603050405020304" pitchFamily="18" charset="0"/>
              </a:rPr>
              <a:t> Software). Помимо </a:t>
            </a:r>
            <a:r>
              <a:rPr lang="ru-RU" sz="2200" b="0" i="0" dirty="0" err="1">
                <a:effectLst/>
                <a:latin typeface="Times New Roman" panose="02020603050405020304" pitchFamily="18" charset="0"/>
                <a:cs typeface="Times New Roman" panose="02020603050405020304" pitchFamily="18" charset="0"/>
              </a:rPr>
              <a:t>диаграммеров</a:t>
            </a:r>
            <a:r>
              <a:rPr lang="ru-RU" sz="2200" b="0" i="0" dirty="0">
                <a:effectLst/>
                <a:latin typeface="Times New Roman" panose="02020603050405020304" pitchFamily="18" charset="0"/>
                <a:cs typeface="Times New Roman" panose="02020603050405020304" pitchFamily="18" charset="0"/>
              </a:rPr>
              <a:t> различного назначения и средств поддержки работы с репозиторием, в эту группу средств включены и традиционные генераторы кодов, анализаторы кодов (как в статике, так и в динамике), генераторы наборов тестов, анализаторы покрытия тестами, отладчики.</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143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6703127D-9C6B-4CF3-8281-02D94D4F7997}"/>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B5BAED67-14B7-4CA9-AF7D-055CC6F22E7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1DA4A11-4DBD-46E2-9A81-DA38C88FE389}"/>
              </a:ext>
            </a:extLst>
          </p:cNvPr>
          <p:cNvSpPr txBox="1"/>
          <p:nvPr/>
        </p:nvSpPr>
        <p:spPr>
          <a:xfrm>
            <a:off x="295322" y="896037"/>
            <a:ext cx="5566524"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Критерии оценки и выбора CASE-средств</a:t>
            </a:r>
            <a:endParaRPr lang="ru-RU" sz="2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AFFD54D-09E8-44F3-9750-E42579182F85}"/>
              </a:ext>
            </a:extLst>
          </p:cNvPr>
          <p:cNvSpPr txBox="1"/>
          <p:nvPr/>
        </p:nvSpPr>
        <p:spPr>
          <a:xfrm>
            <a:off x="334605" y="1326924"/>
            <a:ext cx="11054481" cy="2462213"/>
          </a:xfrm>
          <a:prstGeom prst="rect">
            <a:avLst/>
          </a:prstGeom>
          <a:noFill/>
        </p:spPr>
        <p:txBody>
          <a:bodyPr wrap="square" rtlCol="0">
            <a:spAutoFit/>
          </a:bodyPr>
          <a:lstStyle/>
          <a:p>
            <a:r>
              <a:rPr lang="ru-RU" sz="2200" b="0" i="1" dirty="0">
                <a:effectLst/>
                <a:latin typeface="Times New Roman" panose="02020603050405020304" pitchFamily="18" charset="0"/>
                <a:cs typeface="Times New Roman" panose="02020603050405020304" pitchFamily="18" charset="0"/>
              </a:rPr>
              <a:t>Стратегия выбора CASE-систем </a:t>
            </a:r>
            <a:r>
              <a:rPr lang="ru-RU" sz="2200" b="0" i="0" dirty="0">
                <a:effectLst/>
                <a:latin typeface="Times New Roman" panose="02020603050405020304" pitchFamily="18" charset="0"/>
                <a:cs typeface="Times New Roman" panose="02020603050405020304" pitchFamily="18" charset="0"/>
              </a:rPr>
              <a:t>для конкретного применения зависит как от целей и потребностей самого проекта, так и от квалификации вовлеченных в процесс проектирования специалистов. В большинстве случаев одно средство не может обеспечить все потребности проекта. Разработчики, как правило, применяют набор средств. Например, одно средство наилучшим образом подходит для анализа, а другое — для проектирования систем. В общем случае при выборе CASE-системы необходимо учитывать различные критерии</a:t>
            </a:r>
            <a:endParaRPr lang="ru-RU" sz="2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CB834EF-B0CD-4B5F-BEE8-0FD5F0EB5E18}"/>
              </a:ext>
            </a:extLst>
          </p:cNvPr>
          <p:cNvSpPr txBox="1"/>
          <p:nvPr/>
        </p:nvSpPr>
        <p:spPr>
          <a:xfrm>
            <a:off x="334605" y="4118775"/>
            <a:ext cx="10718358" cy="769441"/>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Критерии формируют базис для процессов оценки и выбора и могут принимать различные формы:</a:t>
            </a:r>
            <a:endParaRPr lang="ru-RU" sz="2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2A569B7-D253-4F61-A82B-8A62482E49E1}"/>
              </a:ext>
            </a:extLst>
          </p:cNvPr>
          <p:cNvSpPr txBox="1"/>
          <p:nvPr/>
        </p:nvSpPr>
        <p:spPr>
          <a:xfrm>
            <a:off x="381207" y="4823190"/>
            <a:ext cx="11402626" cy="1723549"/>
          </a:xfrm>
          <a:prstGeom prst="rect">
            <a:avLst/>
          </a:prstGeom>
          <a:noFill/>
        </p:spPr>
        <p:txBody>
          <a:bodyPr wrap="square" rtlCol="0">
            <a:spAutoFit/>
          </a:bodyPr>
          <a:lstStyle/>
          <a:p>
            <a:pPr marL="342900" indent="-342900">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числовые меры в широком диапазоне значений, например, объем требуемой памяти;</a:t>
            </a:r>
            <a:endParaRPr lang="en-US" sz="22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ru-RU" sz="2200" b="0" i="0" dirty="0">
                <a:effectLst/>
                <a:latin typeface="Times New Roman" panose="02020603050405020304" pitchFamily="18" charset="0"/>
                <a:cs typeface="Times New Roman" panose="02020603050405020304" pitchFamily="18" charset="0"/>
              </a:rPr>
              <a:t>двоичные меры (истина/ложь, да/нет), например, способность генерации документации в формате </a:t>
            </a:r>
            <a:r>
              <a:rPr lang="ru-RU" sz="2200" b="0" i="0" dirty="0" err="1">
                <a:effectLst/>
                <a:latin typeface="Times New Roman" panose="02020603050405020304" pitchFamily="18" charset="0"/>
                <a:cs typeface="Times New Roman" panose="02020603050405020304" pitchFamily="18" charset="0"/>
              </a:rPr>
              <a:t>Postscript</a:t>
            </a:r>
            <a:r>
              <a:rPr lang="ru-RU" sz="2200" b="0" i="0" dirty="0">
                <a:effectLst/>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endParaRPr lang="ru-RU" sz="2200" b="0" i="0" dirty="0">
              <a:effectLst/>
              <a:latin typeface="Times New Roman" panose="02020603050405020304" pitchFamily="18" charset="0"/>
              <a:cs typeface="Times New Roman" panose="02020603050405020304" pitchFamily="18" charset="0"/>
            </a:endParaRPr>
          </a:p>
          <a:p>
            <a:endParaRPr lang="ru-RU" dirty="0"/>
          </a:p>
        </p:txBody>
      </p:sp>
    </p:spTree>
    <p:extLst>
      <p:ext uri="{BB962C8B-B14F-4D97-AF65-F5344CB8AC3E}">
        <p14:creationId xmlns:p14="http://schemas.microsoft.com/office/powerpoint/2010/main" val="35465608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9472C3FB-CDF0-4A97-9EEC-D0A77EAFF760}"/>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68C4FC88-E497-4DC3-94AF-89CA59D0BFC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F7F7354-A86A-498D-8FB0-12826F611A24}"/>
              </a:ext>
            </a:extLst>
          </p:cNvPr>
          <p:cNvSpPr txBox="1"/>
          <p:nvPr/>
        </p:nvSpPr>
        <p:spPr>
          <a:xfrm>
            <a:off x="295322" y="1001864"/>
            <a:ext cx="11376832" cy="430887"/>
          </a:xfrm>
          <a:prstGeom prst="rect">
            <a:avLst/>
          </a:prstGeom>
          <a:noFill/>
        </p:spPr>
        <p:txBody>
          <a:bodyPr wrap="none" rtlCol="0">
            <a:spAutoFit/>
          </a:bodyPr>
          <a:lstStyle/>
          <a:p>
            <a:r>
              <a:rPr lang="ru-RU" sz="2200" b="0" i="0" dirty="0">
                <a:effectLst/>
                <a:latin typeface="Times New Roman" panose="02020603050405020304" pitchFamily="18" charset="0"/>
                <a:cs typeface="Times New Roman" panose="02020603050405020304" pitchFamily="18" charset="0"/>
              </a:rPr>
              <a:t>Типичный процесс оценки и/или выбора может включать набор критериев различных типов.</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5DF6946-2027-4CBF-867B-D275B9C962FC}"/>
              </a:ext>
            </a:extLst>
          </p:cNvPr>
          <p:cNvSpPr txBox="1"/>
          <p:nvPr/>
        </p:nvSpPr>
        <p:spPr>
          <a:xfrm>
            <a:off x="373712" y="1455732"/>
            <a:ext cx="11465779" cy="2123658"/>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Структура набора критериев приведена на рисунке 5. Каждый критерий должен быть </a:t>
            </a:r>
            <a:r>
              <a:rPr lang="ru-RU" sz="2200" b="0" i="1" dirty="0">
                <a:effectLst/>
                <a:latin typeface="Times New Roman" panose="02020603050405020304" pitchFamily="18" charset="0"/>
                <a:cs typeface="Times New Roman" panose="02020603050405020304" pitchFamily="18" charset="0"/>
              </a:rPr>
              <a:t>выбран и адаптирован экспертом с учетом особенностей конкретного процесса. </a:t>
            </a:r>
            <a:r>
              <a:rPr lang="ru-RU" sz="2200" b="0" i="0" dirty="0">
                <a:effectLst/>
                <a:latin typeface="Times New Roman" panose="02020603050405020304" pitchFamily="18" charset="0"/>
                <a:cs typeface="Times New Roman" panose="02020603050405020304" pitchFamily="18" charset="0"/>
              </a:rPr>
              <a:t>В большинстве случаев только некоторые из множества описанных ниже критериев оказываются приемлемыми для использования, при этом также добавляются дополнительные критерии. Выбор и уточнение набора используемых критериев являются критическим шагом в процессе оценки и/или выбора.</a:t>
            </a:r>
            <a:endParaRPr lang="ru-RU" sz="2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1115A3D-A9C9-42F0-AA73-3E1BB2476D39}"/>
              </a:ext>
            </a:extLst>
          </p:cNvPr>
          <p:cNvSpPr txBox="1"/>
          <p:nvPr/>
        </p:nvSpPr>
        <p:spPr>
          <a:xfrm>
            <a:off x="373712" y="4071540"/>
            <a:ext cx="10893287" cy="1107996"/>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Функциональные характеристики</a:t>
            </a:r>
            <a:br>
              <a:rPr lang="ru-RU" sz="2200" dirty="0">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Данные критерии предназначены для определения функциональных характеристик CASE-средства. Они, в свою очередь, подразделяются на ряд групп и подгрупп.</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0811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5422A6EE-089C-4579-B535-63D5F04B46A0}"/>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ABFCC453-ADA6-47A5-AA65-AD6196B4D58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57DD4B92-A59D-4E67-91F4-E23B213A9AF4}"/>
              </a:ext>
            </a:extLst>
          </p:cNvPr>
          <p:cNvPicPr>
            <a:picLocks noChangeAspect="1"/>
          </p:cNvPicPr>
          <p:nvPr/>
        </p:nvPicPr>
        <p:blipFill>
          <a:blip r:embed="rId4"/>
          <a:stretch>
            <a:fillRect/>
          </a:stretch>
        </p:blipFill>
        <p:spPr>
          <a:xfrm>
            <a:off x="1381078" y="811034"/>
            <a:ext cx="6364646" cy="5724858"/>
          </a:xfrm>
          <a:prstGeom prst="rect">
            <a:avLst/>
          </a:prstGeom>
        </p:spPr>
      </p:pic>
      <p:sp>
        <p:nvSpPr>
          <p:cNvPr id="8" name="TextBox 7">
            <a:extLst>
              <a:ext uri="{FF2B5EF4-FFF2-40B4-BE49-F238E27FC236}">
                <a16:creationId xmlns:a16="http://schemas.microsoft.com/office/drawing/2014/main" id="{FA2D5D4A-1774-4377-9203-E2E45CBC58CD}"/>
              </a:ext>
            </a:extLst>
          </p:cNvPr>
          <p:cNvSpPr txBox="1"/>
          <p:nvPr/>
        </p:nvSpPr>
        <p:spPr>
          <a:xfrm>
            <a:off x="6799519" y="6320448"/>
            <a:ext cx="5124416" cy="430887"/>
          </a:xfrm>
          <a:prstGeom prst="rect">
            <a:avLst/>
          </a:prstGeom>
          <a:noFill/>
        </p:spPr>
        <p:txBody>
          <a:bodyPr wrap="none" rtlCol="0">
            <a:spAutoFit/>
          </a:bodyPr>
          <a:lstStyle/>
          <a:p>
            <a:r>
              <a:rPr lang="ru-RU" sz="2200" dirty="0">
                <a:latin typeface="Times New Roman" panose="02020603050405020304" pitchFamily="18" charset="0"/>
                <a:cs typeface="Times New Roman" panose="02020603050405020304" pitchFamily="18" charset="0"/>
              </a:rPr>
              <a:t>Рисунок 5 – Структура набора критериев</a:t>
            </a:r>
          </a:p>
        </p:txBody>
      </p:sp>
    </p:spTree>
    <p:extLst>
      <p:ext uri="{BB962C8B-B14F-4D97-AF65-F5344CB8AC3E}">
        <p14:creationId xmlns:p14="http://schemas.microsoft.com/office/powerpoint/2010/main" val="3444161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A0560A0E-2A29-438A-A2AC-A7BEF46BFE15}"/>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2BEAF4BC-05AA-473D-ACBA-3A4C008DD01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5BFD089-632B-409A-83B3-5E12DE8F1661}"/>
              </a:ext>
            </a:extLst>
          </p:cNvPr>
          <p:cNvSpPr txBox="1"/>
          <p:nvPr/>
        </p:nvSpPr>
        <p:spPr>
          <a:xfrm>
            <a:off x="278895" y="896037"/>
            <a:ext cx="3523529"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Среда функционирования</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AFE8479-3E1D-435F-A09B-16F5E58981C0}"/>
              </a:ext>
            </a:extLst>
          </p:cNvPr>
          <p:cNvSpPr txBox="1"/>
          <p:nvPr/>
        </p:nvSpPr>
        <p:spPr>
          <a:xfrm>
            <a:off x="295322" y="1326924"/>
            <a:ext cx="2894276" cy="430887"/>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1. Проектная среда:</a:t>
            </a:r>
            <a:endParaRPr lang="ru-RU" sz="2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2435AEE-97FB-4733-9D5A-683E6370B9C1}"/>
              </a:ext>
            </a:extLst>
          </p:cNvPr>
          <p:cNvSpPr txBox="1"/>
          <p:nvPr/>
        </p:nvSpPr>
        <p:spPr>
          <a:xfrm>
            <a:off x="429370" y="1781810"/>
            <a:ext cx="11076167" cy="4154984"/>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поддержка процессов жизненного цикла </a:t>
            </a:r>
            <a:r>
              <a:rPr lang="ru-RU" sz="2200" b="0" i="0" dirty="0">
                <a:effectLst/>
                <a:latin typeface="Times New Roman" panose="02020603050405020304" pitchFamily="18" charset="0"/>
                <a:cs typeface="Times New Roman" panose="02020603050405020304" pitchFamily="18" charset="0"/>
              </a:rPr>
              <a:t>определяет набор процессов и действий ЖЦ ПО, которые поддерживает CASE-средство. Примерами таких процессов и действий являются анализ требований, проектирование, кодирование;</a:t>
            </a:r>
          </a:p>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тестирование, оценка, сопровождение, обеспечение качества</a:t>
            </a:r>
            <a:r>
              <a:rPr lang="ru-RU" sz="2200" b="0" i="0" dirty="0">
                <a:effectLst/>
                <a:latin typeface="Times New Roman" panose="02020603050405020304" pitchFamily="18" charset="0"/>
                <a:cs typeface="Times New Roman" panose="02020603050405020304" pitchFamily="18" charset="0"/>
              </a:rPr>
              <a:t>, управление конфигурацией и управление проектом, причем они зависят от принятой пользователем модели ЖЦ;</a:t>
            </a:r>
          </a:p>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область применения </a:t>
            </a:r>
            <a:r>
              <a:rPr lang="ru-RU" sz="2200" b="0" i="0" dirty="0">
                <a:effectLst/>
                <a:latin typeface="Times New Roman" panose="02020603050405020304" pitchFamily="18" charset="0"/>
                <a:cs typeface="Times New Roman" panose="02020603050405020304" pitchFamily="18" charset="0"/>
              </a:rPr>
              <a:t>— система обработки транзакций, системы реального времени, информационные системы и, помимо прочего, системы с повышенными требованиями к безопасности;</a:t>
            </a:r>
          </a:p>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размер поддерживаемых приложений </a:t>
            </a:r>
            <a:r>
              <a:rPr lang="ru-RU" sz="2200" b="0" i="0" dirty="0">
                <a:effectLst/>
                <a:latin typeface="Times New Roman" panose="02020603050405020304" pitchFamily="18" charset="0"/>
                <a:cs typeface="Times New Roman" panose="02020603050405020304" pitchFamily="18" charset="0"/>
              </a:rPr>
              <a:t>определяет ограничения на такие величины, как количество строк кода, уровней вложенности, размер базы данных, количество элементов данных, количество объектов конфигурационного управления.</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9489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D355C317-E570-4544-BCC3-D982C6F2A02F}"/>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FD79336E-03A6-470F-87CE-1731D19EB6E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A0EDCE-2F85-43FC-B93F-30CE255E6228}"/>
              </a:ext>
            </a:extLst>
          </p:cNvPr>
          <p:cNvSpPr txBox="1"/>
          <p:nvPr/>
        </p:nvSpPr>
        <p:spPr>
          <a:xfrm>
            <a:off x="295322" y="956370"/>
            <a:ext cx="11601356" cy="3754874"/>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2. ПО/технические средства:</a:t>
            </a:r>
          </a:p>
          <a:p>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требуемые технические средства </a:t>
            </a:r>
            <a:r>
              <a:rPr lang="ru-RU" sz="2200" b="0" i="0" dirty="0">
                <a:effectLst/>
                <a:latin typeface="Times New Roman" panose="02020603050405020304" pitchFamily="18" charset="0"/>
                <a:cs typeface="Times New Roman" panose="02020603050405020304" pitchFamily="18" charset="0"/>
              </a:rPr>
              <a:t>— оборудование, необходимое для функционирования CASE-средства, включая тип процессора, объем оперативной памяти и дисковой памяти;</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поддерживаемые технические средства </a:t>
            </a:r>
            <a:r>
              <a:rPr lang="ru-RU" sz="2200" b="0" i="0" dirty="0">
                <a:effectLst/>
                <a:latin typeface="Times New Roman" panose="02020603050405020304" pitchFamily="18" charset="0"/>
                <a:cs typeface="Times New Roman" panose="02020603050405020304" pitchFamily="18" charset="0"/>
              </a:rPr>
              <a:t>— элементы оборудования, которые могут использоваться CASE-средством, например, устройства ввода-вывода;</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требуемое ПО </a:t>
            </a:r>
            <a:r>
              <a:rPr lang="ru-RU" sz="2200" b="0" i="0" dirty="0">
                <a:effectLst/>
                <a:latin typeface="Times New Roman" panose="02020603050405020304" pitchFamily="18" charset="0"/>
                <a:cs typeface="Times New Roman" panose="02020603050405020304" pitchFamily="18" charset="0"/>
              </a:rPr>
              <a:t>— ПО, необходимое для функционирования CASE-средства, включая операционные системы и графические оболочки;</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поддерживаемое ПО </a:t>
            </a:r>
            <a:r>
              <a:rPr lang="ru-RU" sz="2200" b="0" i="0" dirty="0">
                <a:effectLst/>
                <a:latin typeface="Times New Roman" panose="02020603050405020304" pitchFamily="18" charset="0"/>
                <a:cs typeface="Times New Roman" panose="02020603050405020304" pitchFamily="18" charset="0"/>
              </a:rPr>
              <a:t>— программные продукты, которые могут использоваться CASE-средством.</a:t>
            </a:r>
          </a:p>
          <a:p>
            <a:endParaRPr lang="ru-RU" dirty="0"/>
          </a:p>
        </p:txBody>
      </p:sp>
    </p:spTree>
    <p:extLst>
      <p:ext uri="{BB962C8B-B14F-4D97-AF65-F5344CB8AC3E}">
        <p14:creationId xmlns:p14="http://schemas.microsoft.com/office/powerpoint/2010/main" val="28315075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DB87E0FF-D821-4212-B44D-014CF497A054}"/>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24BDFE0E-A1D5-4DCB-83FB-6F8573D128D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372E262-5C6C-4208-B9FA-F275E2B22C3E}"/>
              </a:ext>
            </a:extLst>
          </p:cNvPr>
          <p:cNvSpPr txBox="1"/>
          <p:nvPr/>
        </p:nvSpPr>
        <p:spPr>
          <a:xfrm>
            <a:off x="295322" y="896037"/>
            <a:ext cx="3414076"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3. Технологическая среда</a:t>
            </a:r>
            <a:endParaRPr lang="ru-RU" sz="2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7933D64-7BDB-4CAD-806D-A454EB68C000}"/>
              </a:ext>
            </a:extLst>
          </p:cNvPr>
          <p:cNvSpPr txBox="1"/>
          <p:nvPr/>
        </p:nvSpPr>
        <p:spPr>
          <a:xfrm>
            <a:off x="295322" y="1486894"/>
            <a:ext cx="11051189" cy="3754874"/>
          </a:xfrm>
          <a:prstGeom prst="rect">
            <a:avLst/>
          </a:prstGeom>
          <a:noFill/>
        </p:spPr>
        <p:txBody>
          <a:bodyPr wrap="square" rtlCol="0">
            <a:spAutoFit/>
          </a:bodyPr>
          <a:lstStyle/>
          <a:p>
            <a:pPr algn="l"/>
            <a:r>
              <a:rPr lang="ru-RU" sz="2200" b="1" i="0" dirty="0">
                <a:effectLst/>
                <a:latin typeface="Times New Roman" panose="02020603050405020304" pitchFamily="18" charset="0"/>
                <a:cs typeface="Times New Roman" panose="02020603050405020304" pitchFamily="18" charset="0"/>
              </a:rPr>
              <a:t>— соответствие стандартам технологической среды</a:t>
            </a:r>
            <a:r>
              <a:rPr lang="ru-RU" sz="2200" b="0" i="0" dirty="0">
                <a:effectLst/>
                <a:latin typeface="Times New Roman" panose="02020603050405020304" pitchFamily="18" charset="0"/>
                <a:cs typeface="Times New Roman" panose="02020603050405020304" pitchFamily="18" charset="0"/>
              </a:rPr>
              <a:t>, касающимся языка, базы данных, репозитория, коммуникаций, графического интерфейса пользователя, документации, разработки, управления конфигурацией, безопасности, стандартов обмена информацией и интеграции по данным, по управлению и по пользовательскому интерфейсу;</a:t>
            </a:r>
          </a:p>
          <a:p>
            <a:pPr algn="l"/>
            <a:endParaRPr lang="ru-RU" sz="2200" b="0" i="0" dirty="0">
              <a:effectLst/>
              <a:latin typeface="Times New Roman" panose="02020603050405020304" pitchFamily="18" charset="0"/>
              <a:cs typeface="Times New Roman" panose="02020603050405020304" pitchFamily="18" charset="0"/>
            </a:endParaRPr>
          </a:p>
          <a:p>
            <a:pPr algn="l"/>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совместимость с другими средствами </a:t>
            </a:r>
            <a:r>
              <a:rPr lang="ru-RU" sz="2200" b="0" i="0" dirty="0">
                <a:effectLst/>
                <a:latin typeface="Times New Roman" panose="02020603050405020304" pitchFamily="18" charset="0"/>
                <a:cs typeface="Times New Roman" panose="02020603050405020304" pitchFamily="18" charset="0"/>
              </a:rPr>
              <a:t>— способность к взаимодействию с другими средствами, включая непосредственный обмен данными (примерами таких средств являются текстовые процессоры и другие средства документирования, базы данных и другие CASE-средства) и возможность преобразования репозитория или его части в стандартный формат для обработки другими средствами;</a:t>
            </a:r>
          </a:p>
          <a:p>
            <a:endParaRPr lang="ru-RU" dirty="0"/>
          </a:p>
        </p:txBody>
      </p:sp>
    </p:spTree>
    <p:extLst>
      <p:ext uri="{BB962C8B-B14F-4D97-AF65-F5344CB8AC3E}">
        <p14:creationId xmlns:p14="http://schemas.microsoft.com/office/powerpoint/2010/main" val="26556880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05EAB69D-61AC-42AF-97AE-E240253662BD}"/>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8188D0C1-D971-4324-A48C-E14572D1943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917972F-3260-47C1-9D6B-F92ACCE01B22}"/>
              </a:ext>
            </a:extLst>
          </p:cNvPr>
          <p:cNvSpPr txBox="1"/>
          <p:nvPr/>
        </p:nvSpPr>
        <p:spPr>
          <a:xfrm>
            <a:off x="405516" y="966203"/>
            <a:ext cx="11092070" cy="2739211"/>
          </a:xfrm>
          <a:prstGeom prst="rect">
            <a:avLst/>
          </a:prstGeom>
          <a:noFill/>
        </p:spPr>
        <p:txBody>
          <a:bodyPr wrap="square" rtlCol="0">
            <a:spAutoFit/>
          </a:bodyPr>
          <a:lstStyle/>
          <a:p>
            <a:pPr algn="l"/>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поддерживаемые методы </a:t>
            </a:r>
            <a:r>
              <a:rPr lang="ru-RU" sz="2200" b="0" i="0" dirty="0">
                <a:effectLst/>
                <a:latin typeface="Times New Roman" panose="02020603050405020304" pitchFamily="18" charset="0"/>
                <a:cs typeface="Times New Roman" panose="02020603050405020304" pitchFamily="18" charset="0"/>
              </a:rPr>
              <a:t>— набор методов и методик, поддерживаемых CASE-средством. Примерами являются структурный или объектно-ориентированный анализ и проектирование;</a:t>
            </a:r>
          </a:p>
          <a:p>
            <a:pPr algn="l"/>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поддерживаемые языки </a:t>
            </a:r>
            <a:r>
              <a:rPr lang="ru-RU" sz="2200" b="0" i="0" dirty="0">
                <a:effectLst/>
                <a:latin typeface="Times New Roman" panose="02020603050405020304" pitchFamily="18" charset="0"/>
                <a:cs typeface="Times New Roman" panose="02020603050405020304" pitchFamily="18" charset="0"/>
              </a:rPr>
              <a:t>— все языки, используемые CASE-средством: языки программирования (Ада, C, C++), языки баз данных и языки запросов (DDL, SQL), графические языки (</a:t>
            </a:r>
            <a:r>
              <a:rPr lang="ru-RU" sz="2200" b="0" i="0" dirty="0" err="1">
                <a:effectLst/>
                <a:latin typeface="Times New Roman" panose="02020603050405020304" pitchFamily="18" charset="0"/>
                <a:cs typeface="Times New Roman" panose="02020603050405020304" pitchFamily="18" charset="0"/>
              </a:rPr>
              <a:t>Postscript</a:t>
            </a:r>
            <a:r>
              <a:rPr lang="ru-RU" sz="2200" b="0" i="0" dirty="0">
                <a:effectLst/>
                <a:latin typeface="Times New Roman" panose="02020603050405020304" pitchFamily="18" charset="0"/>
                <a:cs typeface="Times New Roman" panose="02020603050405020304" pitchFamily="18" charset="0"/>
              </a:rPr>
              <a:t>, HPGL), языки спецификации проектных требований и интерфейсы операционных систем (языки управления заданиями).</a:t>
            </a:r>
          </a:p>
          <a:p>
            <a:endParaRPr lang="ru-RU" dirty="0"/>
          </a:p>
        </p:txBody>
      </p:sp>
    </p:spTree>
    <p:extLst>
      <p:ext uri="{BB962C8B-B14F-4D97-AF65-F5344CB8AC3E}">
        <p14:creationId xmlns:p14="http://schemas.microsoft.com/office/powerpoint/2010/main" val="13940599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6654E1B4-FDC5-41EB-A562-447022C35976}"/>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9D93B82F-570E-470B-B00A-3E27695E4C1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DCC7B7A-ACB4-42C5-A100-B920AC4FCDCE}"/>
              </a:ext>
            </a:extLst>
          </p:cNvPr>
          <p:cNvSpPr txBox="1"/>
          <p:nvPr/>
        </p:nvSpPr>
        <p:spPr>
          <a:xfrm>
            <a:off x="405517" y="896037"/>
            <a:ext cx="7863371"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Функции, ориентированные на фазы жизненного цикла ПО</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95E11CD-AE1D-406B-A620-5C97E3900372}"/>
              </a:ext>
            </a:extLst>
          </p:cNvPr>
          <p:cNvSpPr txBox="1"/>
          <p:nvPr/>
        </p:nvSpPr>
        <p:spPr>
          <a:xfrm>
            <a:off x="351183" y="1326924"/>
            <a:ext cx="11489634" cy="3416320"/>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1. Моделирование:</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построение диаграмм </a:t>
            </a:r>
            <a:r>
              <a:rPr lang="ru-RU" sz="2200" b="0" i="0" dirty="0">
                <a:effectLst/>
                <a:latin typeface="Times New Roman" panose="02020603050405020304" pitchFamily="18" charset="0"/>
                <a:cs typeface="Times New Roman" panose="02020603050405020304" pitchFamily="18" charset="0"/>
              </a:rPr>
              <a:t>— возможность создания и редактирования диаграмм различных типов, представляющих интерес для пользователя;</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a:t>
            </a:r>
            <a:r>
              <a:rPr lang="ru-RU" sz="2200" b="1" i="0" dirty="0">
                <a:effectLst/>
                <a:latin typeface="Times New Roman" panose="02020603050405020304" pitchFamily="18" charset="0"/>
                <a:cs typeface="Times New Roman" panose="02020603050405020304" pitchFamily="18" charset="0"/>
              </a:rPr>
              <a:t> графический анализ </a:t>
            </a:r>
            <a:r>
              <a:rPr lang="ru-RU" sz="2200" b="0" i="0" dirty="0">
                <a:effectLst/>
                <a:latin typeface="Times New Roman" panose="02020603050405020304" pitchFamily="18" charset="0"/>
                <a:cs typeface="Times New Roman" panose="02020603050405020304" pitchFamily="18" charset="0"/>
              </a:rPr>
              <a:t>— возможность анализа графических объектов, а также хранения и представления проектной информации в графическом виде. В большинстве случаев графические анализаторы интегрированы со средствами построения диаграмм;</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ввод и редактирование спецификаций требований и проектных спецификаций</a:t>
            </a:r>
            <a:r>
              <a:rPr lang="ru-RU" sz="2200" b="0" i="0" dirty="0">
                <a:effectLst/>
                <a:latin typeface="Times New Roman" panose="02020603050405020304" pitchFamily="18" charset="0"/>
                <a:cs typeface="Times New Roman" panose="02020603050405020304" pitchFamily="18" charset="0"/>
              </a:rPr>
              <a:t>, к которым относятся описания функций, данных, интерфейсов, структуры, качества, производительности, технических средств, затрат и графиков;</a:t>
            </a:r>
          </a:p>
          <a:p>
            <a:endParaRPr lang="ru-RU" dirty="0"/>
          </a:p>
        </p:txBody>
      </p:sp>
    </p:spTree>
    <p:extLst>
      <p:ext uri="{BB962C8B-B14F-4D97-AF65-F5344CB8AC3E}">
        <p14:creationId xmlns:p14="http://schemas.microsoft.com/office/powerpoint/2010/main" val="3768774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A85AF48E-5BBE-4E58-B401-AF8BF4B6E018}"/>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F9E6CB55-7B65-40FF-BE72-D78CA1FA488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A526D63-7590-4131-8221-E5FCA65FC515}"/>
              </a:ext>
            </a:extLst>
          </p:cNvPr>
          <p:cNvSpPr txBox="1"/>
          <p:nvPr/>
        </p:nvSpPr>
        <p:spPr>
          <a:xfrm>
            <a:off x="381663" y="1065475"/>
            <a:ext cx="11378316" cy="4154984"/>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 - </a:t>
            </a:r>
            <a:r>
              <a:rPr lang="ru-RU" sz="2200" b="1" i="0" dirty="0">
                <a:effectLst/>
                <a:latin typeface="Times New Roman" panose="02020603050405020304" pitchFamily="18" charset="0"/>
                <a:cs typeface="Times New Roman" panose="02020603050405020304" pitchFamily="18" charset="0"/>
              </a:rPr>
              <a:t>язык спецификации требований и проектных спецификаций </a:t>
            </a:r>
            <a:r>
              <a:rPr lang="ru-RU" sz="2200" b="0" i="0" dirty="0">
                <a:effectLst/>
                <a:latin typeface="Times New Roman" panose="02020603050405020304" pitchFamily="18" charset="0"/>
                <a:cs typeface="Times New Roman" panose="02020603050405020304" pitchFamily="18" charset="0"/>
              </a:rPr>
              <a:t>— возможность импорта, экспорта и редактирования спецификаций с использованием формального языка;</a:t>
            </a:r>
          </a:p>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моделирование данных </a:t>
            </a:r>
            <a:r>
              <a:rPr lang="ru-RU" sz="2200" b="0" i="0" dirty="0">
                <a:effectLst/>
                <a:latin typeface="Times New Roman" panose="02020603050405020304" pitchFamily="18" charset="0"/>
                <a:cs typeface="Times New Roman" panose="02020603050405020304" pitchFamily="18" charset="0"/>
              </a:rPr>
              <a:t>— возможность ввода и редактирования информации, описывающей элементы данных системы и их отношения;</a:t>
            </a:r>
          </a:p>
          <a:p>
            <a:r>
              <a:rPr lang="ru-RU" sz="2200" b="0" i="0" dirty="0">
                <a:effectLst/>
                <a:latin typeface="Times New Roman" panose="02020603050405020304" pitchFamily="18" charset="0"/>
                <a:cs typeface="Times New Roman" panose="02020603050405020304" pitchFamily="18" charset="0"/>
              </a:rPr>
              <a:t> - </a:t>
            </a:r>
            <a:r>
              <a:rPr lang="ru-RU" sz="2200" b="1" i="0" dirty="0">
                <a:effectLst/>
                <a:latin typeface="Times New Roman" panose="02020603050405020304" pitchFamily="18" charset="0"/>
                <a:cs typeface="Times New Roman" panose="02020603050405020304" pitchFamily="18" charset="0"/>
              </a:rPr>
              <a:t>моделирование процессов </a:t>
            </a:r>
            <a:r>
              <a:rPr lang="ru-RU" sz="2200" b="0" i="0" dirty="0">
                <a:effectLst/>
                <a:latin typeface="Times New Roman" panose="02020603050405020304" pitchFamily="18" charset="0"/>
                <a:cs typeface="Times New Roman" panose="02020603050405020304" pitchFamily="18" charset="0"/>
              </a:rPr>
              <a:t>— возможность ввода и редактирования информации, описывающей процессы системы и их отношения;</a:t>
            </a:r>
          </a:p>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проектирование архитектуры ПО </a:t>
            </a:r>
            <a:r>
              <a:rPr lang="ru-RU" sz="2200" b="0" i="0" dirty="0">
                <a:effectLst/>
                <a:latin typeface="Times New Roman" panose="02020603050405020304" pitchFamily="18" charset="0"/>
                <a:cs typeface="Times New Roman" panose="02020603050405020304" pitchFamily="18" charset="0"/>
              </a:rPr>
              <a:t>— проектирование логической структуры ПО (структуры модулей, интерфейсов и др.);</a:t>
            </a:r>
          </a:p>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имитационное моделирование </a:t>
            </a:r>
            <a:r>
              <a:rPr lang="ru-RU" sz="2200" b="0" i="0" dirty="0">
                <a:effectLst/>
                <a:latin typeface="Times New Roman" panose="02020603050405020304" pitchFamily="18" charset="0"/>
                <a:cs typeface="Times New Roman" panose="02020603050405020304" pitchFamily="18" charset="0"/>
              </a:rPr>
              <a:t>— возможность динамического моделирования различных аспектов функционирования системы на основе спецификаций требований и/или проектных спецификаций, включая внешний интерфейс и производительность (например, время отклика, коэффициент использования ресурсов и пропускную способность);</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0490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5E580ECB-F228-4E99-B6B8-02DFE6DD203D}"/>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27D1DDC7-F321-4E5F-9129-74A5B3859D4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02ED5F0-10AB-4434-9127-CD114C711D46}"/>
              </a:ext>
            </a:extLst>
          </p:cNvPr>
          <p:cNvSpPr txBox="1"/>
          <p:nvPr/>
        </p:nvSpPr>
        <p:spPr>
          <a:xfrm>
            <a:off x="231713" y="896037"/>
            <a:ext cx="10931919" cy="2862322"/>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 прототипирование </a:t>
            </a:r>
            <a:r>
              <a:rPr lang="ru-RU" sz="2200" b="0" i="0" dirty="0">
                <a:effectLst/>
                <a:latin typeface="Times New Roman" panose="02020603050405020304" pitchFamily="18" charset="0"/>
                <a:cs typeface="Times New Roman" panose="02020603050405020304" pitchFamily="18" charset="0"/>
              </a:rPr>
              <a:t>— возможность проектирования и генерации предварительного варианта всей системы или ее отдельных компонентов на основе спецификаций требований и/или проектных спецификаций. Прототипирование, в основном, касается внешнего пользовательского интерфейса и осуществляется при непосредственном участии пользователей;</a:t>
            </a:r>
          </a:p>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генерация экранных форм </a:t>
            </a:r>
            <a:r>
              <a:rPr lang="ru-RU" sz="2200" b="0" i="0" dirty="0">
                <a:effectLst/>
                <a:latin typeface="Times New Roman" panose="02020603050405020304" pitchFamily="18" charset="0"/>
                <a:cs typeface="Times New Roman" panose="02020603050405020304" pitchFamily="18" charset="0"/>
              </a:rPr>
              <a:t>— возможность генерации экранных форм на основе спецификаций требований и/или проектных спецификаций;</a:t>
            </a:r>
            <a:br>
              <a:rPr lang="ru-RU" sz="2400" dirty="0"/>
            </a:b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831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1F7559CD-D155-40B2-A39A-127BDFD28528}"/>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E9EE0735-64F1-4C6A-A0E9-8C80E6EE581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B5D2C62-CBB9-4AC1-90C2-9603662A48AF}"/>
              </a:ext>
            </a:extLst>
          </p:cNvPr>
          <p:cNvSpPr txBox="1"/>
          <p:nvPr/>
        </p:nvSpPr>
        <p:spPr>
          <a:xfrm>
            <a:off x="295322" y="946205"/>
            <a:ext cx="1948354"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2.Реализация</a:t>
            </a:r>
            <a:r>
              <a:rPr lang="ru-RU" b="0" i="0" dirty="0">
                <a:solidFill>
                  <a:srgbClr val="F9FAFB"/>
                </a:solidFill>
                <a:effectLst/>
                <a:latin typeface="quote-cjk-patch"/>
              </a:rPr>
              <a:t>:</a:t>
            </a:r>
            <a:endParaRPr lang="ru-RU" dirty="0"/>
          </a:p>
        </p:txBody>
      </p:sp>
      <p:sp>
        <p:nvSpPr>
          <p:cNvPr id="7" name="TextBox 6">
            <a:extLst>
              <a:ext uri="{FF2B5EF4-FFF2-40B4-BE49-F238E27FC236}">
                <a16:creationId xmlns:a16="http://schemas.microsoft.com/office/drawing/2014/main" id="{81F87C3E-8DB9-439F-BD48-0CFD684D579A}"/>
              </a:ext>
            </a:extLst>
          </p:cNvPr>
          <p:cNvSpPr txBox="1"/>
          <p:nvPr/>
        </p:nvSpPr>
        <p:spPr>
          <a:xfrm>
            <a:off x="311426" y="1379216"/>
            <a:ext cx="11569148" cy="4278094"/>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 синтаксически управляемое редактирование </a:t>
            </a:r>
            <a:r>
              <a:rPr lang="ru-RU" sz="2200" b="0" i="0" dirty="0">
                <a:effectLst/>
                <a:latin typeface="Times New Roman" panose="02020603050405020304" pitchFamily="18" charset="0"/>
                <a:cs typeface="Times New Roman" panose="02020603050405020304" pitchFamily="18" charset="0"/>
              </a:rPr>
              <a:t>— возможность ввода и редактирования исходных кодов на одном языке или нескольких с одновременным синтаксическим контролем;</a:t>
            </a:r>
            <a:br>
              <a:rPr lang="ru-RU" sz="2200" dirty="0">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 генерация кода </a:t>
            </a:r>
            <a:r>
              <a:rPr lang="ru-RU" sz="2200" b="0" i="0" dirty="0">
                <a:effectLst/>
                <a:latin typeface="Times New Roman" panose="02020603050405020304" pitchFamily="18" charset="0"/>
                <a:cs typeface="Times New Roman" panose="02020603050405020304" pitchFamily="18" charset="0"/>
              </a:rPr>
              <a:t>— возможность генерации кодов на одном языке или нескольких на основе проектных спецификаций. Типы генерируемого кода могут включать обычный программный код, схему базы данных, запросы, экраны/меню;</a:t>
            </a:r>
          </a:p>
          <a:p>
            <a:r>
              <a:rPr lang="ru-RU" sz="2200" b="1" i="0" dirty="0">
                <a:effectLst/>
                <a:latin typeface="Times New Roman" panose="02020603050405020304" pitchFamily="18" charset="0"/>
                <a:cs typeface="Times New Roman" panose="02020603050405020304" pitchFamily="18" charset="0"/>
              </a:rPr>
              <a:t>— компиляция кода;</a:t>
            </a:r>
            <a:br>
              <a:rPr lang="ru-RU" sz="2200" dirty="0">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 конвертирование исходного кода </a:t>
            </a:r>
            <a:r>
              <a:rPr lang="ru-RU" sz="2200" b="0" i="0" dirty="0">
                <a:effectLst/>
                <a:latin typeface="Times New Roman" panose="02020603050405020304" pitchFamily="18" charset="0"/>
                <a:cs typeface="Times New Roman" panose="02020603050405020304" pitchFamily="18" charset="0"/>
              </a:rPr>
              <a:t>— возможность преобразования кода из одного языка в другой;</a:t>
            </a:r>
          </a:p>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анализ надежности </a:t>
            </a:r>
            <a:r>
              <a:rPr lang="ru-RU" sz="2200" b="0" i="0" dirty="0">
                <a:effectLst/>
                <a:latin typeface="Times New Roman" panose="02020603050405020304" pitchFamily="18" charset="0"/>
                <a:cs typeface="Times New Roman" panose="02020603050405020304" pitchFamily="18" charset="0"/>
              </a:rPr>
              <a:t>— возможность количественно оценивать параметры надежности ПО, такие как количество ошибок и др.;</a:t>
            </a:r>
            <a:br>
              <a:rPr lang="ru-RU" sz="2200" dirty="0">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реверсивный инжиниринг </a:t>
            </a:r>
            <a:r>
              <a:rPr lang="ru-RU" sz="2200" b="0" i="0" dirty="0">
                <a:effectLst/>
                <a:latin typeface="Times New Roman" panose="02020603050405020304" pitchFamily="18" charset="0"/>
                <a:cs typeface="Times New Roman" panose="02020603050405020304" pitchFamily="18" charset="0"/>
              </a:rPr>
              <a:t>— возможность анализа существующих исходных кодов и формирования на их основе проектных спецификаций;</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65664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7CBE4294-0463-4125-B454-132CEB61EDE9}"/>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4BC9A3B7-C3EE-44DE-954D-9A905840EC6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7A8384A-F504-4C8E-A83D-F94B1E3A281A}"/>
              </a:ext>
            </a:extLst>
          </p:cNvPr>
          <p:cNvSpPr txBox="1"/>
          <p:nvPr/>
        </p:nvSpPr>
        <p:spPr>
          <a:xfrm>
            <a:off x="421419" y="1144988"/>
            <a:ext cx="11378317" cy="2123658"/>
          </a:xfrm>
          <a:prstGeom prst="rect">
            <a:avLst/>
          </a:prstGeom>
          <a:noFill/>
        </p:spPr>
        <p:txBody>
          <a:bodyPr wrap="square" rtlCol="0">
            <a:spAutoFit/>
          </a:bodyPr>
          <a:lstStyle/>
          <a:p>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реструктуризация исходного кода </a:t>
            </a:r>
            <a:r>
              <a:rPr lang="ru-RU" sz="2200" b="0" i="0" dirty="0">
                <a:effectLst/>
                <a:latin typeface="Times New Roman" panose="02020603050405020304" pitchFamily="18" charset="0"/>
                <a:cs typeface="Times New Roman" panose="02020603050405020304" pitchFamily="18" charset="0"/>
              </a:rPr>
              <a:t>— возможность модификации формата и/или структуры существующего исходного кода;</a:t>
            </a:r>
            <a:br>
              <a:rPr lang="ru-RU" sz="2200" dirty="0">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анализ исходного кода </a:t>
            </a:r>
            <a:r>
              <a:rPr lang="ru-RU" sz="2200" b="0" i="0" dirty="0">
                <a:effectLst/>
                <a:latin typeface="Times New Roman" panose="02020603050405020304" pitchFamily="18" charset="0"/>
                <a:cs typeface="Times New Roman" panose="02020603050405020304" pitchFamily="18" charset="0"/>
              </a:rPr>
              <a:t>— определение размера кода, вычисление показателей сложности, генерация перекрестных ссылок и проверка на соответствие стандартам;</a:t>
            </a:r>
            <a:br>
              <a:rPr lang="ru-RU" sz="2200" dirty="0">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 отладка </a:t>
            </a:r>
            <a:r>
              <a:rPr lang="ru-RU" sz="2200" b="0" i="0" dirty="0">
                <a:effectLst/>
                <a:latin typeface="Times New Roman" panose="02020603050405020304" pitchFamily="18" charset="0"/>
                <a:cs typeface="Times New Roman" panose="02020603050405020304" pitchFamily="18" charset="0"/>
              </a:rPr>
              <a:t>— трассировка программ, выделение узких мест и наиболее часто используемых фрагментов кода и т. д</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05411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6031D589-53F8-4540-9AD6-72436F13DB3A}"/>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B2C09337-CB51-4D3A-A9EF-EF699E400CF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010353A-D3ED-4561-8483-2DE30E0D8F01}"/>
              </a:ext>
            </a:extLst>
          </p:cNvPr>
          <p:cNvSpPr txBox="1"/>
          <p:nvPr/>
        </p:nvSpPr>
        <p:spPr>
          <a:xfrm>
            <a:off x="357809" y="1137037"/>
            <a:ext cx="11704320" cy="5109091"/>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3.Тестирование:</a:t>
            </a:r>
            <a:br>
              <a:rPr lang="ru-RU" sz="2200" b="0" i="0" dirty="0">
                <a:effectLst/>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 описание тестов </a:t>
            </a:r>
            <a:r>
              <a:rPr lang="ru-RU" sz="2200" b="0" i="0" dirty="0">
                <a:effectLst/>
                <a:latin typeface="Times New Roman" panose="02020603050405020304" pitchFamily="18" charset="0"/>
                <a:cs typeface="Times New Roman" panose="02020603050405020304" pitchFamily="18" charset="0"/>
              </a:rPr>
              <a:t>— генерация тестовых данных, алгоритмов тестирования, требуемых результатов и т. д.;</a:t>
            </a:r>
            <a:br>
              <a:rPr lang="ru-RU" sz="2200" b="0" i="0" dirty="0">
                <a:effectLst/>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 фиксация и построение действий оператора </a:t>
            </a:r>
            <a:r>
              <a:rPr lang="ru-RU" sz="2200" b="0" i="0" dirty="0">
                <a:effectLst/>
                <a:latin typeface="Times New Roman" panose="02020603050405020304" pitchFamily="18" charset="0"/>
                <a:cs typeface="Times New Roman" panose="02020603050405020304" pitchFamily="18" charset="0"/>
              </a:rPr>
              <a:t>— возможность фиксировать данные, вводимые оператором с помощью клавиатуры, мыши т. д., редактировать их и воспроизводить в тестовых примерах;</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автоматический запуск тестовых примеров;</a:t>
            </a:r>
            <a:br>
              <a:rPr lang="ru-RU" sz="2200" b="0" i="0" dirty="0">
                <a:effectLst/>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 регрессионное тестирование </a:t>
            </a:r>
            <a:r>
              <a:rPr lang="ru-RU" sz="2200" b="0" i="0" dirty="0">
                <a:effectLst/>
                <a:latin typeface="Times New Roman" panose="02020603050405020304" pitchFamily="18" charset="0"/>
                <a:cs typeface="Times New Roman" panose="02020603050405020304" pitchFamily="18" charset="0"/>
              </a:rPr>
              <a:t>— возможность повторения и модификации ранее выполненных тестов для определения различий в системе и/или среде;</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автоматизированный анализ результатов тестирования </a:t>
            </a:r>
            <a:r>
              <a:rPr lang="ru-RU" sz="2200" b="0" i="0" dirty="0">
                <a:effectLst/>
                <a:latin typeface="Times New Roman" panose="02020603050405020304" pitchFamily="18" charset="0"/>
                <a:cs typeface="Times New Roman" panose="02020603050405020304" pitchFamily="18" charset="0"/>
              </a:rPr>
              <a:t>— сравнение ожидаемых и реальных результатов, сравнение файлов, статистический анализ результатов и др.;</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анализ тестового покрытия </a:t>
            </a:r>
            <a:r>
              <a:rPr lang="ru-RU" sz="2200" b="0" i="0" dirty="0">
                <a:effectLst/>
                <a:latin typeface="Times New Roman" panose="02020603050405020304" pitchFamily="18" charset="0"/>
                <a:cs typeface="Times New Roman" panose="02020603050405020304" pitchFamily="18" charset="0"/>
              </a:rPr>
              <a:t>— оснащенность средствами контроля исходного кода и анализ тестового покрытия. Проверяются, в частности, исполняемые и вызываемые (или нет) операторы, процедуры и переменные;</a:t>
            </a:r>
          </a:p>
          <a:p>
            <a:endParaRPr lang="ru-RU" dirty="0"/>
          </a:p>
        </p:txBody>
      </p:sp>
    </p:spTree>
    <p:extLst>
      <p:ext uri="{BB962C8B-B14F-4D97-AF65-F5344CB8AC3E}">
        <p14:creationId xmlns:p14="http://schemas.microsoft.com/office/powerpoint/2010/main" val="14424181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A5C724FE-DFEF-452F-A5EF-BAC263BA3924}"/>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05F9952F-0823-4592-A398-0C9FECA8E94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3106920-FAB9-49E7-AB92-529FFAB33058}"/>
              </a:ext>
            </a:extLst>
          </p:cNvPr>
          <p:cNvSpPr txBox="1"/>
          <p:nvPr/>
        </p:nvSpPr>
        <p:spPr>
          <a:xfrm>
            <a:off x="461176" y="938254"/>
            <a:ext cx="2280753" cy="430887"/>
          </a:xfrm>
          <a:prstGeom prst="rect">
            <a:avLst/>
          </a:prstGeom>
          <a:noFill/>
        </p:spPr>
        <p:txBody>
          <a:bodyPr wrap="none" rtlCol="0">
            <a:spAutoFit/>
          </a:bodyPr>
          <a:lstStyle/>
          <a:p>
            <a:r>
              <a:rPr lang="ru-RU" sz="2200" b="1" i="0" dirty="0">
                <a:effectLst/>
                <a:latin typeface="Times New Roman" panose="02020603050405020304" pitchFamily="18" charset="0"/>
                <a:cs typeface="Times New Roman" panose="02020603050405020304" pitchFamily="18" charset="0"/>
              </a:rPr>
              <a:t>Общие функции</a:t>
            </a:r>
            <a:endParaRPr lang="ru-RU" sz="2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397D879-E247-4B0D-B558-1D3E74CE7795}"/>
              </a:ext>
            </a:extLst>
          </p:cNvPr>
          <p:cNvSpPr txBox="1"/>
          <p:nvPr/>
        </p:nvSpPr>
        <p:spPr>
          <a:xfrm>
            <a:off x="382385" y="1369141"/>
            <a:ext cx="11471564" cy="3754874"/>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1. Документирование:</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редактирование текстов и графики — возможность вводить и редактировать данные в текстовом и графическом форматах;</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редактирование с помощью форм — возможность поддерживать формы, определенные пользователями, вводить и редактировать данные в соответствии с формами;</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возможность издательских систем;</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поддержка функций и форматов гипертекста;</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соответствие стандартам документирования;</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автоматическое извлечение данных из репозитория и генерация документации по спецификациям пользователя.</a:t>
            </a:r>
          </a:p>
          <a:p>
            <a:endParaRPr lang="ru-RU" dirty="0"/>
          </a:p>
        </p:txBody>
      </p:sp>
    </p:spTree>
    <p:extLst>
      <p:ext uri="{BB962C8B-B14F-4D97-AF65-F5344CB8AC3E}">
        <p14:creationId xmlns:p14="http://schemas.microsoft.com/office/powerpoint/2010/main" val="26030711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8B8DF53A-FE30-4995-B608-CE4CCD033C16}"/>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FAB32A0F-5E14-4DB9-A230-2CB7FD324AA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C9555C1-EBAE-4466-8D48-B3A631C1EEFC}"/>
              </a:ext>
            </a:extLst>
          </p:cNvPr>
          <p:cNvSpPr txBox="1"/>
          <p:nvPr/>
        </p:nvSpPr>
        <p:spPr>
          <a:xfrm>
            <a:off x="540328" y="1147156"/>
            <a:ext cx="11230494" cy="5786199"/>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2.Управление конфигурацией:</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контроль доступа и изменений </a:t>
            </a:r>
            <a:r>
              <a:rPr lang="ru-RU" sz="2200" b="0" i="0" dirty="0">
                <a:effectLst/>
                <a:latin typeface="Times New Roman" panose="02020603050405020304" pitchFamily="18" charset="0"/>
                <a:cs typeface="Times New Roman" panose="02020603050405020304" pitchFamily="18" charset="0"/>
              </a:rPr>
              <a:t>— возможность контроля доступа на физическом уровне к элементам данных и контроля изменений. Контроль доступа включает возможности определения прав доступа к компонентам, а также извлечения элементов данных для модификации, блокировки доступа к ним на время модификации и помещения обратно в репозиторий;</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отслеживание модификаций </a:t>
            </a:r>
            <a:r>
              <a:rPr lang="ru-RU" sz="2200" b="0" i="0" dirty="0">
                <a:effectLst/>
                <a:latin typeface="Times New Roman" panose="02020603050405020304" pitchFamily="18" charset="0"/>
                <a:cs typeface="Times New Roman" panose="02020603050405020304" pitchFamily="18" charset="0"/>
              </a:rPr>
              <a:t>— фиксация и ведение журнала всех модификаций, внесенных в систему в процессе разработки или сопровождения;</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управление версиями </a:t>
            </a:r>
            <a:r>
              <a:rPr lang="ru-RU" sz="2200" b="0" i="0" dirty="0">
                <a:effectLst/>
                <a:latin typeface="Times New Roman" panose="02020603050405020304" pitchFamily="18" charset="0"/>
                <a:cs typeface="Times New Roman" panose="02020603050405020304" pitchFamily="18" charset="0"/>
              </a:rPr>
              <a:t>— ведение и контроль данных о версиях системы и всех ее коллективно используемых компонентах;</a:t>
            </a:r>
            <a:br>
              <a:rPr lang="ru-RU" sz="2200" b="0" i="0" dirty="0">
                <a:effectLst/>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 учет состояния объектов конфигурационного управления </a:t>
            </a:r>
            <a:r>
              <a:rPr lang="ru-RU" sz="2200" b="0" i="0" dirty="0">
                <a:effectLst/>
                <a:latin typeface="Times New Roman" panose="02020603050405020304" pitchFamily="18" charset="0"/>
                <a:cs typeface="Times New Roman" panose="02020603050405020304" pitchFamily="18" charset="0"/>
              </a:rPr>
              <a:t>— возможность получения отчетов обо всех последовательных версиях, содержимом и состоянии различных объектов конфигурационного управления;</a:t>
            </a:r>
            <a:br>
              <a:rPr lang="ru-RU" sz="2200" b="0" i="0" dirty="0">
                <a:effectLst/>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 генерация версий и модификаций </a:t>
            </a:r>
            <a:r>
              <a:rPr lang="ru-RU" sz="2200" b="0" i="0" dirty="0">
                <a:effectLst/>
                <a:latin typeface="Times New Roman" panose="02020603050405020304" pitchFamily="18" charset="0"/>
                <a:cs typeface="Times New Roman" panose="02020603050405020304" pitchFamily="18" charset="0"/>
              </a:rPr>
              <a:t>— поддержка пользовательского описания последовательности действий, требуемых для формирования версий и модификаций, и автоматическое выполнение этих действий;</a:t>
            </a:r>
          </a:p>
          <a:p>
            <a:endParaRPr lang="ru-RU" dirty="0"/>
          </a:p>
        </p:txBody>
      </p:sp>
    </p:spTree>
    <p:extLst>
      <p:ext uri="{BB962C8B-B14F-4D97-AF65-F5344CB8AC3E}">
        <p14:creationId xmlns:p14="http://schemas.microsoft.com/office/powerpoint/2010/main" val="30701687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53437208-1A36-4A7F-A5AF-46D12C39B484}"/>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D9FD2C47-FA75-4C93-B481-0A08D21F393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794A357-22D9-4C4B-AFFB-A7381BCCC1A5}"/>
              </a:ext>
            </a:extLst>
          </p:cNvPr>
          <p:cNvSpPr txBox="1"/>
          <p:nvPr/>
        </p:nvSpPr>
        <p:spPr>
          <a:xfrm>
            <a:off x="424752" y="896037"/>
            <a:ext cx="11342496" cy="4431983"/>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Управление проектом:</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управление работами и ресурсами </a:t>
            </a:r>
            <a:r>
              <a:rPr lang="ru-RU" sz="2200" b="0" i="0" dirty="0">
                <a:effectLst/>
                <a:latin typeface="Times New Roman" panose="02020603050405020304" pitchFamily="18" charset="0"/>
                <a:cs typeface="Times New Roman" panose="02020603050405020304" pitchFamily="18" charset="0"/>
              </a:rPr>
              <a:t>— контроль и управление процессом проектирования ПО в терминах структуры заданий и назначения исполнителей, последовательности их выполнения, завершенности отдельных этапов проекта и проекта в целом;</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возможность поддержки плановых данных</a:t>
            </a:r>
            <a:r>
              <a:rPr lang="ru-RU" sz="2200" b="0" i="0" dirty="0">
                <a:effectLst/>
                <a:latin typeface="Times New Roman" panose="02020603050405020304" pitchFamily="18" charset="0"/>
                <a:cs typeface="Times New Roman" panose="02020603050405020304" pitchFamily="18" charset="0"/>
              </a:rPr>
              <a:t>, фактических данных и их анализа. Типичные данные включают графики (с учетом календаря, рабочих часов, выходных и др.), компьютерные ресурсы, распределение персонала, бюджет и др.;</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a:t>
            </a:r>
            <a:r>
              <a:rPr lang="ru-RU" sz="2200" b="1" i="0" dirty="0">
                <a:effectLst/>
                <a:latin typeface="Times New Roman" panose="02020603050405020304" pitchFamily="18" charset="0"/>
                <a:cs typeface="Times New Roman" panose="02020603050405020304" pitchFamily="18" charset="0"/>
              </a:rPr>
              <a:t> оценка </a:t>
            </a:r>
            <a:r>
              <a:rPr lang="ru-RU" sz="2200" b="0" i="0" dirty="0">
                <a:effectLst/>
                <a:latin typeface="Times New Roman" panose="02020603050405020304" pitchFamily="18" charset="0"/>
                <a:cs typeface="Times New Roman" panose="02020603050405020304" pitchFamily="18" charset="0"/>
              </a:rPr>
              <a:t>— возможность оценивать затраты, график и другие проектные параметры, вводимые пользователями;</a:t>
            </a:r>
            <a:br>
              <a:rPr lang="ru-RU" sz="2200" b="0" i="0" dirty="0">
                <a:effectLst/>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 </a:t>
            </a:r>
            <a:r>
              <a:rPr lang="ru-RU" sz="2200" b="1" i="0" dirty="0">
                <a:effectLst/>
                <a:latin typeface="Times New Roman" panose="02020603050405020304" pitchFamily="18" charset="0"/>
                <a:cs typeface="Times New Roman" panose="02020603050405020304" pitchFamily="18" charset="0"/>
              </a:rPr>
              <a:t>управление процедурой тестирования </a:t>
            </a:r>
            <a:r>
              <a:rPr lang="ru-RU" sz="2200" b="0" i="0" dirty="0">
                <a:effectLst/>
                <a:latin typeface="Times New Roman" panose="02020603050405020304" pitchFamily="18" charset="0"/>
                <a:cs typeface="Times New Roman" panose="02020603050405020304" pitchFamily="18" charset="0"/>
              </a:rPr>
              <a:t>— поддержка управления процедурами и программой тестирования, например, управления расписанием плана.</a:t>
            </a:r>
          </a:p>
          <a:p>
            <a:endParaRPr lang="ru-RU" dirty="0"/>
          </a:p>
        </p:txBody>
      </p:sp>
    </p:spTree>
    <p:extLst>
      <p:ext uri="{BB962C8B-B14F-4D97-AF65-F5344CB8AC3E}">
        <p14:creationId xmlns:p14="http://schemas.microsoft.com/office/powerpoint/2010/main" val="15540604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25D1608C-46B7-4636-8FB7-FF5E5C786A94}"/>
              </a:ext>
            </a:extLst>
          </p:cNvPr>
          <p:cNvSpPr>
            <a:spLocks noGrp="1"/>
          </p:cNvSpPr>
          <p:nvPr>
            <p:ph type="title"/>
          </p:nvPr>
        </p:nvSpPr>
        <p:spPr>
          <a:xfrm>
            <a:off x="295322" y="-82946"/>
            <a:ext cx="10515600" cy="1325563"/>
          </a:xfrm>
        </p:spPr>
        <p:txBody>
          <a:bodyPr>
            <a:normAutofit/>
          </a:bodyPr>
          <a:lstStyle/>
          <a:p>
            <a:r>
              <a:rPr lang="ru-RU" sz="3000" dirty="0">
                <a:effectLst/>
                <a:latin typeface="Times New Roman" panose="02020603050405020304" pitchFamily="18" charset="0"/>
                <a:ea typeface="Calibri" panose="020F0502020204030204" pitchFamily="34" charset="0"/>
              </a:rPr>
              <a:t>Структура </a:t>
            </a:r>
            <a:r>
              <a:rPr lang="en-US" sz="3000" dirty="0">
                <a:effectLst/>
                <a:latin typeface="Times New Roman" panose="02020603050405020304" pitchFamily="18" charset="0"/>
                <a:ea typeface="Calibri" panose="020F0502020204030204" pitchFamily="34" charset="0"/>
              </a:rPr>
              <a:t>CASE</a:t>
            </a:r>
            <a:r>
              <a:rPr lang="ru-RU" sz="3000" dirty="0">
                <a:effectLst/>
                <a:latin typeface="Times New Roman" panose="02020603050405020304" pitchFamily="18" charset="0"/>
                <a:ea typeface="Calibri" panose="020F0502020204030204" pitchFamily="34" charset="0"/>
              </a:rPr>
              <a:t>-средства. Структура среды разработки</a:t>
            </a:r>
            <a:endParaRPr lang="ru-RU" sz="3000" dirty="0"/>
          </a:p>
        </p:txBody>
      </p:sp>
      <p:pic>
        <p:nvPicPr>
          <p:cNvPr id="5" name="Picture 2" descr="Picture background">
            <a:extLst>
              <a:ext uri="{FF2B5EF4-FFF2-40B4-BE49-F238E27FC236}">
                <a16:creationId xmlns:a16="http://schemas.microsoft.com/office/drawing/2014/main" id="{3BDC0411-605C-4B16-920D-95C4ED9E6A58}"/>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581683" y="-1636925"/>
            <a:ext cx="7008498" cy="50659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B091515-C4CE-4C68-80C8-D11AD969DA25}"/>
              </a:ext>
            </a:extLst>
          </p:cNvPr>
          <p:cNvSpPr txBox="1"/>
          <p:nvPr/>
        </p:nvSpPr>
        <p:spPr>
          <a:xfrm>
            <a:off x="295321" y="1094196"/>
            <a:ext cx="10918547" cy="2800767"/>
          </a:xfrm>
          <a:prstGeom prst="rect">
            <a:avLst/>
          </a:prstGeom>
          <a:noFill/>
        </p:spPr>
        <p:txBody>
          <a:bodyPr wrap="square" rtlCol="0">
            <a:spAutoFit/>
          </a:bodyPr>
          <a:lstStyle/>
          <a:p>
            <a:r>
              <a:rPr lang="ru-RU" sz="2200" b="1" i="0" dirty="0">
                <a:effectLst/>
                <a:latin typeface="Times New Roman" panose="02020603050405020304" pitchFamily="18" charset="0"/>
                <a:cs typeface="Times New Roman" panose="02020603050405020304" pitchFamily="18" charset="0"/>
              </a:rPr>
              <a:t>— управление качеством </a:t>
            </a:r>
            <a:r>
              <a:rPr lang="ru-RU" sz="2200" b="0" i="0" dirty="0">
                <a:effectLst/>
                <a:latin typeface="Times New Roman" panose="02020603050405020304" pitchFamily="18" charset="0"/>
                <a:cs typeface="Times New Roman" panose="02020603050405020304" pitchFamily="18" charset="0"/>
              </a:rPr>
              <a:t>— ввод соответствующих данных, их анализ и генерация отчетов;</a:t>
            </a:r>
            <a:br>
              <a:rPr lang="ru-RU" sz="2200" dirty="0">
                <a:latin typeface="Times New Roman" panose="02020603050405020304" pitchFamily="18" charset="0"/>
                <a:cs typeface="Times New Roman" panose="02020603050405020304" pitchFamily="18" charset="0"/>
              </a:rPr>
            </a:br>
            <a:r>
              <a:rPr lang="ru-RU" sz="2200" b="1" i="0" dirty="0">
                <a:effectLst/>
                <a:latin typeface="Times New Roman" panose="02020603050405020304" pitchFamily="18" charset="0"/>
                <a:cs typeface="Times New Roman" panose="02020603050405020304" pitchFamily="18" charset="0"/>
              </a:rPr>
              <a:t>— корректирующие действия </a:t>
            </a:r>
            <a:r>
              <a:rPr lang="ru-RU" sz="2200" b="0" i="0" dirty="0">
                <a:effectLst/>
                <a:latin typeface="Times New Roman" panose="02020603050405020304" pitchFamily="18" charset="0"/>
                <a:cs typeface="Times New Roman" panose="02020603050405020304" pitchFamily="18" charset="0"/>
              </a:rPr>
              <a:t>— поддержка управления корректирующими действиями, включая обработку сообщений о проблемных ситуациях.</a:t>
            </a:r>
          </a:p>
          <a:p>
            <a:br>
              <a:rPr lang="ru-RU" sz="2200" dirty="0">
                <a:latin typeface="Times New Roman" panose="02020603050405020304" pitchFamily="18" charset="0"/>
                <a:cs typeface="Times New Roman" panose="02020603050405020304" pitchFamily="18" charset="0"/>
              </a:rPr>
            </a:br>
            <a:r>
              <a:rPr lang="ru-RU" sz="2200" b="0" i="0" dirty="0">
                <a:effectLst/>
                <a:latin typeface="Times New Roman" panose="02020603050405020304" pitchFamily="18" charset="0"/>
                <a:cs typeface="Times New Roman" panose="02020603050405020304" pitchFamily="18" charset="0"/>
              </a:rPr>
              <a:t>Приведенные критерии определяют функции CASE-средств, охватывающие всю совокупность процессов и стадий ЖЦ ПО. Поддержка всех этих функций осуществляется посредством репозитория.</a:t>
            </a:r>
            <a:endParaRPr lang="ru-RU"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509587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TotalTime>
  <Words>4762</Words>
  <Application>Microsoft Office PowerPoint</Application>
  <PresentationFormat>Широкоэкранный</PresentationFormat>
  <Paragraphs>241</Paragraphs>
  <Slides>48</Slides>
  <Notes>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48</vt:i4>
      </vt:variant>
    </vt:vector>
  </HeadingPairs>
  <TitlesOfParts>
    <vt:vector size="55" baseType="lpstr">
      <vt:lpstr>Arial</vt:lpstr>
      <vt:lpstr>Calibri</vt:lpstr>
      <vt:lpstr>Calibri Light</vt:lpstr>
      <vt:lpstr>quote-cjk-patch</vt:lpstr>
      <vt:lpstr>Times New Roman</vt:lpstr>
      <vt:lpstr>Wingdings</vt:lpstr>
      <vt:lpstr>Тема Office</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lpstr>Структура CASE-средства. Структура среды разработки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Структура CASE-средства. Структура среды разработки.</dc:title>
  <dc:creator>Daria</dc:creator>
  <cp:lastModifiedBy>Daria</cp:lastModifiedBy>
  <cp:revision>123</cp:revision>
  <dcterms:created xsi:type="dcterms:W3CDTF">2026-08-30T13:29:02Z</dcterms:created>
  <dcterms:modified xsi:type="dcterms:W3CDTF">2026-09-06T14:50:23Z</dcterms:modified>
</cp:coreProperties>
</file>