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8" r:id="rId11"/>
    <p:sldId id="267" r:id="rId12"/>
    <p:sldId id="269" r:id="rId13"/>
    <p:sldId id="270" r:id="rId14"/>
    <p:sldId id="271" r:id="rId15"/>
    <p:sldId id="272" r:id="rId16"/>
    <p:sldId id="273" r:id="rId17"/>
    <p:sldId id="261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C652939A-B48D-4E1A-BD9D-760BC73AF227}">
          <p14:sldIdLst>
            <p14:sldId id="256"/>
          </p14:sldIdLst>
        </p14:section>
        <p14:section name="Роль анализа предметной области в процессе разработки программного обеспечения." id="{84A04287-6A79-42AA-91E0-77D794786F75}">
          <p14:sldIdLst>
            <p14:sldId id="257"/>
            <p14:sldId id="258"/>
            <p14:sldId id="259"/>
            <p14:sldId id="260"/>
            <p14:sldId id="263"/>
            <p14:sldId id="264"/>
            <p14:sldId id="265"/>
            <p14:sldId id="266"/>
            <p14:sldId id="268"/>
            <p14:sldId id="267"/>
            <p14:sldId id="269"/>
            <p14:sldId id="270"/>
            <p14:sldId id="271"/>
            <p14:sldId id="272"/>
            <p14:sldId id="273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2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ED7DEF-BDA9-40B5-86D2-D3E20E1A41BB}" type="datetimeFigureOut">
              <a:rPr lang="ru-RU" smtClean="0"/>
              <a:t>01.08.2026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72872A-2962-42C7-8919-D4EACD4F92D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8687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22C6F1-D674-44A5-B3AB-6DFB2002BC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1F6DAB9-535F-4E19-A9BA-589666E1A4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5F3018-0F50-480A-B774-5F2D18EBD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35175-367B-4A83-88AB-D3D262185D24}" type="datetimeFigureOut">
              <a:rPr lang="ru-RU" smtClean="0"/>
              <a:t>01.08.2026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FA5345-395D-4BF7-ABC3-D722F7197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4B718C-178E-4DED-A4AA-ECADE5983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E1C7-28F5-4FBA-858F-F7DD6F4D8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3952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424A23-6A08-4CD6-B9FF-233C403C2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B2C7B9-5E69-42AE-B248-EB25CDAC5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12B3E0-1A86-4AD5-A4A4-B45D65775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35175-367B-4A83-88AB-D3D262185D24}" type="datetimeFigureOut">
              <a:rPr lang="ru-RU" smtClean="0"/>
              <a:t>01.08.2026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E72E1B-2C68-449E-AE8B-D3718D3D1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4D58F0-8DCF-4AB7-885E-8FC2AC648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E1C7-28F5-4FBA-858F-F7DD6F4D8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5035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2C4C27-E99B-4F2A-8A35-3C89B2AE2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8D736B4-7984-4295-A276-33B0D19B9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E20BF9-9F97-4812-9C2E-EC3828C58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35175-367B-4A83-88AB-D3D262185D24}" type="datetimeFigureOut">
              <a:rPr lang="ru-RU" smtClean="0"/>
              <a:t>01.08.2026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0EC70B-4ACE-42AB-8CDD-A70217F3B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E4E429-4BFE-4827-8BFB-30A7F25C3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E1C7-28F5-4FBA-858F-F7DD6F4D8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5228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8EB88E-29D2-4183-834F-27607212C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6E4D32-9787-40B7-B4F5-E4CFC1E1FC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F427044-555B-42EF-93AF-F0132C18C8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C4D10AD-2AD1-4ED6-9EB8-3BC2BA7E8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35175-367B-4A83-88AB-D3D262185D24}" type="datetimeFigureOut">
              <a:rPr lang="ru-RU" smtClean="0"/>
              <a:t>01.08.2026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11B854-FB53-41CF-838C-4BAC9B537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6E4101F-7CAF-4516-9C33-D09F96EB3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E1C7-28F5-4FBA-858F-F7DD6F4D8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9340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302FC-0B44-4579-9CA3-3A3B1F516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28BE077-6511-49F3-B161-A4E939C22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70E5EAE-3FA0-44B8-AF4B-0F5641EDBA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1A2BBA4-74D9-49A4-81C6-66668C0A4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81E3C23-76D3-4585-9C07-017BB4D757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8CC81CA-EEDB-47F2-9D41-C7117BE74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35175-367B-4A83-88AB-D3D262185D24}" type="datetimeFigureOut">
              <a:rPr lang="ru-RU" smtClean="0"/>
              <a:t>01.08.2026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1AC84C2-9AEE-4FB9-8E2C-B7B3C5047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DF3C4B9-BCD6-4536-A450-A73148724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E1C7-28F5-4FBA-858F-F7DD6F4D8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570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763145-8FEE-4D4C-BDBD-EFDED578D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0AFEDD9-22F4-4A8B-8436-82C1F886B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35175-367B-4A83-88AB-D3D262185D24}" type="datetimeFigureOut">
              <a:rPr lang="ru-RU" smtClean="0"/>
              <a:t>01.08.2026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25ED892-D35D-4E32-8818-40D9C3D58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8E08351-C6C8-4355-8358-89CD1D6B2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E1C7-28F5-4FBA-858F-F7DD6F4D8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8661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43B7C1F-F7D7-4009-B5E3-3BAC17EF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35175-367B-4A83-88AB-D3D262185D24}" type="datetimeFigureOut">
              <a:rPr lang="ru-RU" smtClean="0"/>
              <a:t>01.08.2026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22EC178-BE93-4621-9FEF-4ADB7E993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392170A-1477-494B-9DB9-5C1AA2016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E1C7-28F5-4FBA-858F-F7DD6F4D8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124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ABC902-1436-4E0A-8CCF-759340096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7AD6DF-43BB-485C-99A5-2AEA84A0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15C04F6-2E3D-45C6-8DEE-4532001932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F05778E-1077-4EA7-8B5F-6E08C99EB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35175-367B-4A83-88AB-D3D262185D24}" type="datetimeFigureOut">
              <a:rPr lang="ru-RU" smtClean="0"/>
              <a:t>01.08.2026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8275E9F-6D33-45BF-A758-2E67C7388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4165CA9-D709-48CB-BEEA-78CAEDC07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E1C7-28F5-4FBA-858F-F7DD6F4D8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8373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54D1E-30AF-4152-96B4-F5E8AC6B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096A17C-64FF-40B7-B574-4BF574C58E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812A70-AC6F-447F-8D6A-DCCA722819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995C53C-763E-4C91-BC59-F6F179C8C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35175-367B-4A83-88AB-D3D262185D24}" type="datetimeFigureOut">
              <a:rPr lang="ru-RU" smtClean="0"/>
              <a:t>01.08.2026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3B93A3-EF40-4FA0-86A9-B5B27B0EB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451E0CD-6126-4103-924B-4648B650A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E1C7-28F5-4FBA-858F-F7DD6F4D8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9167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EAB4F6-2126-4ACC-AA9B-34E8DD9FB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9FA2E15-276E-4D0C-8060-7C3B60264F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C2E5F5-476D-4A4E-A8BF-E5B3E2D98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35175-367B-4A83-88AB-D3D262185D24}" type="datetimeFigureOut">
              <a:rPr lang="ru-RU" smtClean="0"/>
              <a:t>01.08.2026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30DA45-F693-4F31-9CC8-A1BD9900D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B16291A-308E-45FD-8C47-901F3DD1F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E1C7-28F5-4FBA-858F-F7DD6F4D8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6182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FFE6D07-07BC-4112-84FC-0E833649F4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C206B06-F4DF-4823-87FA-7A83FA1FD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EBEC6D-2C4F-404A-A380-22213ACBD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35175-367B-4A83-88AB-D3D262185D24}" type="datetimeFigureOut">
              <a:rPr lang="ru-RU" smtClean="0"/>
              <a:t>01.08.2026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8A92CF-068D-4987-B764-5B50DA196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DFA9B2-B9A8-4E17-8675-EF5731C1E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E1C7-28F5-4FBA-858F-F7DD6F4D8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7443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62EC6-5C56-43D9-AEC9-0737DE768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AF44F5-EB95-40DC-82A0-E8323FB7D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84E605C-4B97-42D4-A299-CBAF8834D8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35175-367B-4A83-88AB-D3D262185D24}" type="datetimeFigureOut">
              <a:rPr lang="ru-RU" smtClean="0"/>
              <a:t>01.08.2026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5F51EC-4E75-4F13-8182-F8212D8DE3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CA0794-BAC7-4263-BD64-BC8E9947C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A5E1C7-28F5-4FBA-858F-F7DD6F4D8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9399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6E476C-1840-41D8-BEB6-8ED713D723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54431"/>
            <a:ext cx="9144000" cy="2387600"/>
          </a:xfrm>
        </p:spPr>
        <p:txBody>
          <a:bodyPr/>
          <a:lstStyle/>
          <a:p>
            <a:r>
              <a:rPr lang="ru-RU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Роль анализа предметной области в процессе разработки программного обеспечения. Основные понятия объектно-ориентированного анализа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ru-RU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09947443-AAFE-48E9-AA4B-7FB27D6D7BA6}"/>
              </a:ext>
            </a:extLst>
          </p:cNvPr>
          <p:cNvGrpSpPr/>
          <p:nvPr/>
        </p:nvGrpSpPr>
        <p:grpSpPr>
          <a:xfrm>
            <a:off x="115615" y="107239"/>
            <a:ext cx="12076385" cy="6750761"/>
            <a:chOff x="115615" y="107239"/>
            <a:chExt cx="12076385" cy="6750761"/>
          </a:xfrm>
        </p:grpSpPr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3086CDD5-D179-45E2-9FEE-8969E7FAA948}"/>
                </a:ext>
              </a:extLst>
            </p:cNvPr>
            <p:cNvGrpSpPr/>
            <p:nvPr/>
          </p:nvGrpSpPr>
          <p:grpSpPr>
            <a:xfrm>
              <a:off x="115615" y="107239"/>
              <a:ext cx="5212691" cy="3956805"/>
              <a:chOff x="242614" y="234240"/>
              <a:chExt cx="5212691" cy="3956805"/>
            </a:xfrm>
          </p:grpSpPr>
          <p:sp>
            <p:nvSpPr>
              <p:cNvPr id="9" name="Половина рамки 8">
                <a:extLst>
                  <a:ext uri="{FF2B5EF4-FFF2-40B4-BE49-F238E27FC236}">
                    <a16:creationId xmlns:a16="http://schemas.microsoft.com/office/drawing/2014/main" id="{7391F6CE-924F-42B8-8FB9-F21A842D9D2F}"/>
                  </a:ext>
                </a:extLst>
              </p:cNvPr>
              <p:cNvSpPr/>
              <p:nvPr/>
            </p:nvSpPr>
            <p:spPr>
              <a:xfrm>
                <a:off x="809734" y="869284"/>
                <a:ext cx="4645571" cy="3321761"/>
              </a:xfrm>
              <a:prstGeom prst="halfFrame">
                <a:avLst/>
              </a:prstGeom>
              <a:solidFill>
                <a:schemeClr val="bg2">
                  <a:alpha val="60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Половина рамки 5">
                <a:extLst>
                  <a:ext uri="{FF2B5EF4-FFF2-40B4-BE49-F238E27FC236}">
                    <a16:creationId xmlns:a16="http://schemas.microsoft.com/office/drawing/2014/main" id="{0E1ACB90-8739-4AE7-A558-BD05134113D1}"/>
                  </a:ext>
                </a:extLst>
              </p:cNvPr>
              <p:cNvSpPr/>
              <p:nvPr/>
            </p:nvSpPr>
            <p:spPr>
              <a:xfrm>
                <a:off x="242614" y="234240"/>
                <a:ext cx="4645571" cy="3321761"/>
              </a:xfrm>
              <a:prstGeom prst="halfFram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83735256-BBEC-451B-89BE-01002E9C0DB7}"/>
                </a:ext>
              </a:extLst>
            </p:cNvPr>
            <p:cNvGrpSpPr/>
            <p:nvPr/>
          </p:nvGrpSpPr>
          <p:grpSpPr>
            <a:xfrm rot="10800000">
              <a:off x="7157109" y="2971262"/>
              <a:ext cx="5034891" cy="3886738"/>
              <a:chOff x="420414" y="304307"/>
              <a:chExt cx="5034891" cy="3886738"/>
            </a:xfrm>
          </p:grpSpPr>
          <p:sp>
            <p:nvSpPr>
              <p:cNvPr id="12" name="Половина рамки 11">
                <a:extLst>
                  <a:ext uri="{FF2B5EF4-FFF2-40B4-BE49-F238E27FC236}">
                    <a16:creationId xmlns:a16="http://schemas.microsoft.com/office/drawing/2014/main" id="{C7A82AE2-1096-4938-8B5E-98186B4680F8}"/>
                  </a:ext>
                </a:extLst>
              </p:cNvPr>
              <p:cNvSpPr/>
              <p:nvPr/>
            </p:nvSpPr>
            <p:spPr>
              <a:xfrm>
                <a:off x="809734" y="869284"/>
                <a:ext cx="4645571" cy="3321761"/>
              </a:xfrm>
              <a:prstGeom prst="halfFrame">
                <a:avLst/>
              </a:prstGeom>
              <a:solidFill>
                <a:schemeClr val="bg2">
                  <a:alpha val="60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Половина рамки 12">
                <a:extLst>
                  <a:ext uri="{FF2B5EF4-FFF2-40B4-BE49-F238E27FC236}">
                    <a16:creationId xmlns:a16="http://schemas.microsoft.com/office/drawing/2014/main" id="{B05456DF-96E5-45E5-B688-BB24899F3C12}"/>
                  </a:ext>
                </a:extLst>
              </p:cNvPr>
              <p:cNvSpPr/>
              <p:nvPr/>
            </p:nvSpPr>
            <p:spPr>
              <a:xfrm>
                <a:off x="420414" y="304307"/>
                <a:ext cx="4645571" cy="3321761"/>
              </a:xfrm>
              <a:prstGeom prst="halfFram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85006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0DF7D648-D87E-44B5-BB11-C1379A1D5AF8}"/>
              </a:ext>
            </a:extLst>
          </p:cNvPr>
          <p:cNvGrpSpPr/>
          <p:nvPr/>
        </p:nvGrpSpPr>
        <p:grpSpPr>
          <a:xfrm>
            <a:off x="115615" y="107239"/>
            <a:ext cx="12076385" cy="6750761"/>
            <a:chOff x="115615" y="107239"/>
            <a:chExt cx="12076385" cy="6750761"/>
          </a:xfrm>
        </p:grpSpPr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7DA14758-7FF6-41B5-A504-3BAC57272F1F}"/>
                </a:ext>
              </a:extLst>
            </p:cNvPr>
            <p:cNvGrpSpPr/>
            <p:nvPr/>
          </p:nvGrpSpPr>
          <p:grpSpPr>
            <a:xfrm>
              <a:off x="115615" y="107239"/>
              <a:ext cx="5212691" cy="3956805"/>
              <a:chOff x="242614" y="234240"/>
              <a:chExt cx="5212691" cy="3956805"/>
            </a:xfrm>
          </p:grpSpPr>
          <p:sp>
            <p:nvSpPr>
              <p:cNvPr id="14" name="Половина рамки 13">
                <a:extLst>
                  <a:ext uri="{FF2B5EF4-FFF2-40B4-BE49-F238E27FC236}">
                    <a16:creationId xmlns:a16="http://schemas.microsoft.com/office/drawing/2014/main" id="{C25EA72F-596A-4B35-A476-0824F47512FF}"/>
                  </a:ext>
                </a:extLst>
              </p:cNvPr>
              <p:cNvSpPr/>
              <p:nvPr/>
            </p:nvSpPr>
            <p:spPr>
              <a:xfrm>
                <a:off x="809734" y="869284"/>
                <a:ext cx="4645571" cy="3321761"/>
              </a:xfrm>
              <a:prstGeom prst="halfFrame">
                <a:avLst/>
              </a:prstGeom>
              <a:solidFill>
                <a:schemeClr val="bg2">
                  <a:alpha val="60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Половина рамки 14">
                <a:extLst>
                  <a:ext uri="{FF2B5EF4-FFF2-40B4-BE49-F238E27FC236}">
                    <a16:creationId xmlns:a16="http://schemas.microsoft.com/office/drawing/2014/main" id="{4A9455CA-BC14-4002-8415-FF1AB845EA49}"/>
                  </a:ext>
                </a:extLst>
              </p:cNvPr>
              <p:cNvSpPr/>
              <p:nvPr/>
            </p:nvSpPr>
            <p:spPr>
              <a:xfrm>
                <a:off x="242614" y="234240"/>
                <a:ext cx="4645571" cy="3321761"/>
              </a:xfrm>
              <a:prstGeom prst="halfFram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F550B43F-5D8B-4C33-9278-BEB8F271F6BB}"/>
                </a:ext>
              </a:extLst>
            </p:cNvPr>
            <p:cNvGrpSpPr/>
            <p:nvPr/>
          </p:nvGrpSpPr>
          <p:grpSpPr>
            <a:xfrm rot="10800000">
              <a:off x="7157109" y="2971262"/>
              <a:ext cx="5034891" cy="3886738"/>
              <a:chOff x="420414" y="304307"/>
              <a:chExt cx="5034891" cy="3886738"/>
            </a:xfrm>
          </p:grpSpPr>
          <p:sp>
            <p:nvSpPr>
              <p:cNvPr id="12" name="Половина рамки 11">
                <a:extLst>
                  <a:ext uri="{FF2B5EF4-FFF2-40B4-BE49-F238E27FC236}">
                    <a16:creationId xmlns:a16="http://schemas.microsoft.com/office/drawing/2014/main" id="{500F8451-6AD6-4BD8-A375-CCA48E8E46DE}"/>
                  </a:ext>
                </a:extLst>
              </p:cNvPr>
              <p:cNvSpPr/>
              <p:nvPr/>
            </p:nvSpPr>
            <p:spPr>
              <a:xfrm>
                <a:off x="809734" y="869284"/>
                <a:ext cx="4645571" cy="3321761"/>
              </a:xfrm>
              <a:prstGeom prst="halfFrame">
                <a:avLst/>
              </a:prstGeom>
              <a:solidFill>
                <a:schemeClr val="bg2">
                  <a:alpha val="60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Половина рамки 12">
                <a:extLst>
                  <a:ext uri="{FF2B5EF4-FFF2-40B4-BE49-F238E27FC236}">
                    <a16:creationId xmlns:a16="http://schemas.microsoft.com/office/drawing/2014/main" id="{5DAF2D06-2EAC-4ACF-8DBC-8AF70893A2D9}"/>
                  </a:ext>
                </a:extLst>
              </p:cNvPr>
              <p:cNvSpPr/>
              <p:nvPr/>
            </p:nvSpPr>
            <p:spPr>
              <a:xfrm>
                <a:off x="420414" y="304307"/>
                <a:ext cx="4645571" cy="3321761"/>
              </a:xfrm>
              <a:prstGeom prst="halfFram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4FDDCF7-E25D-45FD-AF00-01348A24EEC7}"/>
              </a:ext>
            </a:extLst>
          </p:cNvPr>
          <p:cNvSpPr txBox="1"/>
          <p:nvPr/>
        </p:nvSpPr>
        <p:spPr>
          <a:xfrm>
            <a:off x="371234" y="160001"/>
            <a:ext cx="1159083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1. Роль анализа предметной области в процессе разработки программного обеспечения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ru-RU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Основные понятия объектно-ориентированного анализа</a:t>
            </a:r>
            <a:endParaRPr lang="ru-RU" sz="35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8C1A68-407E-4B12-A465-FAC06395B96A}"/>
              </a:ext>
            </a:extLst>
          </p:cNvPr>
          <p:cNvSpPr txBox="1"/>
          <p:nvPr/>
        </p:nvSpPr>
        <p:spPr>
          <a:xfrm>
            <a:off x="371234" y="1792384"/>
            <a:ext cx="358117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D7F568-A248-421C-9B80-4C07DE1ED74B}"/>
              </a:ext>
            </a:extLst>
          </p:cNvPr>
          <p:cNvSpPr txBox="1"/>
          <p:nvPr/>
        </p:nvSpPr>
        <p:spPr>
          <a:xfrm>
            <a:off x="371234" y="2148202"/>
            <a:ext cx="1170515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того, чтобы разработать программную систему, приносящую реальные выгоды определенным пользователям, необходимо сначала выяснить, какие же 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она должна решать для этих людей и какими свойствами обладать</a:t>
            </a:r>
            <a:r>
              <a:rPr lang="ru-RU" dirty="0"/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5D2706-9380-4DA4-A1D5-5A91EFC531D4}"/>
              </a:ext>
            </a:extLst>
          </p:cNvPr>
          <p:cNvSpPr txBox="1"/>
          <p:nvPr/>
        </p:nvSpPr>
        <p:spPr>
          <a:xfrm>
            <a:off x="389320" y="3237579"/>
            <a:ext cx="1170515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Предметная область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информация об объектах, процессах и явлениях окружающего мира, которая с точки зрения потенциальных пользователей должна храниться и обрабатываться в разрабатываемой программной системе. (Некоторая часть реального мира, в которой будет функционировать разрабатываемая ПС).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D5F7CA-B7C9-440A-A32B-995AB00BC853}"/>
              </a:ext>
            </a:extLst>
          </p:cNvPr>
          <p:cNvSpPr txBox="1"/>
          <p:nvPr/>
        </p:nvSpPr>
        <p:spPr>
          <a:xfrm>
            <a:off x="389320" y="4658751"/>
            <a:ext cx="1121245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Предметной областью информационной системы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является совокупность объектов, свойства которых и отношения между которыми представляют интерес для пользователей ИС.</a:t>
            </a:r>
          </a:p>
        </p:txBody>
      </p:sp>
    </p:spTree>
    <p:extLst>
      <p:ext uri="{BB962C8B-B14F-4D97-AF65-F5344CB8AC3E}">
        <p14:creationId xmlns:p14="http://schemas.microsoft.com/office/powerpoint/2010/main" val="3010443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9A3C874-1624-4B20-BC2F-984D13C80811}"/>
              </a:ext>
            </a:extLst>
          </p:cNvPr>
          <p:cNvGrpSpPr/>
          <p:nvPr/>
        </p:nvGrpSpPr>
        <p:grpSpPr>
          <a:xfrm>
            <a:off x="115615" y="107239"/>
            <a:ext cx="12076385" cy="6750761"/>
            <a:chOff x="115615" y="107239"/>
            <a:chExt cx="12076385" cy="6750761"/>
          </a:xfrm>
        </p:grpSpPr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86BA1EA7-65B3-459D-BA4B-3FEFC0ED04A0}"/>
                </a:ext>
              </a:extLst>
            </p:cNvPr>
            <p:cNvGrpSpPr/>
            <p:nvPr/>
          </p:nvGrpSpPr>
          <p:grpSpPr>
            <a:xfrm>
              <a:off x="115615" y="107239"/>
              <a:ext cx="5212691" cy="3956805"/>
              <a:chOff x="242614" y="234240"/>
              <a:chExt cx="5212691" cy="3956805"/>
            </a:xfrm>
          </p:grpSpPr>
          <p:sp>
            <p:nvSpPr>
              <p:cNvPr id="9" name="Половина рамки 8">
                <a:extLst>
                  <a:ext uri="{FF2B5EF4-FFF2-40B4-BE49-F238E27FC236}">
                    <a16:creationId xmlns:a16="http://schemas.microsoft.com/office/drawing/2014/main" id="{5370C295-4CEB-4FB9-AAD5-01FD95E7F41D}"/>
                  </a:ext>
                </a:extLst>
              </p:cNvPr>
              <p:cNvSpPr/>
              <p:nvPr/>
            </p:nvSpPr>
            <p:spPr>
              <a:xfrm>
                <a:off x="809734" y="869284"/>
                <a:ext cx="4645571" cy="3321761"/>
              </a:xfrm>
              <a:prstGeom prst="halfFrame">
                <a:avLst/>
              </a:prstGeom>
              <a:solidFill>
                <a:schemeClr val="bg2">
                  <a:alpha val="60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Половина рамки 9">
                <a:extLst>
                  <a:ext uri="{FF2B5EF4-FFF2-40B4-BE49-F238E27FC236}">
                    <a16:creationId xmlns:a16="http://schemas.microsoft.com/office/drawing/2014/main" id="{96E6EC14-F6C0-490E-AA49-A858321E6D31}"/>
                  </a:ext>
                </a:extLst>
              </p:cNvPr>
              <p:cNvSpPr/>
              <p:nvPr/>
            </p:nvSpPr>
            <p:spPr>
              <a:xfrm>
                <a:off x="242614" y="234240"/>
                <a:ext cx="4645571" cy="3321761"/>
              </a:xfrm>
              <a:prstGeom prst="halfFram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D7348494-D8C5-4676-823E-9B09FFA8EFC9}"/>
                </a:ext>
              </a:extLst>
            </p:cNvPr>
            <p:cNvGrpSpPr/>
            <p:nvPr/>
          </p:nvGrpSpPr>
          <p:grpSpPr>
            <a:xfrm rot="10800000">
              <a:off x="7157109" y="2971262"/>
              <a:ext cx="5034891" cy="3886738"/>
              <a:chOff x="420414" y="304307"/>
              <a:chExt cx="5034891" cy="3886738"/>
            </a:xfrm>
          </p:grpSpPr>
          <p:sp>
            <p:nvSpPr>
              <p:cNvPr id="7" name="Половина рамки 6">
                <a:extLst>
                  <a:ext uri="{FF2B5EF4-FFF2-40B4-BE49-F238E27FC236}">
                    <a16:creationId xmlns:a16="http://schemas.microsoft.com/office/drawing/2014/main" id="{F88B602E-A0E0-4D86-B36B-55378BDA5211}"/>
                  </a:ext>
                </a:extLst>
              </p:cNvPr>
              <p:cNvSpPr/>
              <p:nvPr/>
            </p:nvSpPr>
            <p:spPr>
              <a:xfrm>
                <a:off x="809734" y="869284"/>
                <a:ext cx="4645571" cy="3321761"/>
              </a:xfrm>
              <a:prstGeom prst="halfFrame">
                <a:avLst/>
              </a:prstGeom>
              <a:solidFill>
                <a:schemeClr val="bg2">
                  <a:alpha val="60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Половина рамки 7">
                <a:extLst>
                  <a:ext uri="{FF2B5EF4-FFF2-40B4-BE49-F238E27FC236}">
                    <a16:creationId xmlns:a16="http://schemas.microsoft.com/office/drawing/2014/main" id="{B5C99EDA-5DEA-42C1-B703-75CE8259B037}"/>
                  </a:ext>
                </a:extLst>
              </p:cNvPr>
              <p:cNvSpPr/>
              <p:nvPr/>
            </p:nvSpPr>
            <p:spPr>
              <a:xfrm>
                <a:off x="420414" y="304307"/>
                <a:ext cx="4645571" cy="3321761"/>
              </a:xfrm>
              <a:prstGeom prst="halfFram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BC0D4C2-101F-4D74-855E-7660CA27598F}"/>
              </a:ext>
            </a:extLst>
          </p:cNvPr>
          <p:cNvSpPr txBox="1"/>
          <p:nvPr/>
        </p:nvSpPr>
        <p:spPr>
          <a:xfrm>
            <a:off x="300582" y="107239"/>
            <a:ext cx="1159083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1. Роль анализа предметной области в процессе разработки программного обеспечения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Основные понятия объектно-ориентированного анализа.</a:t>
            </a:r>
            <a:endParaRPr lang="ru-RU" sz="35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EFD9D6-22D4-4F47-80C6-5B7EA5C7FF2A}"/>
              </a:ext>
            </a:extLst>
          </p:cNvPr>
          <p:cNvSpPr txBox="1"/>
          <p:nvPr/>
        </p:nvSpPr>
        <p:spPr>
          <a:xfrm>
            <a:off x="300582" y="1655693"/>
            <a:ext cx="1168706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Первым этапом нашей работы при получении запроса на разработку программного продукта является определение целей его создания и перечня задач, которые он в перспективе должен решить. Если заказчик не предоставляет нам формулировку целей и перечень задач, то мы выявляем это совместно, путем анкетирования. Вот некоторые вопросы, которые могут быть заданы заказчику в процессе анкетирования: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8ABA79-27A2-46A6-B817-6C201857160A}"/>
              </a:ext>
            </a:extLst>
          </p:cNvPr>
          <p:cNvSpPr txBox="1"/>
          <p:nvPr/>
        </p:nvSpPr>
        <p:spPr>
          <a:xfrm>
            <a:off x="246717" y="3460558"/>
            <a:ext cx="11135997" cy="37548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 чем вы видите назначение будущей системы?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Какие проблемы она должна решить?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Какие возможности должна предоставить?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Как должна выглядеть?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Известны ли вам аналогичные продукты?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Будет ли система единичной или тиражируемой?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 каких странах она будет работать?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Предполагается ли обмен данными с другими существующими продуктами?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Сколько пользователей будет работать с системой к моменту реализации и в перспективе?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 какими системами и как давно вы работаете?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0054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5DCA2A0-848A-4685-A846-6EAC4A715CD1}"/>
              </a:ext>
            </a:extLst>
          </p:cNvPr>
          <p:cNvGrpSpPr/>
          <p:nvPr/>
        </p:nvGrpSpPr>
        <p:grpSpPr>
          <a:xfrm>
            <a:off x="115615" y="107239"/>
            <a:ext cx="12076385" cy="6750761"/>
            <a:chOff x="115615" y="107239"/>
            <a:chExt cx="12076385" cy="6750761"/>
          </a:xfrm>
        </p:grpSpPr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09447965-832B-4442-A937-DB006F82DD92}"/>
                </a:ext>
              </a:extLst>
            </p:cNvPr>
            <p:cNvGrpSpPr/>
            <p:nvPr/>
          </p:nvGrpSpPr>
          <p:grpSpPr>
            <a:xfrm>
              <a:off x="115615" y="107239"/>
              <a:ext cx="5212691" cy="3956805"/>
              <a:chOff x="242614" y="234240"/>
              <a:chExt cx="5212691" cy="3956805"/>
            </a:xfrm>
          </p:grpSpPr>
          <p:sp>
            <p:nvSpPr>
              <p:cNvPr id="9" name="Половина рамки 8">
                <a:extLst>
                  <a:ext uri="{FF2B5EF4-FFF2-40B4-BE49-F238E27FC236}">
                    <a16:creationId xmlns:a16="http://schemas.microsoft.com/office/drawing/2014/main" id="{BD8D225F-B050-4F7F-9DC9-0DE316150D31}"/>
                  </a:ext>
                </a:extLst>
              </p:cNvPr>
              <p:cNvSpPr/>
              <p:nvPr/>
            </p:nvSpPr>
            <p:spPr>
              <a:xfrm>
                <a:off x="809734" y="869284"/>
                <a:ext cx="4645571" cy="3321761"/>
              </a:xfrm>
              <a:prstGeom prst="halfFrame">
                <a:avLst/>
              </a:prstGeom>
              <a:solidFill>
                <a:schemeClr val="bg2">
                  <a:alpha val="60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Половина рамки 9">
                <a:extLst>
                  <a:ext uri="{FF2B5EF4-FFF2-40B4-BE49-F238E27FC236}">
                    <a16:creationId xmlns:a16="http://schemas.microsoft.com/office/drawing/2014/main" id="{1856D7E8-B235-486E-8DD6-FC285EB7186A}"/>
                  </a:ext>
                </a:extLst>
              </p:cNvPr>
              <p:cNvSpPr/>
              <p:nvPr/>
            </p:nvSpPr>
            <p:spPr>
              <a:xfrm>
                <a:off x="242614" y="234240"/>
                <a:ext cx="4645571" cy="3321761"/>
              </a:xfrm>
              <a:prstGeom prst="halfFram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DA8ED01F-DB7D-4E6C-93BF-82D78B7FE9EC}"/>
                </a:ext>
              </a:extLst>
            </p:cNvPr>
            <p:cNvGrpSpPr/>
            <p:nvPr/>
          </p:nvGrpSpPr>
          <p:grpSpPr>
            <a:xfrm rot="10800000">
              <a:off x="7157109" y="2971262"/>
              <a:ext cx="5034891" cy="3886738"/>
              <a:chOff x="420414" y="304307"/>
              <a:chExt cx="5034891" cy="3886738"/>
            </a:xfrm>
          </p:grpSpPr>
          <p:sp>
            <p:nvSpPr>
              <p:cNvPr id="7" name="Половина рамки 6">
                <a:extLst>
                  <a:ext uri="{FF2B5EF4-FFF2-40B4-BE49-F238E27FC236}">
                    <a16:creationId xmlns:a16="http://schemas.microsoft.com/office/drawing/2014/main" id="{6275295F-2ED6-46FE-9485-559777900E6E}"/>
                  </a:ext>
                </a:extLst>
              </p:cNvPr>
              <p:cNvSpPr/>
              <p:nvPr/>
            </p:nvSpPr>
            <p:spPr>
              <a:xfrm>
                <a:off x="809734" y="869284"/>
                <a:ext cx="4645571" cy="3321761"/>
              </a:xfrm>
              <a:prstGeom prst="halfFrame">
                <a:avLst/>
              </a:prstGeom>
              <a:solidFill>
                <a:schemeClr val="bg2">
                  <a:alpha val="60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Половина рамки 7">
                <a:extLst>
                  <a:ext uri="{FF2B5EF4-FFF2-40B4-BE49-F238E27FC236}">
                    <a16:creationId xmlns:a16="http://schemas.microsoft.com/office/drawing/2014/main" id="{A142A0E9-8EA8-4E11-8637-BF23697FAB72}"/>
                  </a:ext>
                </a:extLst>
              </p:cNvPr>
              <p:cNvSpPr/>
              <p:nvPr/>
            </p:nvSpPr>
            <p:spPr>
              <a:xfrm>
                <a:off x="420414" y="304307"/>
                <a:ext cx="4645571" cy="3321761"/>
              </a:xfrm>
              <a:prstGeom prst="halfFram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9B45035E-01E7-45B5-A627-65BBFB7BA61A}"/>
              </a:ext>
            </a:extLst>
          </p:cNvPr>
          <p:cNvSpPr txBox="1"/>
          <p:nvPr/>
        </p:nvSpPr>
        <p:spPr>
          <a:xfrm>
            <a:off x="300582" y="107239"/>
            <a:ext cx="1159083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1. Роль анализа предметной области в процессе разработки программного обеспечения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Основные понятия объектно-ориентированного анализа.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FCB37E-864B-4153-9D07-04A8F1E892BC}"/>
              </a:ext>
            </a:extLst>
          </p:cNvPr>
          <p:cNvSpPr txBox="1"/>
          <p:nvPr/>
        </p:nvSpPr>
        <p:spPr>
          <a:xfrm>
            <a:off x="211845" y="1918945"/>
            <a:ext cx="1168706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2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Чтобы ПО было действительно полезным, важно, чтобы оно удовлетворяло реальные потребности людей и организаций, которые часто отличаются от непосредственно выражаемых пользователями желаний. Для выявления этих потребностей, а также для выяснения смысла высказанных требований приходится проводить достаточно большую дополнительную работу,</a:t>
            </a:r>
          </a:p>
          <a:p>
            <a:pPr algn="l"/>
            <a:r>
              <a:rPr lang="ru-RU" sz="22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которая называется </a:t>
            </a:r>
            <a:r>
              <a:rPr lang="ru-RU" sz="2200" b="1" i="1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анализом предметной области </a:t>
            </a:r>
            <a:r>
              <a:rPr lang="ru-RU" sz="22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или</a:t>
            </a:r>
            <a:r>
              <a:rPr lang="ru-RU" sz="2200" b="1" i="1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бизнес-моделированием</a:t>
            </a:r>
            <a:r>
              <a:rPr lang="ru-RU" sz="22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 если речь идет о потребностях коммерческой организации.</a:t>
            </a:r>
          </a:p>
          <a:p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A7C640-2702-40A1-87D6-9E21E5072D7F}"/>
              </a:ext>
            </a:extLst>
          </p:cNvPr>
          <p:cNvSpPr txBox="1"/>
          <p:nvPr/>
        </p:nvSpPr>
        <p:spPr>
          <a:xfrm>
            <a:off x="211845" y="4071155"/>
            <a:ext cx="1159083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В результате этой деятельности разработчики должны научиться понимать язык, на котором говорят пользователи и заказчики, выявить цели их деятельности, определить набор задач, решаемых ими. В дополнение стоит выяснить, какие вообще задачи нужно уметь решать для достижения этих целей, выяснить свойства результатов, которые хотелось бы получить, а также определить набор сущностей, с которыми приходится иметь дело при решении этих задач. Кроме того, </a:t>
            </a:r>
            <a:r>
              <a:rPr lang="ru-RU" sz="22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анализ предметной области позволяет выявить места возможных улучшений и оценить последствия принимаемых решений о реализации тех или иных функций.</a:t>
            </a:r>
            <a:endParaRPr lang="ru-RU" sz="2200" i="1" dirty="0"/>
          </a:p>
        </p:txBody>
      </p:sp>
    </p:spTree>
    <p:extLst>
      <p:ext uri="{BB962C8B-B14F-4D97-AF65-F5344CB8AC3E}">
        <p14:creationId xmlns:p14="http://schemas.microsoft.com/office/powerpoint/2010/main" val="2813239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35956338-550A-48C7-81A3-9534861E103C}"/>
              </a:ext>
            </a:extLst>
          </p:cNvPr>
          <p:cNvGrpSpPr/>
          <p:nvPr/>
        </p:nvGrpSpPr>
        <p:grpSpPr>
          <a:xfrm>
            <a:off x="0" y="0"/>
            <a:ext cx="12076385" cy="6750761"/>
            <a:chOff x="115615" y="107239"/>
            <a:chExt cx="12076385" cy="6750761"/>
          </a:xfrm>
        </p:grpSpPr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6E05361F-4D56-461E-8831-C8A754DC1694}"/>
                </a:ext>
              </a:extLst>
            </p:cNvPr>
            <p:cNvGrpSpPr/>
            <p:nvPr/>
          </p:nvGrpSpPr>
          <p:grpSpPr>
            <a:xfrm>
              <a:off x="115615" y="107239"/>
              <a:ext cx="5212691" cy="3956805"/>
              <a:chOff x="242614" y="234240"/>
              <a:chExt cx="5212691" cy="3956805"/>
            </a:xfrm>
          </p:grpSpPr>
          <p:sp>
            <p:nvSpPr>
              <p:cNvPr id="9" name="Половина рамки 8">
                <a:extLst>
                  <a:ext uri="{FF2B5EF4-FFF2-40B4-BE49-F238E27FC236}">
                    <a16:creationId xmlns:a16="http://schemas.microsoft.com/office/drawing/2014/main" id="{5F3356C4-B7C4-4732-91EB-8857832FC8AE}"/>
                  </a:ext>
                </a:extLst>
              </p:cNvPr>
              <p:cNvSpPr/>
              <p:nvPr/>
            </p:nvSpPr>
            <p:spPr>
              <a:xfrm>
                <a:off x="809734" y="869284"/>
                <a:ext cx="4645571" cy="3321761"/>
              </a:xfrm>
              <a:prstGeom prst="halfFrame">
                <a:avLst/>
              </a:prstGeom>
              <a:solidFill>
                <a:schemeClr val="bg2">
                  <a:alpha val="60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Половина рамки 9">
                <a:extLst>
                  <a:ext uri="{FF2B5EF4-FFF2-40B4-BE49-F238E27FC236}">
                    <a16:creationId xmlns:a16="http://schemas.microsoft.com/office/drawing/2014/main" id="{B18FAFCA-EB37-42F7-AA66-8883A72FCAD9}"/>
                  </a:ext>
                </a:extLst>
              </p:cNvPr>
              <p:cNvSpPr/>
              <p:nvPr/>
            </p:nvSpPr>
            <p:spPr>
              <a:xfrm>
                <a:off x="242614" y="234240"/>
                <a:ext cx="4645571" cy="3321761"/>
              </a:xfrm>
              <a:prstGeom prst="halfFram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5562BD7A-2581-486E-9126-87DA31934426}"/>
                </a:ext>
              </a:extLst>
            </p:cNvPr>
            <p:cNvGrpSpPr/>
            <p:nvPr/>
          </p:nvGrpSpPr>
          <p:grpSpPr>
            <a:xfrm rot="10800000">
              <a:off x="7157109" y="2971262"/>
              <a:ext cx="5034891" cy="3886738"/>
              <a:chOff x="420414" y="304307"/>
              <a:chExt cx="5034891" cy="3886738"/>
            </a:xfrm>
          </p:grpSpPr>
          <p:sp>
            <p:nvSpPr>
              <p:cNvPr id="7" name="Половина рамки 6">
                <a:extLst>
                  <a:ext uri="{FF2B5EF4-FFF2-40B4-BE49-F238E27FC236}">
                    <a16:creationId xmlns:a16="http://schemas.microsoft.com/office/drawing/2014/main" id="{7919AACD-90BC-4BCE-BECA-548A8601BBB4}"/>
                  </a:ext>
                </a:extLst>
              </p:cNvPr>
              <p:cNvSpPr/>
              <p:nvPr/>
            </p:nvSpPr>
            <p:spPr>
              <a:xfrm>
                <a:off x="809734" y="869284"/>
                <a:ext cx="4645571" cy="3321761"/>
              </a:xfrm>
              <a:prstGeom prst="halfFrame">
                <a:avLst/>
              </a:prstGeom>
              <a:solidFill>
                <a:schemeClr val="bg2">
                  <a:alpha val="60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Половина рамки 7">
                <a:extLst>
                  <a:ext uri="{FF2B5EF4-FFF2-40B4-BE49-F238E27FC236}">
                    <a16:creationId xmlns:a16="http://schemas.microsoft.com/office/drawing/2014/main" id="{86FCD4F1-3DBF-4892-9027-CCF20B9A574D}"/>
                  </a:ext>
                </a:extLst>
              </p:cNvPr>
              <p:cNvSpPr/>
              <p:nvPr/>
            </p:nvSpPr>
            <p:spPr>
              <a:xfrm>
                <a:off x="420414" y="304307"/>
                <a:ext cx="4645571" cy="3321761"/>
              </a:xfrm>
              <a:prstGeom prst="halfFram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DAFCF2C-1746-4EE6-BB91-0DE211B2BCEE}"/>
              </a:ext>
            </a:extLst>
          </p:cNvPr>
          <p:cNvSpPr txBox="1"/>
          <p:nvPr/>
        </p:nvSpPr>
        <p:spPr>
          <a:xfrm>
            <a:off x="300582" y="107239"/>
            <a:ext cx="1159083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1. Роль анализа предметной области в процессе разработки программного обеспечения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Основные понятия объектно-ориентированного анализа.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FCE0B3-19A2-4233-ACB5-988A0A174CF3}"/>
              </a:ext>
            </a:extLst>
          </p:cNvPr>
          <p:cNvSpPr txBox="1"/>
          <p:nvPr/>
        </p:nvSpPr>
        <p:spPr>
          <a:xfrm>
            <a:off x="318830" y="1731475"/>
            <a:ext cx="1125234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Ключевая проблема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с которой сталкиваются разработчики: пользователи часто не могут чётко сформулировать все требования. Их пожелания могут быть: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противоречивыми;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неполными;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содержать профессиональный жаргон, непонятный разработчикам.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CAEBA8-FB85-47FE-844D-FEF0F20E2EEB}"/>
              </a:ext>
            </a:extLst>
          </p:cNvPr>
          <p:cNvSpPr txBox="1"/>
          <p:nvPr/>
        </p:nvSpPr>
        <p:spPr>
          <a:xfrm>
            <a:off x="318830" y="3477117"/>
            <a:ext cx="1169668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 помогает преодолеть эти сложности. </a:t>
            </a:r>
            <a:r>
              <a:rPr lang="ru-RU" sz="22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Системные аналитики 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или </a:t>
            </a:r>
            <a:r>
              <a:rPr lang="ru-RU" sz="22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бизнес-аналитики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изучают предметную область и передают полученные знания другим членам проектной команды, </a:t>
            </a: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формулируя их на более понятном разработчикам языке.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656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207EB280-CC88-44D5-BF2A-6DDBE44E64E5}"/>
              </a:ext>
            </a:extLst>
          </p:cNvPr>
          <p:cNvGrpSpPr/>
          <p:nvPr/>
        </p:nvGrpSpPr>
        <p:grpSpPr>
          <a:xfrm>
            <a:off x="115615" y="107239"/>
            <a:ext cx="12076385" cy="6750761"/>
            <a:chOff x="115615" y="107239"/>
            <a:chExt cx="12076385" cy="6750761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F8EB775D-1CD6-43E4-A318-E2D77112A9A1}"/>
                </a:ext>
              </a:extLst>
            </p:cNvPr>
            <p:cNvGrpSpPr/>
            <p:nvPr/>
          </p:nvGrpSpPr>
          <p:grpSpPr>
            <a:xfrm>
              <a:off x="115615" y="107239"/>
              <a:ext cx="5212691" cy="3956805"/>
              <a:chOff x="242614" y="234240"/>
              <a:chExt cx="5212691" cy="3956805"/>
            </a:xfrm>
          </p:grpSpPr>
          <p:sp>
            <p:nvSpPr>
              <p:cNvPr id="10" name="Половина рамки 9">
                <a:extLst>
                  <a:ext uri="{FF2B5EF4-FFF2-40B4-BE49-F238E27FC236}">
                    <a16:creationId xmlns:a16="http://schemas.microsoft.com/office/drawing/2014/main" id="{6C16A9D0-8E6B-44F7-8A93-511320E7BCD2}"/>
                  </a:ext>
                </a:extLst>
              </p:cNvPr>
              <p:cNvSpPr/>
              <p:nvPr/>
            </p:nvSpPr>
            <p:spPr>
              <a:xfrm>
                <a:off x="809734" y="869284"/>
                <a:ext cx="4645571" cy="3321761"/>
              </a:xfrm>
              <a:prstGeom prst="halfFrame">
                <a:avLst/>
              </a:prstGeom>
              <a:solidFill>
                <a:schemeClr val="bg2">
                  <a:alpha val="60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Половина рамки 10">
                <a:extLst>
                  <a:ext uri="{FF2B5EF4-FFF2-40B4-BE49-F238E27FC236}">
                    <a16:creationId xmlns:a16="http://schemas.microsoft.com/office/drawing/2014/main" id="{49B3E042-03BD-417B-ADDA-8EF68BF18E24}"/>
                  </a:ext>
                </a:extLst>
              </p:cNvPr>
              <p:cNvSpPr/>
              <p:nvPr/>
            </p:nvSpPr>
            <p:spPr>
              <a:xfrm>
                <a:off x="242614" y="234240"/>
                <a:ext cx="4645571" cy="3321761"/>
              </a:xfrm>
              <a:prstGeom prst="halfFram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AFC011CE-4040-4E1B-A6EC-A61A643C49D5}"/>
                </a:ext>
              </a:extLst>
            </p:cNvPr>
            <p:cNvGrpSpPr/>
            <p:nvPr/>
          </p:nvGrpSpPr>
          <p:grpSpPr>
            <a:xfrm rot="10800000">
              <a:off x="7157109" y="2971262"/>
              <a:ext cx="5034891" cy="3886738"/>
              <a:chOff x="420414" y="304307"/>
              <a:chExt cx="5034891" cy="3886738"/>
            </a:xfrm>
          </p:grpSpPr>
          <p:sp>
            <p:nvSpPr>
              <p:cNvPr id="8" name="Половина рамки 7">
                <a:extLst>
                  <a:ext uri="{FF2B5EF4-FFF2-40B4-BE49-F238E27FC236}">
                    <a16:creationId xmlns:a16="http://schemas.microsoft.com/office/drawing/2014/main" id="{74704C24-664E-47D3-9E79-7336ED3E572B}"/>
                  </a:ext>
                </a:extLst>
              </p:cNvPr>
              <p:cNvSpPr/>
              <p:nvPr/>
            </p:nvSpPr>
            <p:spPr>
              <a:xfrm>
                <a:off x="809734" y="869284"/>
                <a:ext cx="4645571" cy="3321761"/>
              </a:xfrm>
              <a:prstGeom prst="halfFrame">
                <a:avLst/>
              </a:prstGeom>
              <a:solidFill>
                <a:schemeClr val="bg2">
                  <a:alpha val="60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Половина рамки 8">
                <a:extLst>
                  <a:ext uri="{FF2B5EF4-FFF2-40B4-BE49-F238E27FC236}">
                    <a16:creationId xmlns:a16="http://schemas.microsoft.com/office/drawing/2014/main" id="{E3C99EDF-4EEF-4679-A359-A4E03E5DAEA9}"/>
                  </a:ext>
                </a:extLst>
              </p:cNvPr>
              <p:cNvSpPr/>
              <p:nvPr/>
            </p:nvSpPr>
            <p:spPr>
              <a:xfrm>
                <a:off x="420414" y="304307"/>
                <a:ext cx="4645571" cy="3321761"/>
              </a:xfrm>
              <a:prstGeom prst="halfFram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8CF7E78-DCD2-43DB-BF92-AD1144C7411E}"/>
              </a:ext>
            </a:extLst>
          </p:cNvPr>
          <p:cNvSpPr txBox="1"/>
          <p:nvPr/>
        </p:nvSpPr>
        <p:spPr>
          <a:xfrm>
            <a:off x="300582" y="107239"/>
            <a:ext cx="1159083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1. Роль анализа предметной области в процессе разработки программного обеспечения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Основные понятия объектно-ориентированного анализа.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8E778C-B161-4EB5-A049-EF250B39D34B}"/>
              </a:ext>
            </a:extLst>
          </p:cNvPr>
          <p:cNvSpPr txBox="1"/>
          <p:nvPr/>
        </p:nvSpPr>
        <p:spPr>
          <a:xfrm>
            <a:off x="300582" y="1815399"/>
            <a:ext cx="277114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Методология анализа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1D2825-51DC-4EE3-A800-50FB34EF36BE}"/>
              </a:ext>
            </a:extLst>
          </p:cNvPr>
          <p:cNvSpPr txBox="1"/>
          <p:nvPr/>
        </p:nvSpPr>
        <p:spPr>
          <a:xfrm>
            <a:off x="264590" y="2211406"/>
            <a:ext cx="1166281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Структурным анализом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принято называть метод исследования системы, который начинается с ее общего обзора, а затем детализируется, приобретая иерархическую структуру с все большим числом уровней.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C45108-B8EE-4421-A65A-D7800078D6B0}"/>
              </a:ext>
            </a:extLst>
          </p:cNvPr>
          <p:cNvSpPr txBox="1"/>
          <p:nvPr/>
        </p:nvSpPr>
        <p:spPr>
          <a:xfrm>
            <a:off x="264590" y="3416601"/>
            <a:ext cx="1146585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Структурный анализ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основан на двух базовых принципах – "</a:t>
            </a:r>
            <a:r>
              <a:rPr lang="ru-RU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разделяй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властвуй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и принципе иерархической упорядоченности.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 трудных проблем путем их разбиения на множество меньших независимых задач (так называемых "черных ящиков") и организация этих задач в древовидные иерархические структуры значительно повышают понимание сложных систем.</a:t>
            </a:r>
          </a:p>
        </p:txBody>
      </p:sp>
    </p:spTree>
    <p:extLst>
      <p:ext uri="{BB962C8B-B14F-4D97-AF65-F5344CB8AC3E}">
        <p14:creationId xmlns:p14="http://schemas.microsoft.com/office/powerpoint/2010/main" val="2497884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A5C5059D-72C7-486C-B130-11EBAD8FBCC2}"/>
              </a:ext>
            </a:extLst>
          </p:cNvPr>
          <p:cNvGrpSpPr/>
          <p:nvPr/>
        </p:nvGrpSpPr>
        <p:grpSpPr>
          <a:xfrm>
            <a:off x="115615" y="107239"/>
            <a:ext cx="12076385" cy="6750761"/>
            <a:chOff x="115615" y="107239"/>
            <a:chExt cx="12076385" cy="6750761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079E2AB5-B31C-43EF-A960-20D18F95989E}"/>
                </a:ext>
              </a:extLst>
            </p:cNvPr>
            <p:cNvGrpSpPr/>
            <p:nvPr/>
          </p:nvGrpSpPr>
          <p:grpSpPr>
            <a:xfrm>
              <a:off x="115615" y="107239"/>
              <a:ext cx="5212691" cy="3956805"/>
              <a:chOff x="242614" y="234240"/>
              <a:chExt cx="5212691" cy="3956805"/>
            </a:xfrm>
          </p:grpSpPr>
          <p:sp>
            <p:nvSpPr>
              <p:cNvPr id="10" name="Половина рамки 9">
                <a:extLst>
                  <a:ext uri="{FF2B5EF4-FFF2-40B4-BE49-F238E27FC236}">
                    <a16:creationId xmlns:a16="http://schemas.microsoft.com/office/drawing/2014/main" id="{C1A73A6C-56EC-4710-AED2-709734756952}"/>
                  </a:ext>
                </a:extLst>
              </p:cNvPr>
              <p:cNvSpPr/>
              <p:nvPr/>
            </p:nvSpPr>
            <p:spPr>
              <a:xfrm>
                <a:off x="809734" y="869284"/>
                <a:ext cx="4645571" cy="3321761"/>
              </a:xfrm>
              <a:prstGeom prst="halfFrame">
                <a:avLst/>
              </a:prstGeom>
              <a:solidFill>
                <a:schemeClr val="bg2">
                  <a:alpha val="60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Половина рамки 10">
                <a:extLst>
                  <a:ext uri="{FF2B5EF4-FFF2-40B4-BE49-F238E27FC236}">
                    <a16:creationId xmlns:a16="http://schemas.microsoft.com/office/drawing/2014/main" id="{519341E7-54B6-4995-8008-6365F70A854F}"/>
                  </a:ext>
                </a:extLst>
              </p:cNvPr>
              <p:cNvSpPr/>
              <p:nvPr/>
            </p:nvSpPr>
            <p:spPr>
              <a:xfrm>
                <a:off x="242614" y="234240"/>
                <a:ext cx="4645571" cy="3321761"/>
              </a:xfrm>
              <a:prstGeom prst="halfFram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817007FB-FFB7-4721-9B99-9EBF8F4A3CB9}"/>
                </a:ext>
              </a:extLst>
            </p:cNvPr>
            <p:cNvGrpSpPr/>
            <p:nvPr/>
          </p:nvGrpSpPr>
          <p:grpSpPr>
            <a:xfrm rot="10800000">
              <a:off x="7157109" y="2971262"/>
              <a:ext cx="5034891" cy="3886738"/>
              <a:chOff x="420414" y="304307"/>
              <a:chExt cx="5034891" cy="3886738"/>
            </a:xfrm>
          </p:grpSpPr>
          <p:sp>
            <p:nvSpPr>
              <p:cNvPr id="8" name="Половина рамки 7">
                <a:extLst>
                  <a:ext uri="{FF2B5EF4-FFF2-40B4-BE49-F238E27FC236}">
                    <a16:creationId xmlns:a16="http://schemas.microsoft.com/office/drawing/2014/main" id="{09D9FACF-0B67-4AA6-97BD-2A4AADD91267}"/>
                  </a:ext>
                </a:extLst>
              </p:cNvPr>
              <p:cNvSpPr/>
              <p:nvPr/>
            </p:nvSpPr>
            <p:spPr>
              <a:xfrm>
                <a:off x="809734" y="869284"/>
                <a:ext cx="4645571" cy="3321761"/>
              </a:xfrm>
              <a:prstGeom prst="halfFrame">
                <a:avLst/>
              </a:prstGeom>
              <a:solidFill>
                <a:schemeClr val="bg2">
                  <a:alpha val="60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Половина рамки 8">
                <a:extLst>
                  <a:ext uri="{FF2B5EF4-FFF2-40B4-BE49-F238E27FC236}">
                    <a16:creationId xmlns:a16="http://schemas.microsoft.com/office/drawing/2014/main" id="{DB105330-764C-419F-A9D6-F96D93716D30}"/>
                  </a:ext>
                </a:extLst>
              </p:cNvPr>
              <p:cNvSpPr/>
              <p:nvPr/>
            </p:nvSpPr>
            <p:spPr>
              <a:xfrm>
                <a:off x="420414" y="304307"/>
                <a:ext cx="4645571" cy="3321761"/>
              </a:xfrm>
              <a:prstGeom prst="halfFram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48DC4D6-11A1-459A-B1EC-334A2CFCFA28}"/>
              </a:ext>
            </a:extLst>
          </p:cNvPr>
          <p:cNvSpPr txBox="1"/>
          <p:nvPr/>
        </p:nvSpPr>
        <p:spPr>
          <a:xfrm>
            <a:off x="300582" y="107239"/>
            <a:ext cx="1159083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1. Роль анализа предметной области в процессе разработки программного обеспечения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Основные понятия объектно-ориентированного анализа.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4B7BAE-9208-41AF-8CD0-7F3774DCD288}"/>
              </a:ext>
            </a:extLst>
          </p:cNvPr>
          <p:cNvSpPr txBox="1"/>
          <p:nvPr/>
        </p:nvSpPr>
        <p:spPr>
          <a:xfrm>
            <a:off x="300582" y="1731401"/>
            <a:ext cx="515500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понятия структурного анализа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FFFDF9-8F6C-4F2B-8BB9-4BBEAECB0D2E}"/>
              </a:ext>
            </a:extLst>
          </p:cNvPr>
          <p:cNvSpPr txBox="1"/>
          <p:nvPr/>
        </p:nvSpPr>
        <p:spPr>
          <a:xfrm>
            <a:off x="300582" y="2257886"/>
            <a:ext cx="11590835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Операция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элементарное (неделимое) действие, выполняемое на одном рабочем месте.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совокупность операций, сгруппированных по определенному признаку.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Бизнес-процесс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связанная совокупность функций, в ходе выполнения которой потребляются определенные ресурсы и создается продукт (предмет, услуга, научное открытие, идея), представляющая ценность для потребителя.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Подпроцесс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это бизнес-процесс, являющийся структурным элементом некоторого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бизнеспроцесса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представляющий ценность для потребителя</a:t>
            </a:r>
            <a:r>
              <a:rPr lang="ru-RU" sz="2400" dirty="0"/>
              <a:t>.</a:t>
            </a:r>
            <a:endParaRPr lang="en-US" sz="2400" dirty="0"/>
          </a:p>
          <a:p>
            <a:r>
              <a:rPr lang="ru-RU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Бизнес-модель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структурированное графическое описание сети процессов и операций, связанных с данными, документами, организационными единицами и прочими объектами, отражающими существующую или предполагаемую деятельность предприятия.</a:t>
            </a:r>
          </a:p>
        </p:txBody>
      </p:sp>
    </p:spTree>
    <p:extLst>
      <p:ext uri="{BB962C8B-B14F-4D97-AF65-F5344CB8AC3E}">
        <p14:creationId xmlns:p14="http://schemas.microsoft.com/office/powerpoint/2010/main" val="3039401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37049A5-1C7D-4128-A731-FE905C61972E}"/>
              </a:ext>
            </a:extLst>
          </p:cNvPr>
          <p:cNvGrpSpPr/>
          <p:nvPr/>
        </p:nvGrpSpPr>
        <p:grpSpPr>
          <a:xfrm>
            <a:off x="115615" y="107239"/>
            <a:ext cx="12076385" cy="6750761"/>
            <a:chOff x="115615" y="107239"/>
            <a:chExt cx="12076385" cy="6750761"/>
          </a:xfrm>
        </p:grpSpPr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0A926131-EB2C-4ADB-B515-6651A3296E85}"/>
                </a:ext>
              </a:extLst>
            </p:cNvPr>
            <p:cNvGrpSpPr/>
            <p:nvPr/>
          </p:nvGrpSpPr>
          <p:grpSpPr>
            <a:xfrm>
              <a:off x="115615" y="107239"/>
              <a:ext cx="5212691" cy="3956805"/>
              <a:chOff x="242614" y="234240"/>
              <a:chExt cx="5212691" cy="3956805"/>
            </a:xfrm>
          </p:grpSpPr>
          <p:sp>
            <p:nvSpPr>
              <p:cNvPr id="9" name="Половина рамки 8">
                <a:extLst>
                  <a:ext uri="{FF2B5EF4-FFF2-40B4-BE49-F238E27FC236}">
                    <a16:creationId xmlns:a16="http://schemas.microsoft.com/office/drawing/2014/main" id="{336566F0-C9BB-43E7-9D9A-F2A12FB67F1A}"/>
                  </a:ext>
                </a:extLst>
              </p:cNvPr>
              <p:cNvSpPr/>
              <p:nvPr/>
            </p:nvSpPr>
            <p:spPr>
              <a:xfrm>
                <a:off x="809734" y="869284"/>
                <a:ext cx="4645571" cy="3321761"/>
              </a:xfrm>
              <a:prstGeom prst="halfFrame">
                <a:avLst/>
              </a:prstGeom>
              <a:solidFill>
                <a:schemeClr val="bg2">
                  <a:alpha val="60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Половина рамки 9">
                <a:extLst>
                  <a:ext uri="{FF2B5EF4-FFF2-40B4-BE49-F238E27FC236}">
                    <a16:creationId xmlns:a16="http://schemas.microsoft.com/office/drawing/2014/main" id="{97E4F8C3-6D60-46AD-B097-7C26E1A86CD1}"/>
                  </a:ext>
                </a:extLst>
              </p:cNvPr>
              <p:cNvSpPr/>
              <p:nvPr/>
            </p:nvSpPr>
            <p:spPr>
              <a:xfrm>
                <a:off x="242614" y="234240"/>
                <a:ext cx="4645571" cy="3321761"/>
              </a:xfrm>
              <a:prstGeom prst="halfFram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8E0E272D-942D-4B27-931E-E9B8D32245FD}"/>
                </a:ext>
              </a:extLst>
            </p:cNvPr>
            <p:cNvGrpSpPr/>
            <p:nvPr/>
          </p:nvGrpSpPr>
          <p:grpSpPr>
            <a:xfrm rot="10800000">
              <a:off x="7157109" y="2971262"/>
              <a:ext cx="5034891" cy="3886738"/>
              <a:chOff x="420414" y="304307"/>
              <a:chExt cx="5034891" cy="3886738"/>
            </a:xfrm>
          </p:grpSpPr>
          <p:sp>
            <p:nvSpPr>
              <p:cNvPr id="7" name="Половина рамки 6">
                <a:extLst>
                  <a:ext uri="{FF2B5EF4-FFF2-40B4-BE49-F238E27FC236}">
                    <a16:creationId xmlns:a16="http://schemas.microsoft.com/office/drawing/2014/main" id="{F15ABE5E-1ADE-4975-A002-97F0DABD75E6}"/>
                  </a:ext>
                </a:extLst>
              </p:cNvPr>
              <p:cNvSpPr/>
              <p:nvPr/>
            </p:nvSpPr>
            <p:spPr>
              <a:xfrm>
                <a:off x="809734" y="869284"/>
                <a:ext cx="4645571" cy="3321761"/>
              </a:xfrm>
              <a:prstGeom prst="halfFrame">
                <a:avLst/>
              </a:prstGeom>
              <a:solidFill>
                <a:schemeClr val="bg2">
                  <a:alpha val="60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Половина рамки 7">
                <a:extLst>
                  <a:ext uri="{FF2B5EF4-FFF2-40B4-BE49-F238E27FC236}">
                    <a16:creationId xmlns:a16="http://schemas.microsoft.com/office/drawing/2014/main" id="{65088F38-6B11-4B73-A22C-15BA771D57DB}"/>
                  </a:ext>
                </a:extLst>
              </p:cNvPr>
              <p:cNvSpPr/>
              <p:nvPr/>
            </p:nvSpPr>
            <p:spPr>
              <a:xfrm>
                <a:off x="420414" y="304307"/>
                <a:ext cx="4645571" cy="3321761"/>
              </a:xfrm>
              <a:prstGeom prst="halfFram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4F75953-8D29-432F-9EE5-B717F517B7FF}"/>
              </a:ext>
            </a:extLst>
          </p:cNvPr>
          <p:cNvSpPr txBox="1"/>
          <p:nvPr/>
        </p:nvSpPr>
        <p:spPr>
          <a:xfrm>
            <a:off x="300582" y="107239"/>
            <a:ext cx="1159083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1. Роль анализа предметной области в процессе разработки программного обеспечения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Основные понятия объектно-ориентированного анализа.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B90313-C18C-403B-A48B-00CDF2C5059D}"/>
              </a:ext>
            </a:extLst>
          </p:cNvPr>
          <p:cNvSpPr txBox="1"/>
          <p:nvPr/>
        </p:nvSpPr>
        <p:spPr>
          <a:xfrm>
            <a:off x="300582" y="1768119"/>
            <a:ext cx="115908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Структурный анализ проводится для исследования характеристик системы путем выделения в ней подсистем, а также их элементов, и определения отношений и связей между ними.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8C4C8B-9610-499C-91F9-66536873CD00}"/>
              </a:ext>
            </a:extLst>
          </p:cNvPr>
          <p:cNvSpPr txBox="1"/>
          <p:nvPr/>
        </p:nvSpPr>
        <p:spPr>
          <a:xfrm>
            <a:off x="300582" y="2601930"/>
            <a:ext cx="668894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Структурный анализ включает следующие этапы</a:t>
            </a:r>
            <a:r>
              <a:rPr lang="ru-RU" b="1" dirty="0"/>
              <a:t>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3BB58D-3BB8-4FC8-A1BE-4807E7E32468}"/>
              </a:ext>
            </a:extLst>
          </p:cNvPr>
          <p:cNvSpPr txBox="1"/>
          <p:nvPr/>
        </p:nvSpPr>
        <p:spPr>
          <a:xfrm>
            <a:off x="170753" y="3128957"/>
            <a:ext cx="1190563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декомпозиция системы на подсистемы и элементы, формирование структур и их описание;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 качественных и количественных характеристик выделенных структур;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формирование критериев и оценка эффективности выделенных структур;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принятие решения о необходимости совершенствования структурных характеристик системы</a:t>
            </a:r>
            <a:r>
              <a:rPr lang="ru-RU" sz="2400" dirty="0"/>
              <a:t>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424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D1FED127-0EC7-44B0-9A9F-D4DF307B4CF0}"/>
              </a:ext>
            </a:extLst>
          </p:cNvPr>
          <p:cNvGrpSpPr/>
          <p:nvPr/>
        </p:nvGrpSpPr>
        <p:grpSpPr>
          <a:xfrm>
            <a:off x="115615" y="107239"/>
            <a:ext cx="12076385" cy="6750761"/>
            <a:chOff x="115615" y="107239"/>
            <a:chExt cx="12076385" cy="6750761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4C9D137A-BFCA-406A-9192-7CEDB6D4E07B}"/>
                </a:ext>
              </a:extLst>
            </p:cNvPr>
            <p:cNvGrpSpPr/>
            <p:nvPr/>
          </p:nvGrpSpPr>
          <p:grpSpPr>
            <a:xfrm>
              <a:off x="115615" y="107239"/>
              <a:ext cx="5212691" cy="3956805"/>
              <a:chOff x="242614" y="234240"/>
              <a:chExt cx="5212691" cy="3956805"/>
            </a:xfrm>
          </p:grpSpPr>
          <p:sp>
            <p:nvSpPr>
              <p:cNvPr id="10" name="Половина рамки 9">
                <a:extLst>
                  <a:ext uri="{FF2B5EF4-FFF2-40B4-BE49-F238E27FC236}">
                    <a16:creationId xmlns:a16="http://schemas.microsoft.com/office/drawing/2014/main" id="{2F35BAB4-7B0B-45F2-A2C3-478CBD94970A}"/>
                  </a:ext>
                </a:extLst>
              </p:cNvPr>
              <p:cNvSpPr/>
              <p:nvPr/>
            </p:nvSpPr>
            <p:spPr>
              <a:xfrm>
                <a:off x="809734" y="869284"/>
                <a:ext cx="4645571" cy="3321761"/>
              </a:xfrm>
              <a:prstGeom prst="halfFrame">
                <a:avLst/>
              </a:prstGeom>
              <a:solidFill>
                <a:schemeClr val="bg2">
                  <a:alpha val="60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Половина рамки 10">
                <a:extLst>
                  <a:ext uri="{FF2B5EF4-FFF2-40B4-BE49-F238E27FC236}">
                    <a16:creationId xmlns:a16="http://schemas.microsoft.com/office/drawing/2014/main" id="{4200A194-7118-4102-BDCE-944525BE9D9B}"/>
                  </a:ext>
                </a:extLst>
              </p:cNvPr>
              <p:cNvSpPr/>
              <p:nvPr/>
            </p:nvSpPr>
            <p:spPr>
              <a:xfrm>
                <a:off x="242614" y="234240"/>
                <a:ext cx="4645571" cy="3321761"/>
              </a:xfrm>
              <a:prstGeom prst="halfFram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DEB72A78-33EC-4107-87E6-EF65BA8BF8A5}"/>
                </a:ext>
              </a:extLst>
            </p:cNvPr>
            <p:cNvGrpSpPr/>
            <p:nvPr/>
          </p:nvGrpSpPr>
          <p:grpSpPr>
            <a:xfrm rot="10800000">
              <a:off x="7157109" y="2971262"/>
              <a:ext cx="5034891" cy="3886738"/>
              <a:chOff x="420414" y="304307"/>
              <a:chExt cx="5034891" cy="3886738"/>
            </a:xfrm>
          </p:grpSpPr>
          <p:sp>
            <p:nvSpPr>
              <p:cNvPr id="8" name="Половина рамки 7">
                <a:extLst>
                  <a:ext uri="{FF2B5EF4-FFF2-40B4-BE49-F238E27FC236}">
                    <a16:creationId xmlns:a16="http://schemas.microsoft.com/office/drawing/2014/main" id="{A0BAC5CA-52F1-47E5-B0BB-C42A473E6209}"/>
                  </a:ext>
                </a:extLst>
              </p:cNvPr>
              <p:cNvSpPr/>
              <p:nvPr/>
            </p:nvSpPr>
            <p:spPr>
              <a:xfrm>
                <a:off x="809734" y="869284"/>
                <a:ext cx="4645571" cy="3321761"/>
              </a:xfrm>
              <a:prstGeom prst="halfFrame">
                <a:avLst/>
              </a:prstGeom>
              <a:solidFill>
                <a:schemeClr val="bg2">
                  <a:alpha val="60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Половина рамки 8">
                <a:extLst>
                  <a:ext uri="{FF2B5EF4-FFF2-40B4-BE49-F238E27FC236}">
                    <a16:creationId xmlns:a16="http://schemas.microsoft.com/office/drawing/2014/main" id="{D0A72B88-EB2A-4832-AD4D-00D073AB7EA9}"/>
                  </a:ext>
                </a:extLst>
              </p:cNvPr>
              <p:cNvSpPr/>
              <p:nvPr/>
            </p:nvSpPr>
            <p:spPr>
              <a:xfrm>
                <a:off x="420414" y="304307"/>
                <a:ext cx="4645571" cy="3321761"/>
              </a:xfrm>
              <a:prstGeom prst="halfFram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D4CA00B-039A-448B-9FDD-A44649DB7F89}"/>
              </a:ext>
            </a:extLst>
          </p:cNvPr>
          <p:cNvSpPr txBox="1"/>
          <p:nvPr/>
        </p:nvSpPr>
        <p:spPr>
          <a:xfrm>
            <a:off x="300582" y="107239"/>
            <a:ext cx="1159083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1. Роль анализа предметной области в процессе разработки программного обеспечения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Основные понятия объектно-ориентированного анализа.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985B92-5B83-4318-A302-005A04ECDDC1}"/>
              </a:ext>
            </a:extLst>
          </p:cNvPr>
          <p:cNvSpPr txBox="1"/>
          <p:nvPr/>
        </p:nvSpPr>
        <p:spPr>
          <a:xfrm>
            <a:off x="300581" y="1937155"/>
            <a:ext cx="1159083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Объектно-ориентированный анализ и проектирование (OOAD)</a:t>
            </a:r>
            <a:r>
              <a:rPr lang="ru-RU" sz="2200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это методология в программной инженерии, которая объединяет два тесно связанных, но различных процесса: объектно-ориентированный анализ (OOA) и объектно-ориентированное проектирование (ООД). Он основан на принципах объектно-ориентированного программирования (ООП) и служит системным и структурированным подходом к проектированию и построению программных систем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BBF923-ABC6-47A6-A09C-A7A2C861174F}"/>
              </a:ext>
            </a:extLst>
          </p:cNvPr>
          <p:cNvSpPr txBox="1"/>
          <p:nvPr/>
        </p:nvSpPr>
        <p:spPr>
          <a:xfrm>
            <a:off x="300581" y="4114218"/>
            <a:ext cx="275152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понятия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D1C4D1-5572-4102-B126-E4B7D9AF5A80}"/>
              </a:ext>
            </a:extLst>
          </p:cNvPr>
          <p:cNvSpPr txBox="1"/>
          <p:nvPr/>
        </p:nvSpPr>
        <p:spPr>
          <a:xfrm>
            <a:off x="300581" y="4596955"/>
            <a:ext cx="115020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 экземпляр сущности из предметной области, обладающий состоянием (набором значений атрибутов), поведением (операциями/методами) и индивидуальностью. Например, в банковской системе объект «Клиент» может иметь атрибуты ФИО, номер счёта и поведение «совершить платёж».</a:t>
            </a:r>
          </a:p>
        </p:txBody>
      </p:sp>
    </p:spTree>
    <p:extLst>
      <p:ext uri="{BB962C8B-B14F-4D97-AF65-F5344CB8AC3E}">
        <p14:creationId xmlns:p14="http://schemas.microsoft.com/office/powerpoint/2010/main" val="3589228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AE09CC6-9AD6-42BF-A0DB-36BB9AD71D38}"/>
              </a:ext>
            </a:extLst>
          </p:cNvPr>
          <p:cNvGrpSpPr/>
          <p:nvPr/>
        </p:nvGrpSpPr>
        <p:grpSpPr>
          <a:xfrm>
            <a:off x="115615" y="107239"/>
            <a:ext cx="12076385" cy="6750761"/>
            <a:chOff x="115615" y="107239"/>
            <a:chExt cx="12076385" cy="6750761"/>
          </a:xfrm>
        </p:grpSpPr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B1B9402D-EBF1-4742-8630-11D016C36C94}"/>
                </a:ext>
              </a:extLst>
            </p:cNvPr>
            <p:cNvGrpSpPr/>
            <p:nvPr/>
          </p:nvGrpSpPr>
          <p:grpSpPr>
            <a:xfrm>
              <a:off x="115615" y="107239"/>
              <a:ext cx="5212691" cy="3956805"/>
              <a:chOff x="242614" y="234240"/>
              <a:chExt cx="5212691" cy="3956805"/>
            </a:xfrm>
          </p:grpSpPr>
          <p:sp>
            <p:nvSpPr>
              <p:cNvPr id="9" name="Половина рамки 8">
                <a:extLst>
                  <a:ext uri="{FF2B5EF4-FFF2-40B4-BE49-F238E27FC236}">
                    <a16:creationId xmlns:a16="http://schemas.microsoft.com/office/drawing/2014/main" id="{EB8A1500-8473-462C-8CAB-3F024F9AAAA6}"/>
                  </a:ext>
                </a:extLst>
              </p:cNvPr>
              <p:cNvSpPr/>
              <p:nvPr/>
            </p:nvSpPr>
            <p:spPr>
              <a:xfrm>
                <a:off x="809734" y="869284"/>
                <a:ext cx="4645571" cy="3321761"/>
              </a:xfrm>
              <a:prstGeom prst="halfFrame">
                <a:avLst/>
              </a:prstGeom>
              <a:solidFill>
                <a:schemeClr val="bg2">
                  <a:alpha val="60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Половина рамки 9">
                <a:extLst>
                  <a:ext uri="{FF2B5EF4-FFF2-40B4-BE49-F238E27FC236}">
                    <a16:creationId xmlns:a16="http://schemas.microsoft.com/office/drawing/2014/main" id="{8CBA908D-3BEA-4A41-BDC4-3A4FFC90D863}"/>
                  </a:ext>
                </a:extLst>
              </p:cNvPr>
              <p:cNvSpPr/>
              <p:nvPr/>
            </p:nvSpPr>
            <p:spPr>
              <a:xfrm>
                <a:off x="242614" y="234240"/>
                <a:ext cx="4645571" cy="3321761"/>
              </a:xfrm>
              <a:prstGeom prst="halfFram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27A47BDA-0C23-4834-81EF-777A37FD6A44}"/>
                </a:ext>
              </a:extLst>
            </p:cNvPr>
            <p:cNvGrpSpPr/>
            <p:nvPr/>
          </p:nvGrpSpPr>
          <p:grpSpPr>
            <a:xfrm rot="10800000">
              <a:off x="7157109" y="2971262"/>
              <a:ext cx="5034891" cy="3886738"/>
              <a:chOff x="420414" y="304307"/>
              <a:chExt cx="5034891" cy="3886738"/>
            </a:xfrm>
          </p:grpSpPr>
          <p:sp>
            <p:nvSpPr>
              <p:cNvPr id="7" name="Половина рамки 6">
                <a:extLst>
                  <a:ext uri="{FF2B5EF4-FFF2-40B4-BE49-F238E27FC236}">
                    <a16:creationId xmlns:a16="http://schemas.microsoft.com/office/drawing/2014/main" id="{F3D17303-2A05-47B6-BD94-BAE55373A09A}"/>
                  </a:ext>
                </a:extLst>
              </p:cNvPr>
              <p:cNvSpPr/>
              <p:nvPr/>
            </p:nvSpPr>
            <p:spPr>
              <a:xfrm>
                <a:off x="809734" y="869284"/>
                <a:ext cx="4645571" cy="3321761"/>
              </a:xfrm>
              <a:prstGeom prst="halfFrame">
                <a:avLst/>
              </a:prstGeom>
              <a:solidFill>
                <a:schemeClr val="bg2">
                  <a:alpha val="60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Половина рамки 7">
                <a:extLst>
                  <a:ext uri="{FF2B5EF4-FFF2-40B4-BE49-F238E27FC236}">
                    <a16:creationId xmlns:a16="http://schemas.microsoft.com/office/drawing/2014/main" id="{08E2689F-9032-4A88-8366-EF3D95C0C1A4}"/>
                  </a:ext>
                </a:extLst>
              </p:cNvPr>
              <p:cNvSpPr/>
              <p:nvPr/>
            </p:nvSpPr>
            <p:spPr>
              <a:xfrm>
                <a:off x="420414" y="304307"/>
                <a:ext cx="4645571" cy="3321761"/>
              </a:xfrm>
              <a:prstGeom prst="halfFram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EA03457-D012-49CD-ACB4-764875BAB806}"/>
              </a:ext>
            </a:extLst>
          </p:cNvPr>
          <p:cNvSpPr txBox="1"/>
          <p:nvPr/>
        </p:nvSpPr>
        <p:spPr>
          <a:xfrm>
            <a:off x="118565" y="125499"/>
            <a:ext cx="1159083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1. Роль анализа предметной области в процессе разработки программного обеспечения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Основные понятия объектно-ориентированного анализа.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5CAC24-4CD0-4094-944A-B50A60E7431D}"/>
              </a:ext>
            </a:extLst>
          </p:cNvPr>
          <p:cNvSpPr txBox="1"/>
          <p:nvPr/>
        </p:nvSpPr>
        <p:spPr>
          <a:xfrm>
            <a:off x="300582" y="1857150"/>
            <a:ext cx="1140881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 шаблон (тип) для создания объектов, описывающий общие атрибуты и методы группы объектов. Класс «Клиент» определяет, какие данные и операции есть у любого клиента.</a:t>
            </a:r>
          </a:p>
          <a:p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AA0C9FAD-5F54-44E2-984D-7418C72C5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582" y="2893662"/>
            <a:ext cx="1097701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Атрибут</a:t>
            </a:r>
            <a:r>
              <a:rPr kumimoji="0" lang="ru-RU" altLang="ru-RU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 характеристика объекта (свойство, поле). Например, дата рождения 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16E03A9F-B364-4BED-B058-9889C5BB7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517" y="3381300"/>
            <a:ext cx="1129335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Метод (операция)</a:t>
            </a:r>
            <a:r>
              <a:rPr kumimoji="0" lang="ru-RU" altLang="ru-RU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 действие, которое может выполнять объект или которое можно над ним выполнить. Например, пополнить счёт, сменить тариф.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7C928B-CEEA-45D8-B389-6F2DF1016F50}"/>
              </a:ext>
            </a:extLst>
          </p:cNvPr>
          <p:cNvSpPr txBox="1"/>
          <p:nvPr/>
        </p:nvSpPr>
        <p:spPr>
          <a:xfrm>
            <a:off x="343418" y="4178215"/>
            <a:ext cx="115051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Состояние объекта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 текущие значения его атрибутов. Объект может менять состояние в ответ на вызовы методов или внешние события.</a:t>
            </a:r>
          </a:p>
        </p:txBody>
      </p:sp>
    </p:spTree>
    <p:extLst>
      <p:ext uri="{BB962C8B-B14F-4D97-AF65-F5344CB8AC3E}">
        <p14:creationId xmlns:p14="http://schemas.microsoft.com/office/powerpoint/2010/main" val="860682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B66B0698-0070-4D47-B25C-594B4CD8D3B8}"/>
              </a:ext>
            </a:extLst>
          </p:cNvPr>
          <p:cNvGrpSpPr/>
          <p:nvPr/>
        </p:nvGrpSpPr>
        <p:grpSpPr>
          <a:xfrm>
            <a:off x="115615" y="107239"/>
            <a:ext cx="12076385" cy="6750761"/>
            <a:chOff x="115615" y="107239"/>
            <a:chExt cx="12076385" cy="6750761"/>
          </a:xfrm>
        </p:grpSpPr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8679D09D-6CC7-4B89-8F62-05D42702DF97}"/>
                </a:ext>
              </a:extLst>
            </p:cNvPr>
            <p:cNvGrpSpPr/>
            <p:nvPr/>
          </p:nvGrpSpPr>
          <p:grpSpPr>
            <a:xfrm>
              <a:off x="115615" y="107239"/>
              <a:ext cx="5212691" cy="3956805"/>
              <a:chOff x="242614" y="234240"/>
              <a:chExt cx="5212691" cy="3956805"/>
            </a:xfrm>
          </p:grpSpPr>
          <p:sp>
            <p:nvSpPr>
              <p:cNvPr id="12" name="Половина рамки 11">
                <a:extLst>
                  <a:ext uri="{FF2B5EF4-FFF2-40B4-BE49-F238E27FC236}">
                    <a16:creationId xmlns:a16="http://schemas.microsoft.com/office/drawing/2014/main" id="{76E6127E-0053-4FAE-867E-5248E475E38F}"/>
                  </a:ext>
                </a:extLst>
              </p:cNvPr>
              <p:cNvSpPr/>
              <p:nvPr/>
            </p:nvSpPr>
            <p:spPr>
              <a:xfrm>
                <a:off x="809734" y="869284"/>
                <a:ext cx="4645571" cy="3321761"/>
              </a:xfrm>
              <a:prstGeom prst="halfFrame">
                <a:avLst/>
              </a:prstGeom>
              <a:solidFill>
                <a:schemeClr val="bg2">
                  <a:alpha val="60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Половина рамки 12">
                <a:extLst>
                  <a:ext uri="{FF2B5EF4-FFF2-40B4-BE49-F238E27FC236}">
                    <a16:creationId xmlns:a16="http://schemas.microsoft.com/office/drawing/2014/main" id="{ACCB12F5-2783-418F-830F-4444669A6C87}"/>
                  </a:ext>
                </a:extLst>
              </p:cNvPr>
              <p:cNvSpPr/>
              <p:nvPr/>
            </p:nvSpPr>
            <p:spPr>
              <a:xfrm>
                <a:off x="242614" y="234240"/>
                <a:ext cx="4645571" cy="3321761"/>
              </a:xfrm>
              <a:prstGeom prst="halfFram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4D037D57-F5E9-4A34-A5B7-C56F278C1C16}"/>
                </a:ext>
              </a:extLst>
            </p:cNvPr>
            <p:cNvGrpSpPr/>
            <p:nvPr/>
          </p:nvGrpSpPr>
          <p:grpSpPr>
            <a:xfrm rot="10800000">
              <a:off x="7157109" y="2971262"/>
              <a:ext cx="5034891" cy="3886738"/>
              <a:chOff x="420414" y="304307"/>
              <a:chExt cx="5034891" cy="3886738"/>
            </a:xfrm>
          </p:grpSpPr>
          <p:sp>
            <p:nvSpPr>
              <p:cNvPr id="10" name="Половина рамки 9">
                <a:extLst>
                  <a:ext uri="{FF2B5EF4-FFF2-40B4-BE49-F238E27FC236}">
                    <a16:creationId xmlns:a16="http://schemas.microsoft.com/office/drawing/2014/main" id="{164D2830-07F3-40C8-8F08-8C8792EF1EE6}"/>
                  </a:ext>
                </a:extLst>
              </p:cNvPr>
              <p:cNvSpPr/>
              <p:nvPr/>
            </p:nvSpPr>
            <p:spPr>
              <a:xfrm>
                <a:off x="809734" y="869284"/>
                <a:ext cx="4645571" cy="3321761"/>
              </a:xfrm>
              <a:prstGeom prst="halfFrame">
                <a:avLst/>
              </a:prstGeom>
              <a:solidFill>
                <a:schemeClr val="bg2">
                  <a:alpha val="60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Половина рамки 10">
                <a:extLst>
                  <a:ext uri="{FF2B5EF4-FFF2-40B4-BE49-F238E27FC236}">
                    <a16:creationId xmlns:a16="http://schemas.microsoft.com/office/drawing/2014/main" id="{7752F3E9-098B-418A-BCAB-E7053C9CC393}"/>
                  </a:ext>
                </a:extLst>
              </p:cNvPr>
              <p:cNvSpPr/>
              <p:nvPr/>
            </p:nvSpPr>
            <p:spPr>
              <a:xfrm>
                <a:off x="420414" y="304307"/>
                <a:ext cx="4645571" cy="3321761"/>
              </a:xfrm>
              <a:prstGeom prst="halfFram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27AB177-C68C-41C6-B1DF-D9F94B8400A8}"/>
              </a:ext>
            </a:extLst>
          </p:cNvPr>
          <p:cNvSpPr txBox="1"/>
          <p:nvPr/>
        </p:nvSpPr>
        <p:spPr>
          <a:xfrm>
            <a:off x="300582" y="107239"/>
            <a:ext cx="1159083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1. Роль анализа предметной области в процессе разработки программного обеспечения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Основные понятия объектно-ориентированного анализа.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DE6613-6AA2-481A-B416-65BFB9E365C3}"/>
              </a:ext>
            </a:extLst>
          </p:cNvPr>
          <p:cNvSpPr txBox="1"/>
          <p:nvPr/>
        </p:nvSpPr>
        <p:spPr>
          <a:xfrm>
            <a:off x="300582" y="1815399"/>
            <a:ext cx="5522987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base"/>
            <a:r>
              <a:rPr lang="ru-RU" sz="2200" b="1" i="0" u="none" strike="noStrike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принципы OOAD</a:t>
            </a:r>
          </a:p>
          <a:p>
            <a:pPr algn="l" fontAlgn="base"/>
            <a:r>
              <a:rPr lang="ru-RU" sz="2200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Вот несколько ключевых принципов OOAD</a:t>
            </a:r>
            <a:r>
              <a:rPr lang="ru-RU" b="0" i="0" dirty="0">
                <a:solidFill>
                  <a:srgbClr val="212529"/>
                </a:solidFill>
                <a:effectLst/>
                <a:latin typeface="math"/>
              </a:rPr>
              <a:t>: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BB9E7B-C55B-489A-8FF8-3E2D541FF8CF}"/>
              </a:ext>
            </a:extLst>
          </p:cNvPr>
          <p:cNvSpPr txBox="1"/>
          <p:nvPr/>
        </p:nvSpPr>
        <p:spPr>
          <a:xfrm>
            <a:off x="300582" y="2616304"/>
            <a:ext cx="1137743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rgbClr val="212529"/>
                </a:solidFill>
                <a:effectLst/>
                <a:latin typeface="Roboto" panose="02000000000000000000" pitchFamily="2" charset="0"/>
              </a:rPr>
              <a:t>-</a:t>
            </a:r>
            <a:r>
              <a:rPr lang="ru-RU" sz="2200" b="1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Инкапсуляция. </a:t>
            </a:r>
            <a:r>
              <a:rPr lang="ru-RU" sz="220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Логически связанные данные и поведение объединяют в объекте, а детали реализации скрывают. На этапе анализа это проявляется как чёткое разделение «интерфейса» (что можно сделать с объектом) и «внутренних правил» (как он это делает).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BCC33D-9CD2-4EBC-85F6-A4B0A7E2F0F4}"/>
              </a:ext>
            </a:extLst>
          </p:cNvPr>
          <p:cNvSpPr txBox="1"/>
          <p:nvPr/>
        </p:nvSpPr>
        <p:spPr>
          <a:xfrm>
            <a:off x="300582" y="3699961"/>
            <a:ext cx="118321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200" b="1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Абстракция:</a:t>
            </a:r>
            <a:r>
              <a:rPr lang="ru-RU" sz="2200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Абстракция. В ООА оставляют только те свойства и действия, которые значимы для решаемой задачи, и отбрасывают второстепенные детали. Например, для учёта посещений поликлиники важны «ФИО пациента» и «дата визита», но не «цвет его куртки».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456E44-CD27-4A24-BF15-9436896B7C73}"/>
              </a:ext>
            </a:extLst>
          </p:cNvPr>
          <p:cNvSpPr txBox="1"/>
          <p:nvPr/>
        </p:nvSpPr>
        <p:spPr>
          <a:xfrm>
            <a:off x="389320" y="4775151"/>
            <a:ext cx="115994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-Модульность и декомпозиция на объекты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Предметную область разбивают на взаимодействующие объекты, каждый из которых отвечает за свою часть функциональности. Это упрощает понимание и последующее проектирование.</a:t>
            </a:r>
          </a:p>
        </p:txBody>
      </p:sp>
    </p:spTree>
    <p:extLst>
      <p:ext uri="{BB962C8B-B14F-4D97-AF65-F5344CB8AC3E}">
        <p14:creationId xmlns:p14="http://schemas.microsoft.com/office/powerpoint/2010/main" val="2488733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3E22ADE9-34D7-4DD3-BCD2-BAA28AC0FFE3}"/>
              </a:ext>
            </a:extLst>
          </p:cNvPr>
          <p:cNvGrpSpPr/>
          <p:nvPr/>
        </p:nvGrpSpPr>
        <p:grpSpPr>
          <a:xfrm>
            <a:off x="115615" y="107239"/>
            <a:ext cx="12076385" cy="6750761"/>
            <a:chOff x="115615" y="107239"/>
            <a:chExt cx="12076385" cy="6750761"/>
          </a:xfrm>
        </p:grpSpPr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21C78CDB-E651-4398-A334-4D604CA3299A}"/>
                </a:ext>
              </a:extLst>
            </p:cNvPr>
            <p:cNvGrpSpPr/>
            <p:nvPr/>
          </p:nvGrpSpPr>
          <p:grpSpPr>
            <a:xfrm>
              <a:off x="115615" y="107239"/>
              <a:ext cx="5212691" cy="3956805"/>
              <a:chOff x="242614" y="234240"/>
              <a:chExt cx="5212691" cy="3956805"/>
            </a:xfrm>
          </p:grpSpPr>
          <p:sp>
            <p:nvSpPr>
              <p:cNvPr id="9" name="Половина рамки 8">
                <a:extLst>
                  <a:ext uri="{FF2B5EF4-FFF2-40B4-BE49-F238E27FC236}">
                    <a16:creationId xmlns:a16="http://schemas.microsoft.com/office/drawing/2014/main" id="{29DCE8D9-49A8-423E-9493-76B66310D44A}"/>
                  </a:ext>
                </a:extLst>
              </p:cNvPr>
              <p:cNvSpPr/>
              <p:nvPr/>
            </p:nvSpPr>
            <p:spPr>
              <a:xfrm>
                <a:off x="809734" y="869284"/>
                <a:ext cx="4645571" cy="3321761"/>
              </a:xfrm>
              <a:prstGeom prst="halfFrame">
                <a:avLst/>
              </a:prstGeom>
              <a:solidFill>
                <a:schemeClr val="bg2">
                  <a:alpha val="60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Половина рамки 9">
                <a:extLst>
                  <a:ext uri="{FF2B5EF4-FFF2-40B4-BE49-F238E27FC236}">
                    <a16:creationId xmlns:a16="http://schemas.microsoft.com/office/drawing/2014/main" id="{8A2C9E93-533A-49BB-A924-9598379F5E53}"/>
                  </a:ext>
                </a:extLst>
              </p:cNvPr>
              <p:cNvSpPr/>
              <p:nvPr/>
            </p:nvSpPr>
            <p:spPr>
              <a:xfrm>
                <a:off x="242614" y="234240"/>
                <a:ext cx="4645571" cy="3321761"/>
              </a:xfrm>
              <a:prstGeom prst="halfFram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1D40A9E2-73BC-470D-B754-3C4B6C1E6289}"/>
                </a:ext>
              </a:extLst>
            </p:cNvPr>
            <p:cNvGrpSpPr/>
            <p:nvPr/>
          </p:nvGrpSpPr>
          <p:grpSpPr>
            <a:xfrm rot="10800000">
              <a:off x="7157109" y="2971262"/>
              <a:ext cx="5034891" cy="3886738"/>
              <a:chOff x="420414" y="304307"/>
              <a:chExt cx="5034891" cy="3886738"/>
            </a:xfrm>
          </p:grpSpPr>
          <p:sp>
            <p:nvSpPr>
              <p:cNvPr id="7" name="Половина рамки 6">
                <a:extLst>
                  <a:ext uri="{FF2B5EF4-FFF2-40B4-BE49-F238E27FC236}">
                    <a16:creationId xmlns:a16="http://schemas.microsoft.com/office/drawing/2014/main" id="{AD3EBB7A-F614-456A-9F57-A01D58B1A11F}"/>
                  </a:ext>
                </a:extLst>
              </p:cNvPr>
              <p:cNvSpPr/>
              <p:nvPr/>
            </p:nvSpPr>
            <p:spPr>
              <a:xfrm>
                <a:off x="809734" y="869284"/>
                <a:ext cx="4645571" cy="3321761"/>
              </a:xfrm>
              <a:prstGeom prst="halfFrame">
                <a:avLst/>
              </a:prstGeom>
              <a:solidFill>
                <a:schemeClr val="bg2">
                  <a:alpha val="60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Половина рамки 7">
                <a:extLst>
                  <a:ext uri="{FF2B5EF4-FFF2-40B4-BE49-F238E27FC236}">
                    <a16:creationId xmlns:a16="http://schemas.microsoft.com/office/drawing/2014/main" id="{BC929314-44F1-4C53-B68F-9130421A23A2}"/>
                  </a:ext>
                </a:extLst>
              </p:cNvPr>
              <p:cNvSpPr/>
              <p:nvPr/>
            </p:nvSpPr>
            <p:spPr>
              <a:xfrm>
                <a:off x="420414" y="304307"/>
                <a:ext cx="4645571" cy="3321761"/>
              </a:xfrm>
              <a:prstGeom prst="halfFram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632BC72-E64A-4C0E-848C-6CD6E67A4D60}"/>
              </a:ext>
            </a:extLst>
          </p:cNvPr>
          <p:cNvSpPr txBox="1"/>
          <p:nvPr/>
        </p:nvSpPr>
        <p:spPr>
          <a:xfrm>
            <a:off x="300582" y="107239"/>
            <a:ext cx="1159083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1. Роль анализа предметной области в процессе разработки программного обеспечения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Основные понятия объектно-ориентированного анализа.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C28370-0788-4C16-83E2-C547F116DF7F}"/>
              </a:ext>
            </a:extLst>
          </p:cNvPr>
          <p:cNvSpPr txBox="1"/>
          <p:nvPr/>
        </p:nvSpPr>
        <p:spPr>
          <a:xfrm>
            <a:off x="300582" y="1768119"/>
            <a:ext cx="1150209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Иерархия и обобщение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Похожие объекты группируют в более общие категории. Например, «Вклад», «Накопительный счёт», «Кредитный счёт» могут быть подтипами общего класса «Счёт».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6A6979-59B8-4610-BF48-BC01A6EA481B}"/>
              </a:ext>
            </a:extLst>
          </p:cNvPr>
          <p:cNvSpPr txBox="1"/>
          <p:nvPr/>
        </p:nvSpPr>
        <p:spPr>
          <a:xfrm>
            <a:off x="300582" y="2841235"/>
            <a:ext cx="49072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Специфические для ООА концепции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EDA75D-0A53-43F1-B6CB-D183DC3D6B21}"/>
              </a:ext>
            </a:extLst>
          </p:cNvPr>
          <p:cNvSpPr txBox="1"/>
          <p:nvPr/>
        </p:nvSpPr>
        <p:spPr>
          <a:xfrm>
            <a:off x="300581" y="3363296"/>
            <a:ext cx="1159083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Прецедент (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Описание того, как пользователь или внешняя система взаимодействует с системой. Прецеденты помогают выявить объекты и их обязанности: например, прецедент «Оформить заказ» приводит к появлению объектов «Покупатель», «Корзина», «Заказ».</a:t>
            </a:r>
          </a:p>
          <a:p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Обязанности и распределение ответственности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В ООА решают, какой объект «отвечает» за выполнение действия. Например, не «система проверяет баланс», а «объект Счёт проверяет свой баланс». Это делает модель понятнее и устойчивее к изменениям.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A303B-38D5-4514-87BF-FBB91D23EE84}"/>
              </a:ext>
            </a:extLst>
          </p:cNvPr>
          <p:cNvSpPr txBox="1"/>
          <p:nvPr/>
        </p:nvSpPr>
        <p:spPr>
          <a:xfrm>
            <a:off x="300581" y="107239"/>
            <a:ext cx="1159083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1. Роль анализа предметной области в процессе разработки программного обеспечения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Основные понятия объектно-ориентированного анализа.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0772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8AE41F9-E174-4704-9FB8-36A9C6DFA190}"/>
              </a:ext>
            </a:extLst>
          </p:cNvPr>
          <p:cNvGrpSpPr/>
          <p:nvPr/>
        </p:nvGrpSpPr>
        <p:grpSpPr>
          <a:xfrm>
            <a:off x="115615" y="107239"/>
            <a:ext cx="12076385" cy="6750761"/>
            <a:chOff x="115615" y="107239"/>
            <a:chExt cx="12076385" cy="6750761"/>
          </a:xfrm>
        </p:grpSpPr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D55625AB-BFBA-4675-9812-787610E918DD}"/>
                </a:ext>
              </a:extLst>
            </p:cNvPr>
            <p:cNvGrpSpPr/>
            <p:nvPr/>
          </p:nvGrpSpPr>
          <p:grpSpPr>
            <a:xfrm>
              <a:off x="115615" y="107239"/>
              <a:ext cx="5212691" cy="3956805"/>
              <a:chOff x="242614" y="234240"/>
              <a:chExt cx="5212691" cy="3956805"/>
            </a:xfrm>
          </p:grpSpPr>
          <p:sp>
            <p:nvSpPr>
              <p:cNvPr id="9" name="Половина рамки 8">
                <a:extLst>
                  <a:ext uri="{FF2B5EF4-FFF2-40B4-BE49-F238E27FC236}">
                    <a16:creationId xmlns:a16="http://schemas.microsoft.com/office/drawing/2014/main" id="{D81E1A21-20C9-4F88-8C02-32B71E805795}"/>
                  </a:ext>
                </a:extLst>
              </p:cNvPr>
              <p:cNvSpPr/>
              <p:nvPr/>
            </p:nvSpPr>
            <p:spPr>
              <a:xfrm>
                <a:off x="809734" y="869284"/>
                <a:ext cx="4645571" cy="3321761"/>
              </a:xfrm>
              <a:prstGeom prst="halfFrame">
                <a:avLst/>
              </a:prstGeom>
              <a:solidFill>
                <a:schemeClr val="bg2">
                  <a:alpha val="60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Половина рамки 9">
                <a:extLst>
                  <a:ext uri="{FF2B5EF4-FFF2-40B4-BE49-F238E27FC236}">
                    <a16:creationId xmlns:a16="http://schemas.microsoft.com/office/drawing/2014/main" id="{3BE80021-41AE-4696-996B-012D2459273B}"/>
                  </a:ext>
                </a:extLst>
              </p:cNvPr>
              <p:cNvSpPr/>
              <p:nvPr/>
            </p:nvSpPr>
            <p:spPr>
              <a:xfrm>
                <a:off x="242614" y="234240"/>
                <a:ext cx="4645571" cy="3321761"/>
              </a:xfrm>
              <a:prstGeom prst="halfFram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8FE9D01C-D532-4D7F-AEC2-E816DE2F2BB8}"/>
                </a:ext>
              </a:extLst>
            </p:cNvPr>
            <p:cNvGrpSpPr/>
            <p:nvPr/>
          </p:nvGrpSpPr>
          <p:grpSpPr>
            <a:xfrm rot="10800000">
              <a:off x="7157109" y="2971262"/>
              <a:ext cx="5034891" cy="3886738"/>
              <a:chOff x="420414" y="304307"/>
              <a:chExt cx="5034891" cy="3886738"/>
            </a:xfrm>
          </p:grpSpPr>
          <p:sp>
            <p:nvSpPr>
              <p:cNvPr id="7" name="Половина рамки 6">
                <a:extLst>
                  <a:ext uri="{FF2B5EF4-FFF2-40B4-BE49-F238E27FC236}">
                    <a16:creationId xmlns:a16="http://schemas.microsoft.com/office/drawing/2014/main" id="{6DD675F0-B94B-4F51-847B-8874639E59F3}"/>
                  </a:ext>
                </a:extLst>
              </p:cNvPr>
              <p:cNvSpPr/>
              <p:nvPr/>
            </p:nvSpPr>
            <p:spPr>
              <a:xfrm>
                <a:off x="809734" y="869284"/>
                <a:ext cx="4645571" cy="3321761"/>
              </a:xfrm>
              <a:prstGeom prst="halfFrame">
                <a:avLst/>
              </a:prstGeom>
              <a:solidFill>
                <a:schemeClr val="bg2">
                  <a:alpha val="60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Половина рамки 7">
                <a:extLst>
                  <a:ext uri="{FF2B5EF4-FFF2-40B4-BE49-F238E27FC236}">
                    <a16:creationId xmlns:a16="http://schemas.microsoft.com/office/drawing/2014/main" id="{9197C2C3-1FA6-4453-9B84-E2FACB8F0467}"/>
                  </a:ext>
                </a:extLst>
              </p:cNvPr>
              <p:cNvSpPr/>
              <p:nvPr/>
            </p:nvSpPr>
            <p:spPr>
              <a:xfrm>
                <a:off x="420414" y="304307"/>
                <a:ext cx="4645571" cy="3321761"/>
              </a:xfrm>
              <a:prstGeom prst="halfFram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92AF546-12C5-49D9-96FA-3B965905DFBA}"/>
              </a:ext>
            </a:extLst>
          </p:cNvPr>
          <p:cNvSpPr txBox="1"/>
          <p:nvPr/>
        </p:nvSpPr>
        <p:spPr>
          <a:xfrm>
            <a:off x="300581" y="107239"/>
            <a:ext cx="1159083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1. Роль анализа предметной области в процессе разработки программного обеспечения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Основные понятия объектно-ориентированного анализа.</a:t>
            </a:r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7781BD-0350-48D6-B250-2FBAE489A280}"/>
              </a:ext>
            </a:extLst>
          </p:cNvPr>
          <p:cNvSpPr txBox="1"/>
          <p:nvPr/>
        </p:nvSpPr>
        <p:spPr>
          <a:xfrm>
            <a:off x="397933" y="1989667"/>
            <a:ext cx="40747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Отношения между объектами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12E0B8-FD13-42A6-A891-7720D22F8CFE}"/>
              </a:ext>
            </a:extLst>
          </p:cNvPr>
          <p:cNvSpPr txBox="1"/>
          <p:nvPr/>
        </p:nvSpPr>
        <p:spPr>
          <a:xfrm>
            <a:off x="397933" y="2437533"/>
            <a:ext cx="91584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Ассоциация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 связь между объектами (например, «Клиент имеет Счёт»).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C7C6FA-6A36-449B-8D17-28A4255A46C5}"/>
              </a:ext>
            </a:extLst>
          </p:cNvPr>
          <p:cNvSpPr txBox="1"/>
          <p:nvPr/>
        </p:nvSpPr>
        <p:spPr>
          <a:xfrm>
            <a:off x="376642" y="2938224"/>
            <a:ext cx="1142603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Агрегация/композиция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 отношения «часть‑целое». Композиция строже: часть не существует без целого (например, «Позиция заказа» без «Заказа»).</a:t>
            </a:r>
          </a:p>
          <a:p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Наследование (обобщение)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 отношение «является разновидностью» (например, «Депозитный счёт является Счётом»). В анализе это помогает структурировать словарь предметной области.</a:t>
            </a:r>
          </a:p>
        </p:txBody>
      </p:sp>
    </p:spTree>
    <p:extLst>
      <p:ext uri="{BB962C8B-B14F-4D97-AF65-F5344CB8AC3E}">
        <p14:creationId xmlns:p14="http://schemas.microsoft.com/office/powerpoint/2010/main" val="3369072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9DAFE6A-5B63-4AAC-BA85-355154ACC260}"/>
              </a:ext>
            </a:extLst>
          </p:cNvPr>
          <p:cNvGrpSpPr/>
          <p:nvPr/>
        </p:nvGrpSpPr>
        <p:grpSpPr>
          <a:xfrm>
            <a:off x="115615" y="107239"/>
            <a:ext cx="12076385" cy="6750761"/>
            <a:chOff x="115615" y="107239"/>
            <a:chExt cx="12076385" cy="6750761"/>
          </a:xfrm>
        </p:grpSpPr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4BFE1B49-463F-4A13-9C7E-8D823D4BB08B}"/>
                </a:ext>
              </a:extLst>
            </p:cNvPr>
            <p:cNvGrpSpPr/>
            <p:nvPr/>
          </p:nvGrpSpPr>
          <p:grpSpPr>
            <a:xfrm>
              <a:off x="115615" y="107239"/>
              <a:ext cx="5212691" cy="3956805"/>
              <a:chOff x="242614" y="234240"/>
              <a:chExt cx="5212691" cy="3956805"/>
            </a:xfrm>
          </p:grpSpPr>
          <p:sp>
            <p:nvSpPr>
              <p:cNvPr id="9" name="Половина рамки 8">
                <a:extLst>
                  <a:ext uri="{FF2B5EF4-FFF2-40B4-BE49-F238E27FC236}">
                    <a16:creationId xmlns:a16="http://schemas.microsoft.com/office/drawing/2014/main" id="{055438AC-475D-430D-916C-A022D296F529}"/>
                  </a:ext>
                </a:extLst>
              </p:cNvPr>
              <p:cNvSpPr/>
              <p:nvPr/>
            </p:nvSpPr>
            <p:spPr>
              <a:xfrm>
                <a:off x="809734" y="869284"/>
                <a:ext cx="4645571" cy="3321761"/>
              </a:xfrm>
              <a:prstGeom prst="halfFrame">
                <a:avLst/>
              </a:prstGeom>
              <a:solidFill>
                <a:schemeClr val="bg2">
                  <a:alpha val="60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Половина рамки 9">
                <a:extLst>
                  <a:ext uri="{FF2B5EF4-FFF2-40B4-BE49-F238E27FC236}">
                    <a16:creationId xmlns:a16="http://schemas.microsoft.com/office/drawing/2014/main" id="{B693ABBE-1E94-44C2-9E69-88F5FAA24F8C}"/>
                  </a:ext>
                </a:extLst>
              </p:cNvPr>
              <p:cNvSpPr/>
              <p:nvPr/>
            </p:nvSpPr>
            <p:spPr>
              <a:xfrm>
                <a:off x="242614" y="234240"/>
                <a:ext cx="4645571" cy="3321761"/>
              </a:xfrm>
              <a:prstGeom prst="halfFram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F33CD84A-628B-4620-902F-D1D0FA651C23}"/>
                </a:ext>
              </a:extLst>
            </p:cNvPr>
            <p:cNvGrpSpPr/>
            <p:nvPr/>
          </p:nvGrpSpPr>
          <p:grpSpPr>
            <a:xfrm rot="10800000">
              <a:off x="7157109" y="2971262"/>
              <a:ext cx="5034891" cy="3886738"/>
              <a:chOff x="420414" y="304307"/>
              <a:chExt cx="5034891" cy="3886738"/>
            </a:xfrm>
          </p:grpSpPr>
          <p:sp>
            <p:nvSpPr>
              <p:cNvPr id="7" name="Половина рамки 6">
                <a:extLst>
                  <a:ext uri="{FF2B5EF4-FFF2-40B4-BE49-F238E27FC236}">
                    <a16:creationId xmlns:a16="http://schemas.microsoft.com/office/drawing/2014/main" id="{FFA9225C-0B00-464A-A05A-6D7F49FC1535}"/>
                  </a:ext>
                </a:extLst>
              </p:cNvPr>
              <p:cNvSpPr/>
              <p:nvPr/>
            </p:nvSpPr>
            <p:spPr>
              <a:xfrm>
                <a:off x="809734" y="869284"/>
                <a:ext cx="4645571" cy="3321761"/>
              </a:xfrm>
              <a:prstGeom prst="halfFrame">
                <a:avLst/>
              </a:prstGeom>
              <a:solidFill>
                <a:schemeClr val="bg2">
                  <a:alpha val="60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Половина рамки 7">
                <a:extLst>
                  <a:ext uri="{FF2B5EF4-FFF2-40B4-BE49-F238E27FC236}">
                    <a16:creationId xmlns:a16="http://schemas.microsoft.com/office/drawing/2014/main" id="{6FADBE58-6431-4775-A5F9-A5D7935884BD}"/>
                  </a:ext>
                </a:extLst>
              </p:cNvPr>
              <p:cNvSpPr/>
              <p:nvPr/>
            </p:nvSpPr>
            <p:spPr>
              <a:xfrm>
                <a:off x="420414" y="304307"/>
                <a:ext cx="4645571" cy="3321761"/>
              </a:xfrm>
              <a:prstGeom prst="halfFram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03517CC-460C-44E9-A3B6-7B863CAEE960}"/>
              </a:ext>
            </a:extLst>
          </p:cNvPr>
          <p:cNvSpPr txBox="1"/>
          <p:nvPr/>
        </p:nvSpPr>
        <p:spPr>
          <a:xfrm>
            <a:off x="300581" y="107239"/>
            <a:ext cx="1159083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1. Роль анализа предметной области в процессе разработки программного обеспечения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Основные понятия объектно-ориентированного анализа.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A5B3C0-CCB3-4610-B561-E0EDB33359EF}"/>
              </a:ext>
            </a:extLst>
          </p:cNvPr>
          <p:cNvSpPr txBox="1"/>
          <p:nvPr/>
        </p:nvSpPr>
        <p:spPr>
          <a:xfrm>
            <a:off x="300581" y="1893281"/>
            <a:ext cx="2130263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ООА</a:t>
            </a:r>
          </a:p>
          <a:p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Обычно это:</a:t>
            </a:r>
          </a:p>
          <a:p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F5AF82-F6A5-4919-B40A-FC8736A469B7}"/>
              </a:ext>
            </a:extLst>
          </p:cNvPr>
          <p:cNvSpPr txBox="1"/>
          <p:nvPr/>
        </p:nvSpPr>
        <p:spPr>
          <a:xfrm>
            <a:off x="300580" y="2635142"/>
            <a:ext cx="1150209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Концептуальная модель предметной области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виде диаграммы классов (UML Class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с классами, атрибутами, методами и связями.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Диаграммы прецедентов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Case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показывающие, кто и что делает с системой.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Описания сценариев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(текстовые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где уточняется поведение объектов в конкретных ситуациях.</a:t>
            </a:r>
          </a:p>
        </p:txBody>
      </p:sp>
    </p:spTree>
    <p:extLst>
      <p:ext uri="{BB962C8B-B14F-4D97-AF65-F5344CB8AC3E}">
        <p14:creationId xmlns:p14="http://schemas.microsoft.com/office/powerpoint/2010/main" val="29489650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C00D8265-E1EA-4D05-8F35-5CB9F92AA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2045" y="1320040"/>
            <a:ext cx="6646761" cy="4972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55A534DE-0725-4636-921E-8B3A321EFB86}"/>
              </a:ext>
            </a:extLst>
          </p:cNvPr>
          <p:cNvGrpSpPr/>
          <p:nvPr/>
        </p:nvGrpSpPr>
        <p:grpSpPr>
          <a:xfrm>
            <a:off x="115615" y="107239"/>
            <a:ext cx="12076385" cy="6750761"/>
            <a:chOff x="115615" y="107239"/>
            <a:chExt cx="12076385" cy="6750761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409109CC-1DCB-4FA7-9A02-74CE8E7F31E0}"/>
                </a:ext>
              </a:extLst>
            </p:cNvPr>
            <p:cNvGrpSpPr/>
            <p:nvPr/>
          </p:nvGrpSpPr>
          <p:grpSpPr>
            <a:xfrm>
              <a:off x="115615" y="107239"/>
              <a:ext cx="5212691" cy="3956805"/>
              <a:chOff x="242614" y="234240"/>
              <a:chExt cx="5212691" cy="3956805"/>
            </a:xfrm>
          </p:grpSpPr>
          <p:sp>
            <p:nvSpPr>
              <p:cNvPr id="10" name="Половина рамки 9">
                <a:extLst>
                  <a:ext uri="{FF2B5EF4-FFF2-40B4-BE49-F238E27FC236}">
                    <a16:creationId xmlns:a16="http://schemas.microsoft.com/office/drawing/2014/main" id="{36672510-3F43-47EB-A456-C7B10CD43AF0}"/>
                  </a:ext>
                </a:extLst>
              </p:cNvPr>
              <p:cNvSpPr/>
              <p:nvPr/>
            </p:nvSpPr>
            <p:spPr>
              <a:xfrm>
                <a:off x="809734" y="869284"/>
                <a:ext cx="4645571" cy="3321761"/>
              </a:xfrm>
              <a:prstGeom prst="halfFrame">
                <a:avLst/>
              </a:prstGeom>
              <a:solidFill>
                <a:schemeClr val="bg2">
                  <a:alpha val="60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Половина рамки 10">
                <a:extLst>
                  <a:ext uri="{FF2B5EF4-FFF2-40B4-BE49-F238E27FC236}">
                    <a16:creationId xmlns:a16="http://schemas.microsoft.com/office/drawing/2014/main" id="{98072718-7DA7-430D-B445-5B23B8ED4783}"/>
                  </a:ext>
                </a:extLst>
              </p:cNvPr>
              <p:cNvSpPr/>
              <p:nvPr/>
            </p:nvSpPr>
            <p:spPr>
              <a:xfrm>
                <a:off x="242614" y="234240"/>
                <a:ext cx="4645571" cy="3321761"/>
              </a:xfrm>
              <a:prstGeom prst="halfFram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5669A99A-E400-474F-AF28-29B560312CCD}"/>
                </a:ext>
              </a:extLst>
            </p:cNvPr>
            <p:cNvGrpSpPr/>
            <p:nvPr/>
          </p:nvGrpSpPr>
          <p:grpSpPr>
            <a:xfrm rot="10800000">
              <a:off x="7157109" y="2971262"/>
              <a:ext cx="5034891" cy="3886738"/>
              <a:chOff x="420414" y="304307"/>
              <a:chExt cx="5034891" cy="3886738"/>
            </a:xfrm>
          </p:grpSpPr>
          <p:sp>
            <p:nvSpPr>
              <p:cNvPr id="8" name="Половина рамки 7">
                <a:extLst>
                  <a:ext uri="{FF2B5EF4-FFF2-40B4-BE49-F238E27FC236}">
                    <a16:creationId xmlns:a16="http://schemas.microsoft.com/office/drawing/2014/main" id="{8FE4092D-F0B0-4C73-9CF8-368C9D2228D6}"/>
                  </a:ext>
                </a:extLst>
              </p:cNvPr>
              <p:cNvSpPr/>
              <p:nvPr/>
            </p:nvSpPr>
            <p:spPr>
              <a:xfrm>
                <a:off x="809734" y="869284"/>
                <a:ext cx="4645571" cy="3321761"/>
              </a:xfrm>
              <a:prstGeom prst="halfFrame">
                <a:avLst/>
              </a:prstGeom>
              <a:solidFill>
                <a:schemeClr val="bg2">
                  <a:alpha val="60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Половина рамки 8">
                <a:extLst>
                  <a:ext uri="{FF2B5EF4-FFF2-40B4-BE49-F238E27FC236}">
                    <a16:creationId xmlns:a16="http://schemas.microsoft.com/office/drawing/2014/main" id="{2588108B-1798-4BA4-B9CD-2FBFFBE3982D}"/>
                  </a:ext>
                </a:extLst>
              </p:cNvPr>
              <p:cNvSpPr/>
              <p:nvPr/>
            </p:nvSpPr>
            <p:spPr>
              <a:xfrm>
                <a:off x="420414" y="304307"/>
                <a:ext cx="4645571" cy="3321761"/>
              </a:xfrm>
              <a:prstGeom prst="halfFram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2B1677A-E862-4B99-AD97-10E7CA41E156}"/>
              </a:ext>
            </a:extLst>
          </p:cNvPr>
          <p:cNvSpPr txBox="1"/>
          <p:nvPr/>
        </p:nvSpPr>
        <p:spPr>
          <a:xfrm>
            <a:off x="300581" y="107239"/>
            <a:ext cx="1159083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1. Роль анализа предметной области в процессе разработки программного обеспечения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Основные понятия объектно-ориентированного анализа.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9002C2-D1AF-4D9A-9356-D2ED3EB98374}"/>
              </a:ext>
            </a:extLst>
          </p:cNvPr>
          <p:cNvSpPr txBox="1"/>
          <p:nvPr/>
        </p:nvSpPr>
        <p:spPr>
          <a:xfrm>
            <a:off x="4391995" y="6360069"/>
            <a:ext cx="229742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4113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26C1A471-15CF-45E0-9548-78E8E2F8B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7452" y="1012995"/>
            <a:ext cx="6847706" cy="5366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FAB3E9F-C848-46A0-8A23-0486DF7DA3C4}"/>
              </a:ext>
            </a:extLst>
          </p:cNvPr>
          <p:cNvGrpSpPr/>
          <p:nvPr/>
        </p:nvGrpSpPr>
        <p:grpSpPr>
          <a:xfrm>
            <a:off x="115615" y="107239"/>
            <a:ext cx="12076385" cy="6750761"/>
            <a:chOff x="115615" y="107239"/>
            <a:chExt cx="12076385" cy="6750761"/>
          </a:xfrm>
        </p:grpSpPr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8CF6E783-2C97-410E-B473-F035E601A4B1}"/>
                </a:ext>
              </a:extLst>
            </p:cNvPr>
            <p:cNvGrpSpPr/>
            <p:nvPr/>
          </p:nvGrpSpPr>
          <p:grpSpPr>
            <a:xfrm>
              <a:off x="115615" y="107239"/>
              <a:ext cx="5212691" cy="3956805"/>
              <a:chOff x="242614" y="234240"/>
              <a:chExt cx="5212691" cy="3956805"/>
            </a:xfrm>
          </p:grpSpPr>
          <p:sp>
            <p:nvSpPr>
              <p:cNvPr id="9" name="Половина рамки 8">
                <a:extLst>
                  <a:ext uri="{FF2B5EF4-FFF2-40B4-BE49-F238E27FC236}">
                    <a16:creationId xmlns:a16="http://schemas.microsoft.com/office/drawing/2014/main" id="{F11106B4-A1B2-4370-992D-DEE7093219C0}"/>
                  </a:ext>
                </a:extLst>
              </p:cNvPr>
              <p:cNvSpPr/>
              <p:nvPr/>
            </p:nvSpPr>
            <p:spPr>
              <a:xfrm>
                <a:off x="809734" y="869284"/>
                <a:ext cx="4645571" cy="3321761"/>
              </a:xfrm>
              <a:prstGeom prst="halfFrame">
                <a:avLst/>
              </a:prstGeom>
              <a:solidFill>
                <a:schemeClr val="bg2">
                  <a:alpha val="60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Половина рамки 9">
                <a:extLst>
                  <a:ext uri="{FF2B5EF4-FFF2-40B4-BE49-F238E27FC236}">
                    <a16:creationId xmlns:a16="http://schemas.microsoft.com/office/drawing/2014/main" id="{DFFC4E97-B397-4F1A-B80E-CD0585318C84}"/>
                  </a:ext>
                </a:extLst>
              </p:cNvPr>
              <p:cNvSpPr/>
              <p:nvPr/>
            </p:nvSpPr>
            <p:spPr>
              <a:xfrm>
                <a:off x="242614" y="234240"/>
                <a:ext cx="4645571" cy="3321761"/>
              </a:xfrm>
              <a:prstGeom prst="halfFram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7D832BE2-0AFA-4CC3-A406-784B1ECB73F4}"/>
                </a:ext>
              </a:extLst>
            </p:cNvPr>
            <p:cNvGrpSpPr/>
            <p:nvPr/>
          </p:nvGrpSpPr>
          <p:grpSpPr>
            <a:xfrm rot="10800000">
              <a:off x="7157109" y="2971262"/>
              <a:ext cx="5034891" cy="3886738"/>
              <a:chOff x="420414" y="304307"/>
              <a:chExt cx="5034891" cy="3886738"/>
            </a:xfrm>
          </p:grpSpPr>
          <p:sp>
            <p:nvSpPr>
              <p:cNvPr id="7" name="Половина рамки 6">
                <a:extLst>
                  <a:ext uri="{FF2B5EF4-FFF2-40B4-BE49-F238E27FC236}">
                    <a16:creationId xmlns:a16="http://schemas.microsoft.com/office/drawing/2014/main" id="{09F99B10-D8AB-4B45-AF25-545D0A98EC37}"/>
                  </a:ext>
                </a:extLst>
              </p:cNvPr>
              <p:cNvSpPr/>
              <p:nvPr/>
            </p:nvSpPr>
            <p:spPr>
              <a:xfrm>
                <a:off x="809734" y="869284"/>
                <a:ext cx="4645571" cy="3321761"/>
              </a:xfrm>
              <a:prstGeom prst="halfFrame">
                <a:avLst/>
              </a:prstGeom>
              <a:solidFill>
                <a:schemeClr val="bg2">
                  <a:alpha val="60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Половина рамки 7">
                <a:extLst>
                  <a:ext uri="{FF2B5EF4-FFF2-40B4-BE49-F238E27FC236}">
                    <a16:creationId xmlns:a16="http://schemas.microsoft.com/office/drawing/2014/main" id="{EDDA1584-DCA8-4676-960D-674FEA32C785}"/>
                  </a:ext>
                </a:extLst>
              </p:cNvPr>
              <p:cNvSpPr/>
              <p:nvPr/>
            </p:nvSpPr>
            <p:spPr>
              <a:xfrm>
                <a:off x="420414" y="304307"/>
                <a:ext cx="4645571" cy="3321761"/>
              </a:xfrm>
              <a:prstGeom prst="halfFram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5365642-567A-48AC-BDED-78B6289B13BB}"/>
              </a:ext>
            </a:extLst>
          </p:cNvPr>
          <p:cNvSpPr txBox="1"/>
          <p:nvPr/>
        </p:nvSpPr>
        <p:spPr>
          <a:xfrm>
            <a:off x="300581" y="107239"/>
            <a:ext cx="1159083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1. Роль анализа предметной области в процессе разработки программного обеспечения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Основные понятия объектно-ориентированного анализа.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457733-F13D-4555-B6DC-DE79FF0001CC}"/>
              </a:ext>
            </a:extLst>
          </p:cNvPr>
          <p:cNvSpPr txBox="1"/>
          <p:nvPr/>
        </p:nvSpPr>
        <p:spPr>
          <a:xfrm>
            <a:off x="4391995" y="6360069"/>
            <a:ext cx="18517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Diagram Class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3261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BD97EE9D-67FD-4632-B727-DD1231B53671}"/>
              </a:ext>
            </a:extLst>
          </p:cNvPr>
          <p:cNvGrpSpPr/>
          <p:nvPr/>
        </p:nvGrpSpPr>
        <p:grpSpPr>
          <a:xfrm>
            <a:off x="115615" y="107239"/>
            <a:ext cx="12076385" cy="6750761"/>
            <a:chOff x="115615" y="107239"/>
            <a:chExt cx="12076385" cy="6750761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52F66A1C-1342-4D8A-A5A5-50DAEE6FCF69}"/>
                </a:ext>
              </a:extLst>
            </p:cNvPr>
            <p:cNvGrpSpPr/>
            <p:nvPr/>
          </p:nvGrpSpPr>
          <p:grpSpPr>
            <a:xfrm>
              <a:off x="115615" y="107239"/>
              <a:ext cx="5212691" cy="3956805"/>
              <a:chOff x="242614" y="234240"/>
              <a:chExt cx="5212691" cy="3956805"/>
            </a:xfrm>
          </p:grpSpPr>
          <p:sp>
            <p:nvSpPr>
              <p:cNvPr id="10" name="Половина рамки 9">
                <a:extLst>
                  <a:ext uri="{FF2B5EF4-FFF2-40B4-BE49-F238E27FC236}">
                    <a16:creationId xmlns:a16="http://schemas.microsoft.com/office/drawing/2014/main" id="{5B81D1C5-9807-4FA8-94A1-DAD48F7621BE}"/>
                  </a:ext>
                </a:extLst>
              </p:cNvPr>
              <p:cNvSpPr/>
              <p:nvPr/>
            </p:nvSpPr>
            <p:spPr>
              <a:xfrm>
                <a:off x="809734" y="869284"/>
                <a:ext cx="4645571" cy="3321761"/>
              </a:xfrm>
              <a:prstGeom prst="halfFrame">
                <a:avLst/>
              </a:prstGeom>
              <a:solidFill>
                <a:schemeClr val="bg2">
                  <a:alpha val="60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Половина рамки 10">
                <a:extLst>
                  <a:ext uri="{FF2B5EF4-FFF2-40B4-BE49-F238E27FC236}">
                    <a16:creationId xmlns:a16="http://schemas.microsoft.com/office/drawing/2014/main" id="{6B3AA96C-43DB-485A-8B2F-3E0BDB91360B}"/>
                  </a:ext>
                </a:extLst>
              </p:cNvPr>
              <p:cNvSpPr/>
              <p:nvPr/>
            </p:nvSpPr>
            <p:spPr>
              <a:xfrm>
                <a:off x="242614" y="234240"/>
                <a:ext cx="4645571" cy="3321761"/>
              </a:xfrm>
              <a:prstGeom prst="halfFram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62A669F1-B453-46BD-975B-4416E1B1CD90}"/>
                </a:ext>
              </a:extLst>
            </p:cNvPr>
            <p:cNvGrpSpPr/>
            <p:nvPr/>
          </p:nvGrpSpPr>
          <p:grpSpPr>
            <a:xfrm rot="10800000">
              <a:off x="7157109" y="2971262"/>
              <a:ext cx="5034891" cy="3886738"/>
              <a:chOff x="420414" y="304307"/>
              <a:chExt cx="5034891" cy="3886738"/>
            </a:xfrm>
          </p:grpSpPr>
          <p:sp>
            <p:nvSpPr>
              <p:cNvPr id="8" name="Половина рамки 7">
                <a:extLst>
                  <a:ext uri="{FF2B5EF4-FFF2-40B4-BE49-F238E27FC236}">
                    <a16:creationId xmlns:a16="http://schemas.microsoft.com/office/drawing/2014/main" id="{92C62283-F4B9-4A4B-B940-FB5023B3408D}"/>
                  </a:ext>
                </a:extLst>
              </p:cNvPr>
              <p:cNvSpPr/>
              <p:nvPr/>
            </p:nvSpPr>
            <p:spPr>
              <a:xfrm>
                <a:off x="809734" y="869284"/>
                <a:ext cx="4645571" cy="3321761"/>
              </a:xfrm>
              <a:prstGeom prst="halfFrame">
                <a:avLst/>
              </a:prstGeom>
              <a:solidFill>
                <a:schemeClr val="bg2">
                  <a:alpha val="60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Половина рамки 8">
                <a:extLst>
                  <a:ext uri="{FF2B5EF4-FFF2-40B4-BE49-F238E27FC236}">
                    <a16:creationId xmlns:a16="http://schemas.microsoft.com/office/drawing/2014/main" id="{9316AEE2-4267-4179-9022-A38D8F0716FD}"/>
                  </a:ext>
                </a:extLst>
              </p:cNvPr>
              <p:cNvSpPr/>
              <p:nvPr/>
            </p:nvSpPr>
            <p:spPr>
              <a:xfrm>
                <a:off x="420414" y="304307"/>
                <a:ext cx="4645571" cy="3321761"/>
              </a:xfrm>
              <a:prstGeom prst="halfFram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184E79A-CCE6-4162-B226-7D5CAC715D5F}"/>
              </a:ext>
            </a:extLst>
          </p:cNvPr>
          <p:cNvSpPr txBox="1"/>
          <p:nvPr/>
        </p:nvSpPr>
        <p:spPr>
          <a:xfrm>
            <a:off x="300582" y="107239"/>
            <a:ext cx="1159083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1. Роль анализа предметной области в процессе разработки программного обеспечения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529DB2-CFA3-46D3-A9B3-7E870451FC99}"/>
              </a:ext>
            </a:extLst>
          </p:cNvPr>
          <p:cNvSpPr txBox="1"/>
          <p:nvPr/>
        </p:nvSpPr>
        <p:spPr>
          <a:xfrm>
            <a:off x="383902" y="1276790"/>
            <a:ext cx="11122147" cy="42165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 — это </a:t>
            </a: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первый шаг, с которого начинается разработка ПО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l"/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Он выполняется для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понимания языка, на котором говорят на предприятии;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выявления целей деятельности;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определения набора решаемых задач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2200" b="0" i="1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 позволяет: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выделить сущности предметной области;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определить первоначальные требования к функциональности;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определить границы проекта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sz="2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57C844-D5FB-4BC2-87A0-74C2CE36ECEF}"/>
              </a:ext>
            </a:extLst>
          </p:cNvPr>
          <p:cNvSpPr txBox="1"/>
          <p:nvPr/>
        </p:nvSpPr>
        <p:spPr>
          <a:xfrm>
            <a:off x="383902" y="4889077"/>
            <a:ext cx="1096336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Любая предметная область имеет свои </a:t>
            </a:r>
            <a:r>
              <a:rPr lang="ru-RU" sz="2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границы рассмотрения</a:t>
            </a:r>
            <a:r>
              <a:rPr lang="ru-RU" sz="2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при проектировании ПО требуется выделить информационные объекты внутри этих границ и абстрагироваться от информации вне границ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22725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1659</Words>
  <Application>Microsoft Office PowerPoint</Application>
  <PresentationFormat>Широкоэкранный</PresentationFormat>
  <Paragraphs>97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math</vt:lpstr>
      <vt:lpstr>Roboto</vt:lpstr>
      <vt:lpstr>Times New Roman</vt:lpstr>
      <vt:lpstr>Wingdings</vt:lpstr>
      <vt:lpstr>Тема Office</vt:lpstr>
      <vt:lpstr>Роль анализа предметной области в процессе разработки программного обеспечения. Основные понятия объектно-ориентированного анализа.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Роль анализа предметной области в процессе разработки программного обеспечения. Основные понятия объектно-ориентированного анализа.</dc:title>
  <dc:creator>Daria</dc:creator>
  <cp:lastModifiedBy>Daria</cp:lastModifiedBy>
  <cp:revision>75</cp:revision>
  <dcterms:created xsi:type="dcterms:W3CDTF">2026-07-30T19:01:35Z</dcterms:created>
  <dcterms:modified xsi:type="dcterms:W3CDTF">2026-08-01T19:57:33Z</dcterms:modified>
</cp:coreProperties>
</file>